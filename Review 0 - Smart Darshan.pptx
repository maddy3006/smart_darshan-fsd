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9" r:id="rId12"/>
    <p:sldId id="285" r:id="rId13"/>
    <p:sldId id="286" r:id="rId1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305" y="-12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24433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9" name="Freeform 9"/>
          <p:cNvSpPr/>
          <p:nvPr/>
        </p:nvSpPr>
        <p:spPr>
          <a:xfrm>
            <a:off x="12139907" y="5432430"/>
            <a:ext cx="4571932" cy="1133741"/>
          </a:xfrm>
          <a:custGeom>
            <a:avLst/>
            <a:gdLst/>
            <a:ahLst/>
            <a:cxnLst/>
            <a:rect l="l" t="t" r="r" b="b"/>
            <a:pathLst>
              <a:path w="6095909" h="1511654">
                <a:moveTo>
                  <a:pt x="0" y="0"/>
                </a:moveTo>
                <a:lnTo>
                  <a:pt x="6095909" y="0"/>
                </a:lnTo>
                <a:lnTo>
                  <a:pt x="6095909" y="1511654"/>
                </a:lnTo>
                <a:lnTo>
                  <a:pt x="0" y="1511654"/>
                </a:lnTo>
                <a:close/>
              </a:path>
            </a:pathLst>
          </a:custGeom>
          <a:solidFill>
            <a:srgbClr val="2B211A">
              <a:alpha val="0"/>
            </a:srgbClr>
          </a:solidFill>
        </p:spPr>
        <p:txBody>
          <a:bodyPr/>
          <a:lstStyle/>
          <a:p>
            <a:endParaRPr/>
          </a:p>
        </p:txBody>
      </p:sp>
      <p:grpSp>
        <p:nvGrpSpPr>
          <p:cNvPr id="11" name="Group 11"/>
          <p:cNvGrpSpPr/>
          <p:nvPr/>
        </p:nvGrpSpPr>
        <p:grpSpPr>
          <a:xfrm>
            <a:off x="7933367" y="6008059"/>
            <a:ext cx="8338858" cy="1663601"/>
            <a:chOff x="0" y="-9525"/>
            <a:chExt cx="11118478" cy="2218134"/>
          </a:xfrm>
        </p:grpSpPr>
        <p:sp>
          <p:nvSpPr>
            <p:cNvPr id="12" name="Freeform 12"/>
            <p:cNvSpPr/>
            <p:nvPr/>
          </p:nvSpPr>
          <p:spPr>
            <a:xfrm>
              <a:off x="3606692" y="1552865"/>
              <a:ext cx="7511786" cy="655744"/>
            </a:xfrm>
            <a:custGeom>
              <a:avLst/>
              <a:gdLst/>
              <a:ahLst/>
              <a:cxnLst/>
              <a:rect l="l" t="t" r="r" b="b"/>
              <a:pathLst>
                <a:path w="7511786" h="655744">
                  <a:moveTo>
                    <a:pt x="0" y="0"/>
                  </a:moveTo>
                  <a:lnTo>
                    <a:pt x="7511786" y="0"/>
                  </a:lnTo>
                  <a:lnTo>
                    <a:pt x="7511786" y="655744"/>
                  </a:lnTo>
                  <a:lnTo>
                    <a:pt x="0" y="655744"/>
                  </a:lnTo>
                  <a:close/>
                </a:path>
              </a:pathLst>
            </a:custGeom>
            <a:solidFill>
              <a:srgbClr val="2B211A">
                <a:alpha val="0"/>
              </a:srgbClr>
            </a:solidFill>
          </p:spPr>
          <p:txBody>
            <a:bodyPr/>
            <a:lstStyle/>
            <a:p>
              <a:endParaRPr/>
            </a:p>
          </p:txBody>
        </p:sp>
        <p:sp>
          <p:nvSpPr>
            <p:cNvPr id="13" name="TextBox 13"/>
            <p:cNvSpPr txBox="1"/>
            <p:nvPr/>
          </p:nvSpPr>
          <p:spPr>
            <a:xfrm>
              <a:off x="0" y="-9525"/>
              <a:ext cx="7511787" cy="665269"/>
            </a:xfrm>
            <a:prstGeom prst="rect">
              <a:avLst/>
            </a:prstGeom>
          </p:spPr>
          <p:txBody>
            <a:bodyPr lIns="0" tIns="0" rIns="0" bIns="0" rtlCol="0" anchor="t"/>
            <a:lstStyle/>
            <a:p>
              <a:pPr algn="ctr">
                <a:lnSpc>
                  <a:spcPts val="3680"/>
                </a:lnSpc>
              </a:pPr>
              <a:endParaRPr lang="en-US" sz="1800" b="1" dirty="0">
                <a:solidFill>
                  <a:srgbClr val="7C2D12"/>
                </a:solidFill>
                <a:latin typeface="Times New Roman"/>
                <a:ea typeface="Times New Roman"/>
                <a:cs typeface="Times New Roman"/>
                <a:sym typeface="Arimo Bold"/>
              </a:endParaRPr>
            </a:p>
          </p:txBody>
        </p:sp>
      </p:grpSp>
      <p:sp>
        <p:nvSpPr>
          <p:cNvPr id="19" name="TextBox 19"/>
          <p:cNvSpPr txBox="1"/>
          <p:nvPr/>
        </p:nvSpPr>
        <p:spPr>
          <a:xfrm>
            <a:off x="11290421" y="7259058"/>
            <a:ext cx="10316496" cy="504528"/>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nvGrpSpPr>
          <p:cNvPr id="20" name="Group 20"/>
          <p:cNvGrpSpPr/>
          <p:nvPr/>
        </p:nvGrpSpPr>
        <p:grpSpPr>
          <a:xfrm>
            <a:off x="11290421" y="7789111"/>
            <a:ext cx="10316496" cy="490241"/>
            <a:chOff x="0" y="0"/>
            <a:chExt cx="13755328" cy="653654"/>
          </a:xfrm>
        </p:grpSpPr>
        <p:sp>
          <p:nvSpPr>
            <p:cNvPr id="21" name="Freeform 21"/>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2B211A">
                <a:alpha val="0"/>
              </a:srgbClr>
            </a:solidFill>
          </p:spPr>
          <p:txBody>
            <a:bodyPr/>
            <a:lstStyle/>
            <a:p>
              <a:endParaRPr/>
            </a:p>
          </p:txBody>
        </p:sp>
        <p:sp>
          <p:nvSpPr>
            <p:cNvPr id="22" name="TextBox 22"/>
            <p:cNvSpPr txBox="1"/>
            <p:nvPr/>
          </p:nvSpPr>
          <p:spPr>
            <a:xfrm>
              <a:off x="0" y="-19050"/>
              <a:ext cx="13755328" cy="672704"/>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grpSp>
        <p:nvGrpSpPr>
          <p:cNvPr id="23" name="Group 23"/>
          <p:cNvGrpSpPr/>
          <p:nvPr/>
        </p:nvGrpSpPr>
        <p:grpSpPr>
          <a:xfrm>
            <a:off x="11299386" y="8253201"/>
            <a:ext cx="10316496" cy="504529"/>
            <a:chOff x="0" y="0"/>
            <a:chExt cx="13755328" cy="653654"/>
          </a:xfrm>
        </p:grpSpPr>
        <p:sp>
          <p:nvSpPr>
            <p:cNvPr id="24" name="Freeform 24"/>
            <p:cNvSpPr/>
            <p:nvPr/>
          </p:nvSpPr>
          <p:spPr>
            <a:xfrm>
              <a:off x="0" y="0"/>
              <a:ext cx="13755328" cy="653654"/>
            </a:xfrm>
            <a:custGeom>
              <a:avLst/>
              <a:gdLst/>
              <a:ahLst/>
              <a:cxnLst/>
              <a:rect l="l" t="t" r="r" b="b"/>
              <a:pathLst>
                <a:path w="13755328" h="653654">
                  <a:moveTo>
                    <a:pt x="0" y="0"/>
                  </a:moveTo>
                  <a:lnTo>
                    <a:pt x="13755328" y="0"/>
                  </a:lnTo>
                  <a:lnTo>
                    <a:pt x="13755328" y="653654"/>
                  </a:lnTo>
                  <a:lnTo>
                    <a:pt x="0" y="653654"/>
                  </a:lnTo>
                  <a:close/>
                </a:path>
              </a:pathLst>
            </a:custGeom>
            <a:solidFill>
              <a:srgbClr val="2B211A">
                <a:alpha val="0"/>
              </a:srgbClr>
            </a:solidFill>
          </p:spPr>
          <p:txBody>
            <a:bodyPr/>
            <a:lstStyle/>
            <a:p>
              <a:endParaRPr/>
            </a:p>
          </p:txBody>
        </p:sp>
        <p:sp>
          <p:nvSpPr>
            <p:cNvPr id="25" name="TextBox 25"/>
            <p:cNvSpPr txBox="1"/>
            <p:nvPr/>
          </p:nvSpPr>
          <p:spPr>
            <a:xfrm>
              <a:off x="0" y="-19050"/>
              <a:ext cx="13755328" cy="672704"/>
            </a:xfrm>
            <a:prstGeom prst="rect">
              <a:avLst/>
            </a:prstGeom>
          </p:spPr>
          <p:txBody>
            <a:bodyPr lIns="0" tIns="0" rIns="0" bIns="0" rtlCol="0" anchor="t"/>
            <a:lstStyle/>
            <a:p>
              <a:pPr algn="l">
                <a:lnSpc>
                  <a:spcPts val="2879"/>
                </a:lnSpc>
              </a:pPr>
              <a:endParaRPr lang="en-US" sz="1800" dirty="0">
                <a:solidFill>
                  <a:srgbClr val="2B211A"/>
                </a:solidFill>
                <a:latin typeface="Times New Roman"/>
                <a:ea typeface="Times New Roman"/>
                <a:cs typeface="Times New Roman"/>
                <a:sym typeface="Poppins"/>
              </a:endParaRPr>
            </a:p>
          </p:txBody>
        </p:sp>
      </p:grpSp>
      <p:grpSp>
        <p:nvGrpSpPr>
          <p:cNvPr id="26" name="Group 26"/>
          <p:cNvGrpSpPr/>
          <p:nvPr/>
        </p:nvGrpSpPr>
        <p:grpSpPr>
          <a:xfrm>
            <a:off x="11190090" y="8714868"/>
            <a:ext cx="4803395" cy="717842"/>
            <a:chOff x="-32775" y="-57150"/>
            <a:chExt cx="6404527" cy="957124"/>
          </a:xfrm>
        </p:grpSpPr>
        <p:sp>
          <p:nvSpPr>
            <p:cNvPr id="27" name="Freeform 27"/>
            <p:cNvSpPr/>
            <p:nvPr/>
          </p:nvSpPr>
          <p:spPr>
            <a:xfrm>
              <a:off x="-32775" y="0"/>
              <a:ext cx="6371752" cy="899974"/>
            </a:xfrm>
            <a:custGeom>
              <a:avLst/>
              <a:gdLst/>
              <a:ahLst/>
              <a:cxnLst/>
              <a:rect l="l" t="t" r="r" b="b"/>
              <a:pathLst>
                <a:path w="6371752" h="899974">
                  <a:moveTo>
                    <a:pt x="0" y="0"/>
                  </a:moveTo>
                  <a:lnTo>
                    <a:pt x="6371752" y="0"/>
                  </a:lnTo>
                  <a:lnTo>
                    <a:pt x="6371752" y="899974"/>
                  </a:lnTo>
                  <a:lnTo>
                    <a:pt x="0" y="899974"/>
                  </a:lnTo>
                  <a:close/>
                </a:path>
              </a:pathLst>
            </a:custGeom>
            <a:solidFill>
              <a:srgbClr val="2B211A">
                <a:alpha val="0"/>
              </a:srgbClr>
            </a:solidFill>
          </p:spPr>
          <p:txBody>
            <a:bodyPr/>
            <a:lstStyle/>
            <a:p>
              <a:endParaRPr/>
            </a:p>
          </p:txBody>
        </p:sp>
        <p:sp>
          <p:nvSpPr>
            <p:cNvPr id="28" name="TextBox 28"/>
            <p:cNvSpPr txBox="1"/>
            <p:nvPr/>
          </p:nvSpPr>
          <p:spPr>
            <a:xfrm>
              <a:off x="0" y="-57150"/>
              <a:ext cx="6371752" cy="957124"/>
            </a:xfrm>
            <a:prstGeom prst="rect">
              <a:avLst/>
            </a:prstGeom>
          </p:spPr>
          <p:txBody>
            <a:bodyPr lIns="0" tIns="0" rIns="0" bIns="0" rtlCol="0" anchor="t"/>
            <a:lstStyle/>
            <a:p>
              <a:pPr algn="ctr">
                <a:lnSpc>
                  <a:spcPts val="3219"/>
                </a:lnSpc>
              </a:pPr>
              <a:endParaRPr lang="en-US" sz="1800" dirty="0">
                <a:solidFill>
                  <a:srgbClr val="2B211A"/>
                </a:solidFill>
                <a:latin typeface="Times New Roman"/>
                <a:ea typeface="Times New Roman"/>
                <a:cs typeface="Times New Roman"/>
                <a:sym typeface="Poppins"/>
              </a:endParaRPr>
            </a:p>
          </p:txBody>
        </p:sp>
      </p:grpSp>
      <p:sp>
        <p:nvSpPr>
          <p:cNvPr id="29" name="Freeform 29"/>
          <p:cNvSpPr/>
          <p:nvPr/>
        </p:nvSpPr>
        <p:spPr>
          <a:xfrm>
            <a:off x="3850799" y="4977333"/>
            <a:ext cx="14897174" cy="2217282"/>
          </a:xfrm>
          <a:custGeom>
            <a:avLst/>
            <a:gdLst/>
            <a:ahLst/>
            <a:cxnLst/>
            <a:rect l="l" t="t" r="r" b="b"/>
            <a:pathLst>
              <a:path w="14897174" h="2217282">
                <a:moveTo>
                  <a:pt x="0" y="0"/>
                </a:moveTo>
                <a:lnTo>
                  <a:pt x="14897174" y="0"/>
                </a:lnTo>
                <a:lnTo>
                  <a:pt x="14897174" y="2217282"/>
                </a:lnTo>
                <a:lnTo>
                  <a:pt x="0" y="2217282"/>
                </a:lnTo>
                <a:lnTo>
                  <a:pt x="0" y="0"/>
                </a:lnTo>
                <a:close/>
              </a:path>
            </a:pathLst>
          </a:custGeom>
          <a:blipFill>
            <a:blip>
              <a:extLst>
                <a:ext uri="{96DAC541-7B7A-43D3-8B79-37D633B846F1}">
                  <asvg:svgBlip xmlns:asvg="http://schemas.microsoft.com/office/drawing/2016/SVG/main" r:embed="rId3"/>
                </a:ext>
              </a:extLst>
            </a:blip>
            <a:stretch>
              <a:fillRect t="-14" b="-14"/>
            </a:stretch>
          </a:blipFill>
        </p:spPr>
        <p:txBody>
          <a:bodyPr/>
          <a:lstStyle/>
          <a:p>
            <a:endParaRPr/>
          </a:p>
        </p:txBody>
      </p:sp>
      <p:sp>
        <p:nvSpPr>
          <p:cNvPr id="30" name="Rectangle 29">
            <a:extLst>
              <a:ext uri="{FF2B5EF4-FFF2-40B4-BE49-F238E27FC236}">
                <a16:creationId xmlns:a16="http://schemas.microsoft.com/office/drawing/2014/main" id="{E6322FBF-8F11-40A9-0116-99E214F29DDF}"/>
              </a:ext>
            </a:extLst>
          </p:cNvPr>
          <p:cNvSpPr/>
          <p:nvPr/>
        </p:nvSpPr>
        <p:spPr>
          <a:xfrm>
            <a:off x="457200" y="342900"/>
            <a:ext cx="2133600" cy="1752600"/>
          </a:xfrm>
          <a:prstGeom prst="rect">
            <a:avLst/>
          </a:prstGeom>
          <a:blipFill>
            <a:blip r:embed="rId4"/>
            <a:stretch>
              <a:fillRect/>
            </a:stretch>
          </a:blipFill>
          <a:ln w="12700">
            <a:solidFill>
              <a:srgbClr val="8570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a:extLst>
              <a:ext uri="{FF2B5EF4-FFF2-40B4-BE49-F238E27FC236}">
                <a16:creationId xmlns:a16="http://schemas.microsoft.com/office/drawing/2014/main" id="{BC89C05E-C121-3821-F743-C8799C78F9CC}"/>
              </a:ext>
            </a:extLst>
          </p:cNvPr>
          <p:cNvSpPr txBox="1"/>
          <p:nvPr/>
        </p:nvSpPr>
        <p:spPr>
          <a:xfrm>
            <a:off x="3352800" y="342900"/>
            <a:ext cx="12268200" cy="2185214"/>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EASWARI ENGINEERING COLLEGE</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(AUTONOMOUS)</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Bharathi Salai, </a:t>
            </a:r>
            <a:r>
              <a:rPr lang="en-IN" sz="3600" dirty="0" err="1">
                <a:latin typeface="Times New Roman" panose="02020603050405020304" pitchFamily="18" charset="0"/>
                <a:cs typeface="Times New Roman" panose="02020603050405020304" pitchFamily="18" charset="0"/>
              </a:rPr>
              <a:t>Ramapuram</a:t>
            </a:r>
            <a:r>
              <a:rPr lang="en-IN" sz="3600" dirty="0">
                <a:latin typeface="Times New Roman" panose="02020603050405020304" pitchFamily="18" charset="0"/>
                <a:cs typeface="Times New Roman" panose="02020603050405020304" pitchFamily="18" charset="0"/>
              </a:rPr>
              <a:t>, Chennai, 600089.</a:t>
            </a:r>
            <a:endParaRPr lang="en-US" sz="3600" dirty="0">
              <a:latin typeface="Times New Roman" panose="02020603050405020304" pitchFamily="18" charset="0"/>
              <a:cs typeface="Times New Roman" panose="02020603050405020304" pitchFamily="18" charset="0"/>
            </a:endParaRPr>
          </a:p>
          <a:p>
            <a:endParaRPr lang="en-IN" sz="2800" dirty="0"/>
          </a:p>
        </p:txBody>
      </p:sp>
      <p:sp>
        <p:nvSpPr>
          <p:cNvPr id="34" name="Text 7">
            <a:extLst>
              <a:ext uri="{FF2B5EF4-FFF2-40B4-BE49-F238E27FC236}">
                <a16:creationId xmlns:a16="http://schemas.microsoft.com/office/drawing/2014/main" id="{E343FC88-7D57-2603-446E-95F1C414A59C}"/>
              </a:ext>
            </a:extLst>
          </p:cNvPr>
          <p:cNvSpPr txBox="1"/>
          <p:nvPr/>
        </p:nvSpPr>
        <p:spPr>
          <a:xfrm>
            <a:off x="3962552" y="6126052"/>
            <a:ext cx="10362895" cy="365760"/>
          </a:xfrm>
          <a:prstGeom prst="rect">
            <a:avLst/>
          </a:prstGeom>
          <a:noFill/>
          <a:ln/>
        </p:spPr>
        <p:txBody>
          <a:bodyPr wrap="square" lIns="0" tIns="0" rIns="0" bIns="0" rtlCol="0" anchor="ctr"/>
          <a:lstStyle/>
          <a:p>
            <a:pPr marL="0" indent="0" algn="ctr">
              <a:buNone/>
            </a:pPr>
            <a:r>
              <a:rPr lang="en-US" sz="2000" dirty="0">
                <a:latin typeface="Times New Roman" pitchFamily="34" charset="0"/>
                <a:ea typeface="Times New Roman" pitchFamily="34" charset="-122"/>
                <a:cs typeface="Times New Roman" pitchFamily="34" charset="-120"/>
              </a:rPr>
              <a:t>Department of Information Technology</a:t>
            </a:r>
          </a:p>
        </p:txBody>
      </p:sp>
      <p:sp>
        <p:nvSpPr>
          <p:cNvPr id="37" name="TextBox 36">
            <a:extLst>
              <a:ext uri="{FF2B5EF4-FFF2-40B4-BE49-F238E27FC236}">
                <a16:creationId xmlns:a16="http://schemas.microsoft.com/office/drawing/2014/main" id="{197C25D0-BB5D-2EF4-4B32-C160A1F09469}"/>
              </a:ext>
            </a:extLst>
          </p:cNvPr>
          <p:cNvSpPr txBox="1"/>
          <p:nvPr/>
        </p:nvSpPr>
        <p:spPr>
          <a:xfrm>
            <a:off x="6576968" y="6726651"/>
            <a:ext cx="5819863"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SUBJECT NAME:</a:t>
            </a:r>
            <a:r>
              <a:rPr lang="en-US" sz="2000" dirty="0">
                <a:latin typeface="Times New Roman" panose="02020603050405020304" pitchFamily="18" charset="0"/>
                <a:cs typeface="Times New Roman" panose="02020603050405020304" pitchFamily="18" charset="0"/>
              </a:rPr>
              <a:t> FULL STACK DEVELOPMENT</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SUBJECT CODE:</a:t>
            </a:r>
            <a:r>
              <a:rPr lang="en-US" sz="2000" dirty="0">
                <a:latin typeface="Times New Roman" panose="02020603050405020304" pitchFamily="18" charset="0"/>
                <a:cs typeface="Times New Roman" panose="02020603050405020304" pitchFamily="18" charset="0"/>
              </a:rPr>
              <a:t> 2311CSC503R</a:t>
            </a:r>
          </a:p>
        </p:txBody>
      </p:sp>
      <p:sp>
        <p:nvSpPr>
          <p:cNvPr id="40" name="Text 8">
            <a:extLst>
              <a:ext uri="{FF2B5EF4-FFF2-40B4-BE49-F238E27FC236}">
                <a16:creationId xmlns:a16="http://schemas.microsoft.com/office/drawing/2014/main" id="{F377710D-53EF-188F-62CA-1F28EE096652}"/>
              </a:ext>
            </a:extLst>
          </p:cNvPr>
          <p:cNvSpPr txBox="1"/>
          <p:nvPr/>
        </p:nvSpPr>
        <p:spPr>
          <a:xfrm>
            <a:off x="12396831" y="8323716"/>
            <a:ext cx="4349313" cy="509236"/>
          </a:xfrm>
          <a:prstGeom prst="rect">
            <a:avLst/>
          </a:prstGeom>
          <a:noFill/>
          <a:ln/>
        </p:spPr>
        <p:txBody>
          <a:bodyPr wrap="square" lIns="0" tIns="0" rIns="0" bIns="0" rtlCol="0" anchor="ctr"/>
          <a:lstStyle/>
          <a:p>
            <a:pPr marL="0" indent="0">
              <a:lnSpc>
                <a:spcPct val="125000"/>
              </a:lnSpc>
              <a:buNone/>
            </a:pPr>
            <a:r>
              <a:rPr lang="en-US" b="1" dirty="0">
                <a:latin typeface="Times New Roman" pitchFamily="34" charset="0"/>
                <a:ea typeface="Times New Roman" pitchFamily="34" charset="-122"/>
                <a:cs typeface="Times New Roman" pitchFamily="34" charset="-120"/>
              </a:rPr>
              <a:t>PRESENTED BY</a:t>
            </a:r>
            <a:endParaRPr lang="en-US" dirty="0"/>
          </a:p>
          <a:p>
            <a:pPr marL="0" indent="0">
              <a:lnSpc>
                <a:spcPct val="125000"/>
              </a:lnSpc>
              <a:buNone/>
            </a:pPr>
            <a:r>
              <a:rPr lang="en-US" dirty="0">
                <a:latin typeface="Times New Roman" pitchFamily="34" charset="0"/>
                <a:ea typeface="Times New Roman" pitchFamily="34" charset="-122"/>
                <a:cs typeface="Times New Roman" pitchFamily="34" charset="-120"/>
              </a:rPr>
              <a:t>Madhav G (310624205131)</a:t>
            </a:r>
            <a:endParaRPr lang="en-US" dirty="0"/>
          </a:p>
        </p:txBody>
      </p:sp>
      <p:sp>
        <p:nvSpPr>
          <p:cNvPr id="42" name="Text 9">
            <a:extLst>
              <a:ext uri="{FF2B5EF4-FFF2-40B4-BE49-F238E27FC236}">
                <a16:creationId xmlns:a16="http://schemas.microsoft.com/office/drawing/2014/main" id="{377442A6-C7CC-E59D-B44C-BA1B0A55A84C}"/>
              </a:ext>
            </a:extLst>
          </p:cNvPr>
          <p:cNvSpPr txBox="1"/>
          <p:nvPr/>
        </p:nvSpPr>
        <p:spPr>
          <a:xfrm>
            <a:off x="1541856" y="8343334"/>
            <a:ext cx="4206240" cy="580933"/>
          </a:xfrm>
          <a:prstGeom prst="rect">
            <a:avLst/>
          </a:prstGeom>
          <a:noFill/>
          <a:ln/>
        </p:spPr>
        <p:txBody>
          <a:bodyPr wrap="square" lIns="0" tIns="0" rIns="0" bIns="0" rtlCol="0" anchor="ctr"/>
          <a:lstStyle/>
          <a:p>
            <a:pPr marL="0" indent="0">
              <a:lnSpc>
                <a:spcPct val="125000"/>
              </a:lnSpc>
              <a:buNone/>
            </a:pPr>
            <a:r>
              <a:rPr lang="en-US" b="1" dirty="0">
                <a:latin typeface="Times New Roman" pitchFamily="34" charset="0"/>
                <a:ea typeface="Times New Roman" pitchFamily="34" charset="-122"/>
                <a:cs typeface="Times New Roman" pitchFamily="34" charset="-120"/>
              </a:rPr>
              <a:t>UNDER THE GUIDANCE OF</a:t>
            </a:r>
            <a:endParaRPr lang="en-US" dirty="0"/>
          </a:p>
          <a:p>
            <a:pPr>
              <a:lnSpc>
                <a:spcPct val="125000"/>
              </a:lnSpc>
            </a:pPr>
            <a:r>
              <a:rPr lang="en-US" dirty="0">
                <a:latin typeface="Times New Roman" pitchFamily="34" charset="0"/>
                <a:ea typeface="Times New Roman" pitchFamily="34" charset="-122"/>
                <a:cs typeface="Times New Roman" pitchFamily="34" charset="-120"/>
              </a:rPr>
              <a:t>G. Sai Lakshmi</a:t>
            </a:r>
            <a:endParaRPr lang="en-US" dirty="0"/>
          </a:p>
        </p:txBody>
      </p:sp>
      <p:sp>
        <p:nvSpPr>
          <p:cNvPr id="44" name="Text 4">
            <a:extLst>
              <a:ext uri="{FF2B5EF4-FFF2-40B4-BE49-F238E27FC236}">
                <a16:creationId xmlns:a16="http://schemas.microsoft.com/office/drawing/2014/main" id="{AB5A5823-3255-CA74-95B3-099D35901B4C}"/>
              </a:ext>
            </a:extLst>
          </p:cNvPr>
          <p:cNvSpPr txBox="1"/>
          <p:nvPr/>
        </p:nvSpPr>
        <p:spPr>
          <a:xfrm>
            <a:off x="2133599" y="3242640"/>
            <a:ext cx="14020800" cy="1490976"/>
          </a:xfrm>
          <a:prstGeom prst="rect">
            <a:avLst/>
          </a:prstGeom>
          <a:noFill/>
          <a:ln/>
        </p:spPr>
        <p:txBody>
          <a:bodyPr wrap="square" lIns="0" tIns="0" rIns="0" bIns="0" rtlCol="0" anchor="ctr"/>
          <a:lstStyle/>
          <a:p>
            <a:pPr algn="ctr"/>
            <a:r>
              <a:rPr lang="en-IN" sz="3600" b="1" dirty="0">
                <a:latin typeface="Times New Roman" panose="02020603050405020304" pitchFamily="18" charset="0"/>
                <a:cs typeface="Times New Roman" panose="02020603050405020304" pitchFamily="18" charset="0"/>
              </a:rPr>
              <a:t>Devotees experience long waiting times due to unplanned crowd management and lack of real-time queue information</a:t>
            </a:r>
            <a:endParaRPr 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1524000" y="1533524"/>
            <a:ext cx="11154133" cy="9186822"/>
            <a:chOff x="0" y="0"/>
            <a:chExt cx="14872177" cy="12249095"/>
          </a:xfrm>
        </p:grpSpPr>
        <p:sp>
          <p:nvSpPr>
            <p:cNvPr id="3" name="Freeform 3"/>
            <p:cNvSpPr/>
            <p:nvPr/>
          </p:nvSpPr>
          <p:spPr>
            <a:xfrm>
              <a:off x="0" y="0"/>
              <a:ext cx="14872177" cy="12249095"/>
            </a:xfrm>
            <a:custGeom>
              <a:avLst/>
              <a:gdLst/>
              <a:ahLst/>
              <a:cxnLst/>
              <a:rect l="l" t="t" r="r" b="b"/>
              <a:pathLst>
                <a:path w="14872177" h="12249095">
                  <a:moveTo>
                    <a:pt x="0" y="0"/>
                  </a:moveTo>
                  <a:lnTo>
                    <a:pt x="14872177" y="0"/>
                  </a:lnTo>
                  <a:lnTo>
                    <a:pt x="14872177" y="12249095"/>
                  </a:lnTo>
                  <a:lnTo>
                    <a:pt x="0" y="12249095"/>
                  </a:lnTo>
                  <a:close/>
                </a:path>
              </a:pathLst>
            </a:custGeom>
            <a:solidFill>
              <a:srgbClr val="2B211A">
                <a:alpha val="0"/>
              </a:srgbClr>
            </a:solidFill>
          </p:spPr>
          <p:txBody>
            <a:bodyPr/>
            <a:lstStyle/>
            <a:p>
              <a:endParaRPr/>
            </a:p>
          </p:txBody>
        </p:sp>
        <p:sp>
          <p:nvSpPr>
            <p:cNvPr id="4" name="TextBox 4"/>
            <p:cNvSpPr txBox="1"/>
            <p:nvPr/>
          </p:nvSpPr>
          <p:spPr>
            <a:xfrm>
              <a:off x="0" y="-171450"/>
              <a:ext cx="14872177" cy="12420545"/>
            </a:xfrm>
            <a:prstGeom prst="rect">
              <a:avLst/>
            </a:prstGeom>
          </p:spPr>
          <p:txBody>
            <a:bodyPr lIns="0" tIns="0" rIns="0" bIns="0" rtlCol="0" anchor="t"/>
            <a:lstStyle/>
            <a:p>
              <a:pPr marL="834391" lvl="3" indent="-342900" algn="just">
                <a:lnSpc>
                  <a:spcPts val="4752"/>
                </a:lnSpc>
                <a:buFont typeface="Courier New" panose="02070309020205020404" pitchFamily="49" charset="0"/>
                <a:buChar char="o"/>
              </a:pPr>
              <a:endParaRPr lang="en-US" sz="1800" dirty="0">
                <a:solidFill>
                  <a:srgbClr val="2B211A"/>
                </a:solidFill>
                <a:latin typeface="Times New Roman"/>
                <a:ea typeface="Times New Roman"/>
                <a:cs typeface="Times New Roman"/>
                <a:sym typeface="Canva Sans"/>
              </a:endParaRP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Title </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Abstract</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Introduction </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Literature survey</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Existing system and Disadvantages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Proposed system and Advantages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System requirements</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System Architecture</a:t>
              </a:r>
            </a:p>
            <a:p>
              <a:pPr marL="834391" lvl="3" indent="-342900" algn="just">
                <a:lnSpc>
                  <a:spcPts val="4752"/>
                </a:lnSpc>
                <a:buFont typeface="Courier New" panose="02070309020205020404" pitchFamily="49" charset="0"/>
                <a:buChar char="o"/>
              </a:pPr>
              <a:r>
                <a:rPr lang="en-US" sz="1800" dirty="0">
                  <a:solidFill>
                    <a:srgbClr val="2B211A"/>
                  </a:solidFill>
                  <a:latin typeface="Times New Roman"/>
                  <a:ea typeface="Times New Roman"/>
                  <a:cs typeface="Times New Roman"/>
                  <a:sym typeface="Times New Roman"/>
                </a:rPr>
                <a:t>References</a:t>
              </a:r>
            </a:p>
          </p:txBody>
        </p:sp>
      </p:grpSp>
      <p:grpSp>
        <p:nvGrpSpPr>
          <p:cNvPr id="5" name="Group 5"/>
          <p:cNvGrpSpPr/>
          <p:nvPr/>
        </p:nvGrpSpPr>
        <p:grpSpPr>
          <a:xfrm>
            <a:off x="673334" y="332282"/>
            <a:ext cx="7862824" cy="1201242"/>
            <a:chOff x="0" y="-19050"/>
            <a:chExt cx="10483765" cy="1601655"/>
          </a:xfrm>
        </p:grpSpPr>
        <p:sp>
          <p:nvSpPr>
            <p:cNvPr id="6" name="Freeform 6"/>
            <p:cNvSpPr/>
            <p:nvPr/>
          </p:nvSpPr>
          <p:spPr>
            <a:xfrm>
              <a:off x="107949" y="225303"/>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2B211A">
                <a:alpha val="0"/>
              </a:srgbClr>
            </a:solidFill>
          </p:spPr>
          <p:txBody>
            <a:bodyPr/>
            <a:lstStyle/>
            <a:p>
              <a:endParaRPr/>
            </a:p>
          </p:txBody>
        </p:sp>
        <p:sp>
          <p:nvSpPr>
            <p:cNvPr id="7" name="TextBox 7"/>
            <p:cNvSpPr txBox="1"/>
            <p:nvPr/>
          </p:nvSpPr>
          <p:spPr>
            <a:xfrm>
              <a:off x="0" y="-19050"/>
              <a:ext cx="10375816" cy="1376352"/>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CONTENTS :</a:t>
              </a:r>
            </a:p>
          </p:txBody>
        </p:sp>
      </p:grpSp>
      <p:sp>
        <p:nvSpPr>
          <p:cNvPr id="8" name="Freeform 8"/>
          <p:cNvSpPr/>
          <p:nvPr/>
        </p:nvSpPr>
        <p:spPr>
          <a:xfrm>
            <a:off x="15468600" y="23352"/>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9" name="Group 9"/>
          <p:cNvGrpSpPr/>
          <p:nvPr/>
        </p:nvGrpSpPr>
        <p:grpSpPr>
          <a:xfrm>
            <a:off x="457200" y="1496974"/>
            <a:ext cx="3974306" cy="38100"/>
            <a:chOff x="0" y="0"/>
            <a:chExt cx="5299075" cy="50800"/>
          </a:xfrm>
        </p:grpSpPr>
        <p:sp>
          <p:nvSpPr>
            <p:cNvPr id="10" name="Freeform 10"/>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8917A"/>
            </a:solidFill>
          </p:spPr>
          <p:txBody>
            <a:bodyPr/>
            <a:lstStyle/>
            <a:p>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rot="2852131">
            <a:off x="-7662073" y="3059260"/>
            <a:ext cx="18930865" cy="18758766"/>
          </a:xfrm>
          <a:custGeom>
            <a:avLst/>
            <a:gdLst/>
            <a:ahLst/>
            <a:cxnLst/>
            <a:rect l="l" t="t" r="r" b="b"/>
            <a:pathLst>
              <a:path w="18930865" h="18758766">
                <a:moveTo>
                  <a:pt x="0" y="0"/>
                </a:moveTo>
                <a:lnTo>
                  <a:pt x="18930865" y="0"/>
                </a:lnTo>
                <a:lnTo>
                  <a:pt x="18930865" y="18758766"/>
                </a:lnTo>
                <a:lnTo>
                  <a:pt x="0" y="18758766"/>
                </a:lnTo>
                <a:lnTo>
                  <a:pt x="0" y="0"/>
                </a:lnTo>
                <a:close/>
              </a:path>
            </a:pathLst>
          </a:custGeom>
          <a:blipFill>
            <a:blip>
              <a:alphaModFix amt="7999"/>
              <a:extLst>
                <a:ext uri="{96DAC541-7B7A-43D3-8B79-37D633B846F1}">
                  <asvg:svgBlip xmlns:asvg="http://schemas.microsoft.com/office/drawing/2016/SVG/main" r:embed="rId2"/>
                </a:ext>
              </a:extLst>
            </a:blip>
            <a:stretch>
              <a:fillRect l="-23" r="-23"/>
            </a:stretch>
          </a:blipFill>
        </p:spPr>
        <p:txBody>
          <a:bodyPr/>
          <a:lstStyle/>
          <a:p>
            <a:endParaRPr/>
          </a:p>
        </p:txBody>
      </p:sp>
      <p:sp>
        <p:nvSpPr>
          <p:cNvPr id="3" name="Freeform 3"/>
          <p:cNvSpPr/>
          <p:nvPr/>
        </p:nvSpPr>
        <p:spPr>
          <a:xfrm>
            <a:off x="4097320" y="507957"/>
            <a:ext cx="924343" cy="867202"/>
          </a:xfrm>
          <a:custGeom>
            <a:avLst/>
            <a:gdLst/>
            <a:ahLst/>
            <a:cxnLst/>
            <a:rect l="l" t="t" r="r" b="b"/>
            <a:pathLst>
              <a:path w="924343" h="867202">
                <a:moveTo>
                  <a:pt x="0" y="0"/>
                </a:moveTo>
                <a:lnTo>
                  <a:pt x="924343" y="0"/>
                </a:lnTo>
                <a:lnTo>
                  <a:pt x="924343" y="867202"/>
                </a:lnTo>
                <a:lnTo>
                  <a:pt x="0" y="867202"/>
                </a:lnTo>
                <a:lnTo>
                  <a:pt x="0" y="0"/>
                </a:lnTo>
                <a:close/>
              </a:path>
            </a:pathLst>
          </a:custGeom>
          <a:blipFill>
            <a:blip>
              <a:extLst>
                <a:ext uri="{96DAC541-7B7A-43D3-8B79-37D633B846F1}">
                  <asvg:svgBlip xmlns:asvg="http://schemas.microsoft.com/office/drawing/2016/SVG/main" r:embed="rId3"/>
                </a:ext>
              </a:extLst>
            </a:blip>
            <a:stretch>
              <a:fillRect t="-31" b="-31"/>
            </a:stretch>
          </a:blipFill>
        </p:spPr>
        <p:txBody>
          <a:bodyPr/>
          <a:lstStyle/>
          <a:p>
            <a:endParaRPr/>
          </a:p>
        </p:txBody>
      </p:sp>
      <p:grpSp>
        <p:nvGrpSpPr>
          <p:cNvPr id="4" name="Group 4"/>
          <p:cNvGrpSpPr/>
          <p:nvPr/>
        </p:nvGrpSpPr>
        <p:grpSpPr>
          <a:xfrm>
            <a:off x="862986" y="750954"/>
            <a:ext cx="7781862" cy="1017977"/>
            <a:chOff x="0" y="0"/>
            <a:chExt cx="10375816" cy="1357302"/>
          </a:xfrm>
        </p:grpSpPr>
        <p:sp>
          <p:nvSpPr>
            <p:cNvPr id="5" name="Freeform 5"/>
            <p:cNvSpPr/>
            <p:nvPr/>
          </p:nvSpPr>
          <p:spPr>
            <a:xfrm>
              <a:off x="0" y="0"/>
              <a:ext cx="10375816" cy="1357302"/>
            </a:xfrm>
            <a:custGeom>
              <a:avLst/>
              <a:gdLst/>
              <a:ahLst/>
              <a:cxnLst/>
              <a:rect l="l" t="t" r="r" b="b"/>
              <a:pathLst>
                <a:path w="10375816" h="1357302">
                  <a:moveTo>
                    <a:pt x="0" y="0"/>
                  </a:moveTo>
                  <a:lnTo>
                    <a:pt x="10375816" y="0"/>
                  </a:lnTo>
                  <a:lnTo>
                    <a:pt x="10375816" y="1357302"/>
                  </a:lnTo>
                  <a:lnTo>
                    <a:pt x="0" y="1357302"/>
                  </a:lnTo>
                  <a:close/>
                </a:path>
              </a:pathLst>
            </a:custGeom>
            <a:solidFill>
              <a:srgbClr val="2B211A">
                <a:alpha val="0"/>
              </a:srgbClr>
            </a:solidFill>
          </p:spPr>
          <p:txBody>
            <a:bodyPr/>
            <a:lstStyle/>
            <a:p>
              <a:endParaRPr/>
            </a:p>
          </p:txBody>
        </p:sp>
        <p:sp>
          <p:nvSpPr>
            <p:cNvPr id="6" name="TextBox 6"/>
            <p:cNvSpPr txBox="1"/>
            <p:nvPr/>
          </p:nvSpPr>
          <p:spPr>
            <a:xfrm>
              <a:off x="0" y="-19050"/>
              <a:ext cx="10375816" cy="1376352"/>
            </a:xfrm>
            <a:prstGeom prst="rect">
              <a:avLst/>
            </a:prstGeom>
          </p:spPr>
          <p:txBody>
            <a:bodyPr lIns="0" tIns="0" rIns="0" bIns="0" rtlCol="0" anchor="t"/>
            <a:lstStyle/>
            <a:p>
              <a:pPr algn="l">
                <a:lnSpc>
                  <a:spcPts val="4369"/>
                </a:lnSpc>
              </a:pPr>
              <a:r>
                <a:rPr lang="en-US" sz="2800" b="1">
                  <a:solidFill>
                    <a:srgbClr val="7C2D12"/>
                  </a:solidFill>
                  <a:latin typeface="Times New Roman"/>
                  <a:ea typeface="Times New Roman"/>
                  <a:cs typeface="Times New Roman"/>
                  <a:sym typeface="Times New Roman"/>
                </a:rPr>
                <a:t>ABSTRACT</a:t>
              </a:r>
            </a:p>
          </p:txBody>
        </p:sp>
      </p:grpSp>
      <p:grpSp>
        <p:nvGrpSpPr>
          <p:cNvPr id="7" name="Group 7"/>
          <p:cNvGrpSpPr/>
          <p:nvPr/>
        </p:nvGrpSpPr>
        <p:grpSpPr>
          <a:xfrm>
            <a:off x="1537751" y="2613981"/>
            <a:ext cx="13575168" cy="8773289"/>
            <a:chOff x="0" y="0"/>
            <a:chExt cx="18100224" cy="11697719"/>
          </a:xfrm>
        </p:grpSpPr>
        <p:sp>
          <p:nvSpPr>
            <p:cNvPr id="8" name="Freeform 8"/>
            <p:cNvSpPr/>
            <p:nvPr/>
          </p:nvSpPr>
          <p:spPr>
            <a:xfrm>
              <a:off x="0" y="0"/>
              <a:ext cx="18100224" cy="11697719"/>
            </a:xfrm>
            <a:custGeom>
              <a:avLst/>
              <a:gdLst/>
              <a:ahLst/>
              <a:cxnLst/>
              <a:rect l="l" t="t" r="r" b="b"/>
              <a:pathLst>
                <a:path w="18100224" h="11697719">
                  <a:moveTo>
                    <a:pt x="0" y="0"/>
                  </a:moveTo>
                  <a:lnTo>
                    <a:pt x="18100224" y="0"/>
                  </a:lnTo>
                  <a:lnTo>
                    <a:pt x="18100224" y="11697719"/>
                  </a:lnTo>
                  <a:lnTo>
                    <a:pt x="0" y="11697719"/>
                  </a:lnTo>
                  <a:close/>
                </a:path>
              </a:pathLst>
            </a:custGeom>
            <a:solidFill>
              <a:srgbClr val="2B211A">
                <a:alpha val="0"/>
              </a:srgbClr>
            </a:solidFill>
          </p:spPr>
          <p:txBody>
            <a:bodyPr/>
            <a:lstStyle/>
            <a:p>
              <a:endParaRPr/>
            </a:p>
          </p:txBody>
        </p:sp>
        <p:sp>
          <p:nvSpPr>
            <p:cNvPr id="9" name="TextBox 9"/>
            <p:cNvSpPr txBox="1"/>
            <p:nvPr/>
          </p:nvSpPr>
          <p:spPr>
            <a:xfrm>
              <a:off x="0" y="-171450"/>
              <a:ext cx="18100224" cy="11869169"/>
            </a:xfrm>
            <a:prstGeom prst="rect">
              <a:avLst/>
            </a:prstGeom>
          </p:spPr>
          <p:txBody>
            <a:bodyPr lIns="0" tIns="0" rIns="0" bIns="0" rtlCol="0" anchor="t"/>
            <a:lstStyle/>
            <a:p>
              <a:pPr algn="just">
                <a:lnSpc>
                  <a:spcPts val="4553"/>
                </a:lnSpc>
              </a:pPr>
              <a:r>
                <a:rPr lang="en-US" sz="1800" dirty="0">
                  <a:solidFill>
                    <a:srgbClr val="2B211A"/>
                  </a:solidFill>
                  <a:latin typeface="Times New Roman"/>
                  <a:ea typeface="Times New Roman"/>
                  <a:cs typeface="Times New Roman"/>
                  <a:sym typeface="Times New Roman"/>
                </a:rPr>
                <a:t>Devotees at temples and pilgrimage </a:t>
              </a:r>
              <a:r>
                <a:rPr lang="en-US" sz="1800" dirty="0" err="1">
                  <a:solidFill>
                    <a:srgbClr val="2B211A"/>
                  </a:solidFill>
                  <a:latin typeface="Times New Roman"/>
                  <a:ea typeface="Times New Roman"/>
                  <a:cs typeface="Times New Roman"/>
                  <a:sym typeface="Times New Roman"/>
                </a:rPr>
                <a:t>centres</a:t>
              </a:r>
              <a:r>
                <a:rPr lang="en-US" sz="1800" dirty="0">
                  <a:solidFill>
                    <a:srgbClr val="2B211A"/>
                  </a:solidFill>
                  <a:latin typeface="Times New Roman"/>
                  <a:ea typeface="Times New Roman"/>
                  <a:cs typeface="Times New Roman"/>
                  <a:sym typeface="Times New Roman"/>
                </a:rPr>
                <a:t> often wait for several hours because entry is managed manually and no reliable information about queue length or expected waiting time is available to them. This project proposes a Smart Darshan system that replaces the physical waiting line with a virtual queue. Devotees book a darshan slot through a web application, or collect a walk-in token at the temple counter or kiosk, and receive a QR-coded digital token. The token is scanned at the entry and exit gates, which keeps the live count of devotees inside accurate, and the system computes the estimated waiting time from the number of devotees ahead and the measured service rate. A prediction module trained on historical footfall data forecasts peak hours and recommends less crowded slots, while an administrator dashboard shows live lane-wise crowd status and raises an alert when the queue nears its safe limit. The result is shorter waiting, planned crowd distribution and transparent real-time queue information for every devotee.</a:t>
              </a:r>
            </a:p>
          </p:txBody>
        </p:sp>
      </p:grpSp>
      <p:grpSp>
        <p:nvGrpSpPr>
          <p:cNvPr id="10" name="Group 10"/>
          <p:cNvGrpSpPr/>
          <p:nvPr/>
        </p:nvGrpSpPr>
        <p:grpSpPr>
          <a:xfrm>
            <a:off x="779611" y="1768931"/>
            <a:ext cx="3974306" cy="38100"/>
            <a:chOff x="0" y="0"/>
            <a:chExt cx="5299075" cy="50800"/>
          </a:xfrm>
        </p:grpSpPr>
        <p:sp>
          <p:nvSpPr>
            <p:cNvPr id="11" name="Freeform 11"/>
            <p:cNvSpPr/>
            <p:nvPr/>
          </p:nvSpPr>
          <p:spPr>
            <a:xfrm>
              <a:off x="0" y="0"/>
              <a:ext cx="5299075" cy="50800"/>
            </a:xfrm>
            <a:custGeom>
              <a:avLst/>
              <a:gdLst/>
              <a:ahLst/>
              <a:cxnLst/>
              <a:rect l="l" t="t" r="r" b="b"/>
              <a:pathLst>
                <a:path w="5299075" h="50800">
                  <a:moveTo>
                    <a:pt x="0" y="0"/>
                  </a:moveTo>
                  <a:lnTo>
                    <a:pt x="5299075" y="0"/>
                  </a:lnTo>
                  <a:lnTo>
                    <a:pt x="5299075" y="50800"/>
                  </a:lnTo>
                  <a:lnTo>
                    <a:pt x="0" y="50800"/>
                  </a:lnTo>
                  <a:close/>
                </a:path>
              </a:pathLst>
            </a:custGeom>
            <a:solidFill>
              <a:srgbClr val="A8917A"/>
            </a:solidFill>
          </p:spPr>
          <p:txBody>
            <a:bodyPr/>
            <a:lstStyle/>
            <a:p>
              <a:endParaRPr/>
            </a:p>
          </p:txBody>
        </p:sp>
      </p:grpSp>
      <p:sp>
        <p:nvSpPr>
          <p:cNvPr id="12" name="Freeform 12"/>
          <p:cNvSpPr/>
          <p:nvPr/>
        </p:nvSpPr>
        <p:spPr>
          <a:xfrm>
            <a:off x="1573003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4"/>
                </a:ext>
              </a:extLst>
            </a:blip>
            <a:stretch>
              <a:fillRect l="-25" r="-25"/>
            </a:stretch>
          </a:blipFill>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877629"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404494"/>
            <a:ext cx="7781862" cy="1008470"/>
            <a:chOff x="0" y="0"/>
            <a:chExt cx="10375816" cy="1344626"/>
          </a:xfrm>
        </p:grpSpPr>
        <p:sp>
          <p:nvSpPr>
            <p:cNvPr id="4" name="Freeform 4"/>
            <p:cNvSpPr/>
            <p:nvPr/>
          </p:nvSpPr>
          <p:spPr>
            <a:xfrm>
              <a:off x="0" y="0"/>
              <a:ext cx="10375816" cy="1344626"/>
            </a:xfrm>
            <a:custGeom>
              <a:avLst/>
              <a:gdLst/>
              <a:ahLst/>
              <a:cxnLst/>
              <a:rect l="l" t="t" r="r" b="b"/>
              <a:pathLst>
                <a:path w="10375816" h="1344626">
                  <a:moveTo>
                    <a:pt x="0" y="0"/>
                  </a:moveTo>
                  <a:lnTo>
                    <a:pt x="10375816" y="0"/>
                  </a:lnTo>
                  <a:lnTo>
                    <a:pt x="10375816" y="1344626"/>
                  </a:lnTo>
                  <a:lnTo>
                    <a:pt x="0" y="1344626"/>
                  </a:lnTo>
                  <a:close/>
                </a:path>
              </a:pathLst>
            </a:custGeom>
            <a:solidFill>
              <a:srgbClr val="2B211A">
                <a:alpha val="0"/>
              </a:srgbClr>
            </a:solidFill>
          </p:spPr>
          <p:txBody>
            <a:bodyPr/>
            <a:lstStyle/>
            <a:p>
              <a:endParaRPr/>
            </a:p>
          </p:txBody>
        </p:sp>
        <p:sp>
          <p:nvSpPr>
            <p:cNvPr id="5" name="TextBox 5"/>
            <p:cNvSpPr txBox="1"/>
            <p:nvPr/>
          </p:nvSpPr>
          <p:spPr>
            <a:xfrm>
              <a:off x="0" y="-19050"/>
              <a:ext cx="10375816" cy="13636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INTRODUCTION</a:t>
              </a:r>
            </a:p>
          </p:txBody>
        </p:sp>
      </p:grpSp>
      <p:grpSp>
        <p:nvGrpSpPr>
          <p:cNvPr id="6" name="Group 6"/>
          <p:cNvGrpSpPr/>
          <p:nvPr/>
        </p:nvGrpSpPr>
        <p:grpSpPr>
          <a:xfrm>
            <a:off x="731631" y="1541552"/>
            <a:ext cx="4421219" cy="38100"/>
            <a:chOff x="0" y="0"/>
            <a:chExt cx="5894959" cy="50800"/>
          </a:xfrm>
        </p:grpSpPr>
        <p:sp>
          <p:nvSpPr>
            <p:cNvPr id="7" name="Freeform 7"/>
            <p:cNvSpPr/>
            <p:nvPr/>
          </p:nvSpPr>
          <p:spPr>
            <a:xfrm>
              <a:off x="0" y="0"/>
              <a:ext cx="5894959" cy="50800"/>
            </a:xfrm>
            <a:custGeom>
              <a:avLst/>
              <a:gdLst/>
              <a:ahLst/>
              <a:cxnLst/>
              <a:rect l="l" t="t" r="r" b="b"/>
              <a:pathLst>
                <a:path w="5894959" h="50800">
                  <a:moveTo>
                    <a:pt x="0" y="0"/>
                  </a:moveTo>
                  <a:lnTo>
                    <a:pt x="5894959" y="0"/>
                  </a:lnTo>
                  <a:lnTo>
                    <a:pt x="5894959" y="50800"/>
                  </a:lnTo>
                  <a:lnTo>
                    <a:pt x="0" y="50800"/>
                  </a:lnTo>
                  <a:close/>
                </a:path>
              </a:pathLst>
            </a:custGeom>
            <a:solidFill>
              <a:srgbClr val="A8917A"/>
            </a:solidFill>
          </p:spPr>
          <p:txBody>
            <a:bodyPr/>
            <a:lstStyle/>
            <a:p>
              <a:endParaRPr/>
            </a:p>
          </p:txBody>
        </p:sp>
      </p:grpSp>
      <p:grpSp>
        <p:nvGrpSpPr>
          <p:cNvPr id="8" name="Group 8"/>
          <p:cNvGrpSpPr/>
          <p:nvPr/>
        </p:nvGrpSpPr>
        <p:grpSpPr>
          <a:xfrm>
            <a:off x="941800" y="2183300"/>
            <a:ext cx="14935829" cy="10036952"/>
            <a:chOff x="0" y="0"/>
            <a:chExt cx="19914439" cy="13382602"/>
          </a:xfrm>
        </p:grpSpPr>
        <p:sp>
          <p:nvSpPr>
            <p:cNvPr id="9" name="Freeform 9"/>
            <p:cNvSpPr/>
            <p:nvPr/>
          </p:nvSpPr>
          <p:spPr>
            <a:xfrm>
              <a:off x="0" y="0"/>
              <a:ext cx="19914439" cy="13382602"/>
            </a:xfrm>
            <a:custGeom>
              <a:avLst/>
              <a:gdLst/>
              <a:ahLst/>
              <a:cxnLst/>
              <a:rect l="l" t="t" r="r" b="b"/>
              <a:pathLst>
                <a:path w="19914439" h="13382602">
                  <a:moveTo>
                    <a:pt x="0" y="0"/>
                  </a:moveTo>
                  <a:lnTo>
                    <a:pt x="19914439" y="0"/>
                  </a:lnTo>
                  <a:lnTo>
                    <a:pt x="19914439" y="13382602"/>
                  </a:lnTo>
                  <a:lnTo>
                    <a:pt x="0" y="13382602"/>
                  </a:lnTo>
                  <a:close/>
                </a:path>
              </a:pathLst>
            </a:custGeom>
            <a:solidFill>
              <a:srgbClr val="2B211A">
                <a:alpha val="0"/>
              </a:srgbClr>
            </a:solidFill>
          </p:spPr>
          <p:txBody>
            <a:bodyPr/>
            <a:lstStyle/>
            <a:p>
              <a:endParaRPr/>
            </a:p>
          </p:txBody>
        </p:sp>
        <p:sp>
          <p:nvSpPr>
            <p:cNvPr id="10" name="TextBox 10"/>
            <p:cNvSpPr txBox="1"/>
            <p:nvPr/>
          </p:nvSpPr>
          <p:spPr>
            <a:xfrm>
              <a:off x="0" y="-171450"/>
              <a:ext cx="19914439" cy="13554052"/>
            </a:xfrm>
            <a:prstGeom prst="rect">
              <a:avLst/>
            </a:prstGeom>
          </p:spPr>
          <p:txBody>
            <a:bodyPr lIns="0" tIns="0" rIns="0" bIns="0" rtlCol="0" anchor="t"/>
            <a:lstStyle/>
            <a:p>
              <a:pPr algn="just">
                <a:lnSpc>
                  <a:spcPts val="4553"/>
                </a:lnSpc>
              </a:pPr>
              <a:r>
                <a:rPr lang="en-US" sz="1800" dirty="0">
                  <a:solidFill>
                    <a:srgbClr val="2B211A"/>
                  </a:solidFill>
                  <a:latin typeface="Times New Roman"/>
                  <a:ea typeface="Times New Roman"/>
                  <a:cs typeface="Times New Roman"/>
                  <a:sym typeface="Times New Roman"/>
                </a:rPr>
                <a:t>      Temples and pilgrimage centres in India receive thousands of devotees every day, and the number multiplies during festivals and auspicious days. Entry is usually regulated manually with physical queue lines and barricades, so devotees have no way of knowing how long they must wait or which gate is less crowded. This results in waiting times of several hours, congestion at entry points, discomfort for elderly devotees and children, and in extreme cases serious safety risks such as stampedes. Temple administrators also lack a live picture of how many devotees are present in each zone, which makes it difficult to open extra counters or redirect the flow before congestion builds. This project addresses these problems by developing a slot-based virtual queue system with QR-verified entry, real-time queue status and predictive crowd analytics, so that devotees wait comfortably instead of standing in long physical lines.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122358485"/>
              </p:ext>
            </p:extLst>
          </p:nvPr>
        </p:nvGraphicFramePr>
        <p:xfrm>
          <a:off x="1295400" y="1257300"/>
          <a:ext cx="16167099" cy="7315962"/>
        </p:xfrm>
        <a:graphic>
          <a:graphicData uri="http://schemas.openxmlformats.org/drawingml/2006/table">
            <a:tbl>
              <a:tblPr/>
              <a:tblGrid>
                <a:gridCol w="2021083">
                  <a:extLst>
                    <a:ext uri="{9D8B030D-6E8A-4147-A177-3AD203B41FA5}">
                      <a16:colId xmlns:a16="http://schemas.microsoft.com/office/drawing/2014/main" val="20000"/>
                    </a:ext>
                  </a:extLst>
                </a:gridCol>
                <a:gridCol w="2665280">
                  <a:extLst>
                    <a:ext uri="{9D8B030D-6E8A-4147-A177-3AD203B41FA5}">
                      <a16:colId xmlns:a16="http://schemas.microsoft.com/office/drawing/2014/main" val="20001"/>
                    </a:ext>
                  </a:extLst>
                </a:gridCol>
                <a:gridCol w="3582989">
                  <a:extLst>
                    <a:ext uri="{9D8B030D-6E8A-4147-A177-3AD203B41FA5}">
                      <a16:colId xmlns:a16="http://schemas.microsoft.com/office/drawing/2014/main" val="20002"/>
                    </a:ext>
                  </a:extLst>
                </a:gridCol>
                <a:gridCol w="3916195">
                  <a:extLst>
                    <a:ext uri="{9D8B030D-6E8A-4147-A177-3AD203B41FA5}">
                      <a16:colId xmlns:a16="http://schemas.microsoft.com/office/drawing/2014/main" val="20003"/>
                    </a:ext>
                  </a:extLst>
                </a:gridCol>
                <a:gridCol w="3981552">
                  <a:extLst>
                    <a:ext uri="{9D8B030D-6E8A-4147-A177-3AD203B41FA5}">
                      <a16:colId xmlns:a16="http://schemas.microsoft.com/office/drawing/2014/main" val="20004"/>
                    </a:ext>
                  </a:extLst>
                </a:gridCol>
              </a:tblGrid>
              <a:tr h="1005840">
                <a:tc>
                  <a:txBody>
                    <a:bodyPr/>
                    <a:lstStyle/>
                    <a:p>
                      <a:pPr algn="l">
                        <a:lnSpc>
                          <a:spcPts val="2800"/>
                        </a:lnSpc>
                      </a:pPr>
                      <a:r>
                        <a:rPr lang="en-US" sz="1800" b="1" dirty="0">
                          <a:solidFill>
                            <a:srgbClr val="2B211A"/>
                          </a:solidFill>
                          <a:latin typeface="Times New Roman"/>
                          <a:ea typeface="Times New Roman"/>
                          <a:cs typeface="Times New Roman"/>
                          <a:sym typeface="Times New Roman"/>
                        </a:rPr>
                        <a:t>  AUTHOR</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dirty="0">
                          <a:solidFill>
                            <a:srgbClr val="2B211A"/>
                          </a:solidFill>
                          <a:latin typeface="Times New Roman"/>
                          <a:ea typeface="Times New Roman"/>
                          <a:cs typeface="Times New Roman"/>
                          <a:sym typeface="Times New Roman"/>
                        </a:rPr>
                        <a:t>  YEAR OF PUBLICATION</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dirty="0">
                          <a:solidFill>
                            <a:srgbClr val="2B211A"/>
                          </a:solidFill>
                          <a:latin typeface="Times New Roman"/>
                          <a:ea typeface="Times New Roman"/>
                          <a:cs typeface="Times New Roman"/>
                          <a:sym typeface="Times New Roman"/>
                        </a:rPr>
                        <a:t>  DESCRIPTION</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dirty="0">
                          <a:solidFill>
                            <a:srgbClr val="2B211A"/>
                          </a:solidFill>
                          <a:latin typeface="Times New Roman"/>
                          <a:ea typeface="Times New Roman"/>
                          <a:cs typeface="Times New Roman"/>
                          <a:sym typeface="Times New Roman"/>
                        </a:rPr>
                        <a:t>  PROS</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1">
                          <a:solidFill>
                            <a:srgbClr val="2B211A"/>
                          </a:solidFill>
                          <a:latin typeface="Times New Roman"/>
                          <a:ea typeface="Times New Roman"/>
                          <a:cs typeface="Times New Roman"/>
                          <a:sym typeface="Times New Roman"/>
                        </a:rPr>
                        <a:t>  CONS</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0"/>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Bhuiyan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dirty="0">
                          <a:solidFill>
                            <a:srgbClr val="2B211A"/>
                          </a:solidFill>
                          <a:latin typeface="Times New Roman"/>
                          <a:ea typeface="Times New Roman"/>
                          <a:cs typeface="Times New Roman"/>
                          <a:sym typeface="Times New Roman"/>
                        </a:rPr>
                        <a:t>2022</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Applied a CNN-based crowd counting model to Hajj pilgrimage video footage to estimate density in very dense gatherings.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Measures crowd density automatically, without any manual head counting.</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Needs dense camera coverage and GPU hardware; reports density, not individual waiting time.</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1"/>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Kawade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a:solidFill>
                            <a:srgbClr val="2B211A"/>
                          </a:solidFill>
                          <a:latin typeface="Times New Roman"/>
                          <a:ea typeface="Times New Roman"/>
                          <a:cs typeface="Times New Roman"/>
                          <a:sym typeface="Times New Roman"/>
                        </a:rPr>
                        <a:t>2025</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Proposed an IoT-based temple crowd management system using IR, ultrasonic and air-quality sensors with servo-controlled gates.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Monitors devotee flow and congestion at each gate in real time.</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Requires sensor hardware at every gate; gives devotees no queue position or advance slot booking.</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2"/>
                  </a:ext>
                </a:extLst>
              </a:tr>
              <a:tr h="2011680">
                <a:tc>
                  <a:txBody>
                    <a:bodyPr/>
                    <a:lstStyle/>
                    <a:p>
                      <a:pPr algn="l">
                        <a:lnSpc>
                          <a:spcPts val="2800"/>
                        </a:lnSpc>
                      </a:pPr>
                      <a:r>
                        <a:rPr lang="en-US" sz="1800" b="0">
                          <a:solidFill>
                            <a:srgbClr val="2B211A"/>
                          </a:solidFill>
                          <a:latin typeface="Times New Roman"/>
                          <a:ea typeface="Times New Roman"/>
                          <a:cs typeface="Times New Roman"/>
                          <a:sym typeface="Times New Roman"/>
                        </a:rPr>
                        <a:t>Dinesh Reddy et al.</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pPr>
                      <a:r>
                        <a:rPr lang="en-US" sz="1800" b="0">
                          <a:solidFill>
                            <a:srgbClr val="2B211A"/>
                          </a:solidFill>
                          <a:latin typeface="Times New Roman"/>
                          <a:ea typeface="Times New Roman"/>
                          <a:cs typeface="Times New Roman"/>
                          <a:sym typeface="Times New Roman"/>
                        </a:rPr>
                        <a:t>2026</a:t>
                      </a:r>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a:solidFill>
                            <a:srgbClr val="2B211A"/>
                          </a:solidFill>
                          <a:latin typeface="Times New Roman"/>
                          <a:ea typeface="Times New Roman"/>
                          <a:cs typeface="Times New Roman"/>
                          <a:sym typeface="Times New Roman"/>
                        </a:rPr>
                        <a:t>Developed a smart slot-based darshan management system with QR-verified time slots and predictive analytics for administrators.</a:t>
                      </a:r>
                      <a:endParaRPr lang="en-US" sz="180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dirty="0">
                          <a:solidFill>
                            <a:srgbClr val="2B211A"/>
                          </a:solidFill>
                          <a:latin typeface="Times New Roman"/>
                          <a:ea typeface="Times New Roman"/>
                          <a:cs typeface="Times New Roman"/>
                          <a:sym typeface="Times New Roman"/>
                        </a:rPr>
                        <a:t>Spreads arrivals across booked slots and reduces physical queueing.</a:t>
                      </a:r>
                      <a:endParaRPr lang="en-US" sz="1800" dirty="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tc>
                  <a:txBody>
                    <a:bodyPr/>
                    <a:lstStyle/>
                    <a:p>
                      <a:pPr algn="l">
                        <a:lnSpc>
                          <a:spcPts val="2800"/>
                        </a:lnSpc>
                        <a:defRPr/>
                      </a:pPr>
                      <a:r>
                        <a:rPr lang="en-US" sz="1800" b="0" dirty="0">
                          <a:solidFill>
                            <a:srgbClr val="2B211A"/>
                          </a:solidFill>
                          <a:latin typeface="Times New Roman"/>
                          <a:ea typeface="Times New Roman"/>
                          <a:cs typeface="Times New Roman"/>
                          <a:sym typeface="Times New Roman"/>
                        </a:rPr>
                        <a:t>Depends on smartphone access; no live gate-level counting to update waiting time continuously.</a:t>
                      </a:r>
                      <a:endParaRPr lang="en-US" sz="1800" dirty="0"/>
                    </a:p>
                    <a:p>
                      <a:pPr algn="l">
                        <a:lnSpc>
                          <a:spcPts val="2800"/>
                        </a:lnSpc>
                      </a:pPr>
                      <a:endParaRPr lang="en-US" sz="1800" dirty="0"/>
                    </a:p>
                  </a:txBody>
                  <a:tcPr marL="190500" marR="190500" marT="190500" marB="190500" anchor="ctr">
                    <a:lnL w="28575" cap="flat" cmpd="sng" algn="ctr">
                      <a:solidFill>
                        <a:srgbClr val="2B211A"/>
                      </a:solidFill>
                      <a:prstDash val="solid"/>
                      <a:round/>
                      <a:headEnd type="none" w="med" len="med"/>
                      <a:tailEnd type="none" w="med" len="med"/>
                    </a:lnL>
                    <a:lnR w="28575" cap="flat" cmpd="sng" algn="ctr">
                      <a:solidFill>
                        <a:srgbClr val="2B211A"/>
                      </a:solidFill>
                      <a:prstDash val="solid"/>
                      <a:round/>
                      <a:headEnd type="none" w="med" len="med"/>
                      <a:tailEnd type="none" w="med" len="med"/>
                    </a:lnR>
                    <a:lnT w="28575" cap="flat" cmpd="sng" algn="ctr">
                      <a:solidFill>
                        <a:srgbClr val="2B211A"/>
                      </a:solidFill>
                      <a:prstDash val="solid"/>
                      <a:round/>
                      <a:headEnd type="none" w="med" len="med"/>
                      <a:tailEnd type="none" w="med" len="med"/>
                    </a:lnT>
                    <a:lnB w="28575" cap="flat" cmpd="sng" algn="ctr">
                      <a:solidFill>
                        <a:srgbClr val="2B211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672126" y="212031"/>
            <a:ext cx="7557474" cy="511869"/>
            <a:chOff x="0" y="0"/>
            <a:chExt cx="10375816" cy="1300842"/>
          </a:xfrm>
        </p:grpSpPr>
        <p:sp>
          <p:nvSpPr>
            <p:cNvPr id="4" name="Freeform 4"/>
            <p:cNvSpPr/>
            <p:nvPr/>
          </p:nvSpPr>
          <p:spPr>
            <a:xfrm>
              <a:off x="0" y="0"/>
              <a:ext cx="10375816" cy="1300842"/>
            </a:xfrm>
            <a:custGeom>
              <a:avLst/>
              <a:gdLst/>
              <a:ahLst/>
              <a:cxnLst/>
              <a:rect l="l" t="t" r="r" b="b"/>
              <a:pathLst>
                <a:path w="10375816" h="1300842">
                  <a:moveTo>
                    <a:pt x="0" y="0"/>
                  </a:moveTo>
                  <a:lnTo>
                    <a:pt x="10375816" y="0"/>
                  </a:lnTo>
                  <a:lnTo>
                    <a:pt x="10375816" y="1300842"/>
                  </a:lnTo>
                  <a:lnTo>
                    <a:pt x="0" y="1300842"/>
                  </a:lnTo>
                  <a:close/>
                </a:path>
              </a:pathLst>
            </a:custGeom>
            <a:solidFill>
              <a:srgbClr val="2B211A">
                <a:alpha val="0"/>
              </a:srgbClr>
            </a:solidFill>
          </p:spPr>
          <p:txBody>
            <a:bodyPr/>
            <a:lstStyle/>
            <a:p>
              <a:endParaRPr/>
            </a:p>
          </p:txBody>
        </p:sp>
        <p:sp>
          <p:nvSpPr>
            <p:cNvPr id="5" name="TextBox 5"/>
            <p:cNvSpPr txBox="1"/>
            <p:nvPr/>
          </p:nvSpPr>
          <p:spPr>
            <a:xfrm>
              <a:off x="0" y="-19050"/>
              <a:ext cx="10375816" cy="1319892"/>
            </a:xfrm>
            <a:prstGeom prst="rect">
              <a:avLst/>
            </a:prstGeom>
          </p:spPr>
          <p:txBody>
            <a:bodyPr lIns="0" tIns="0" rIns="0" bIns="0" rtlCol="0" anchor="t"/>
            <a:lstStyle/>
            <a:p>
              <a:pPr algn="l">
                <a:lnSpc>
                  <a:spcPts val="4369"/>
                </a:lnSpc>
              </a:pPr>
              <a:r>
                <a:rPr lang="en-US" sz="2800" b="1">
                  <a:solidFill>
                    <a:srgbClr val="7C2D12"/>
                  </a:solidFill>
                  <a:latin typeface="Times New Roman"/>
                  <a:ea typeface="Times New Roman"/>
                  <a:cs typeface="Times New Roman"/>
                  <a:sym typeface="Times New Roman"/>
                </a:rPr>
                <a:t>LITERATURE SURVEY :</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09623" y="-14853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404494"/>
            <a:ext cx="7781862" cy="1047170"/>
            <a:chOff x="0" y="0"/>
            <a:chExt cx="10375816" cy="1396226"/>
          </a:xfrm>
        </p:grpSpPr>
        <p:sp>
          <p:nvSpPr>
            <p:cNvPr id="4" name="Freeform 4"/>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5" name="TextBox 5"/>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EXISTING SYSTEM :</a:t>
              </a:r>
            </a:p>
          </p:txBody>
        </p:sp>
      </p:grpSp>
      <p:grpSp>
        <p:nvGrpSpPr>
          <p:cNvPr id="6" name="Group 6"/>
          <p:cNvGrpSpPr/>
          <p:nvPr/>
        </p:nvGrpSpPr>
        <p:grpSpPr>
          <a:xfrm>
            <a:off x="731631" y="1671852"/>
            <a:ext cx="4950523" cy="38100"/>
            <a:chOff x="0" y="0"/>
            <a:chExt cx="6600697" cy="50800"/>
          </a:xfrm>
        </p:grpSpPr>
        <p:sp>
          <p:nvSpPr>
            <p:cNvPr id="7" name="Freeform 7"/>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8917A"/>
            </a:solidFill>
          </p:spPr>
          <p:txBody>
            <a:bodyPr/>
            <a:lstStyle/>
            <a:p>
              <a:endParaRPr/>
            </a:p>
          </p:txBody>
        </p:sp>
      </p:grpSp>
      <p:grpSp>
        <p:nvGrpSpPr>
          <p:cNvPr id="8" name="Group 8"/>
          <p:cNvGrpSpPr/>
          <p:nvPr/>
        </p:nvGrpSpPr>
        <p:grpSpPr>
          <a:xfrm>
            <a:off x="951277" y="2229631"/>
            <a:ext cx="14058346" cy="8201789"/>
            <a:chOff x="0" y="0"/>
            <a:chExt cx="18744461" cy="10935719"/>
          </a:xfrm>
        </p:grpSpPr>
        <p:sp>
          <p:nvSpPr>
            <p:cNvPr id="9" name="Freeform 9"/>
            <p:cNvSpPr/>
            <p:nvPr/>
          </p:nvSpPr>
          <p:spPr>
            <a:xfrm>
              <a:off x="0" y="0"/>
              <a:ext cx="18744462" cy="10935719"/>
            </a:xfrm>
            <a:custGeom>
              <a:avLst/>
              <a:gdLst/>
              <a:ahLst/>
              <a:cxnLst/>
              <a:rect l="l" t="t" r="r" b="b"/>
              <a:pathLst>
                <a:path w="18744462" h="10935719">
                  <a:moveTo>
                    <a:pt x="0" y="0"/>
                  </a:moveTo>
                  <a:lnTo>
                    <a:pt x="18744462" y="0"/>
                  </a:lnTo>
                  <a:lnTo>
                    <a:pt x="18744462" y="10935719"/>
                  </a:lnTo>
                  <a:lnTo>
                    <a:pt x="0" y="10935719"/>
                  </a:lnTo>
                  <a:close/>
                </a:path>
              </a:pathLst>
            </a:custGeom>
            <a:solidFill>
              <a:srgbClr val="2B211A">
                <a:alpha val="0"/>
              </a:srgbClr>
            </a:solidFill>
          </p:spPr>
          <p:txBody>
            <a:bodyPr/>
            <a:lstStyle/>
            <a:p>
              <a:endParaRPr/>
            </a:p>
          </p:txBody>
        </p:sp>
        <p:sp>
          <p:nvSpPr>
            <p:cNvPr id="10" name="TextBox 10"/>
            <p:cNvSpPr txBox="1"/>
            <p:nvPr/>
          </p:nvSpPr>
          <p:spPr>
            <a:xfrm>
              <a:off x="0" y="-171450"/>
              <a:ext cx="18744461" cy="11107169"/>
            </a:xfrm>
            <a:prstGeom prst="rect">
              <a:avLst/>
            </a:prstGeom>
          </p:spPr>
          <p:txBody>
            <a:bodyPr lIns="0" tIns="0" rIns="0" bIns="0" rtlCol="0" anchor="t"/>
            <a:lstStyle/>
            <a:p>
              <a:pPr algn="just">
                <a:lnSpc>
                  <a:spcPts val="4552"/>
                </a:lnSpc>
              </a:pPr>
              <a:r>
                <a:rPr lang="en-US" sz="1800" dirty="0">
                  <a:solidFill>
                    <a:srgbClr val="2B211A"/>
                  </a:solidFill>
                  <a:latin typeface="Times New Roman"/>
                  <a:ea typeface="Times New Roman"/>
                  <a:cs typeface="Times New Roman"/>
                  <a:sym typeface="Times New Roman"/>
                </a:rPr>
                <a:t>               Crowd handling at most temples today is manual. Devotees stand in physical queue lines regulated by staff and barricades, and entry is controlled by opening or closing gates as the crowd builds up. Some large temples issue paper tokens at a counter, and a few offer online portals that only confirm a darshan date and time.</a:t>
              </a:r>
            </a:p>
            <a:p>
              <a:pPr algn="just">
                <a:lnSpc>
                  <a:spcPts val="4552"/>
                </a:lnSpc>
              </a:pPr>
              <a:r>
                <a:rPr lang="en-US" sz="1800" dirty="0">
                  <a:solidFill>
                    <a:srgbClr val="2B211A"/>
                  </a:solidFill>
                  <a:latin typeface="Times New Roman"/>
                  <a:ea typeface="Times New Roman"/>
                  <a:cs typeface="Times New Roman"/>
                  <a:sym typeface="Times New Roman"/>
                </a:rPr>
                <a:t>   The commonly used approaches are: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Manual queue and barricade management – Staff physically regulate devotee flow, but decisions are reactive and depend on individual judgement.</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Counter-issued paper tokens – Devotees collect a token at the temple itself, which still requires them to travel early and wait on site.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Online slot booking portals – Allow advance booking of a date and time, but give no live queue position or updated waiting time.</a:t>
              </a:r>
            </a:p>
            <a:p>
              <a:pPr marL="525431" lvl="2" indent="-175144" algn="just">
                <a:lnSpc>
                  <a:spcPts val="4552"/>
                </a:lnSpc>
                <a:buFont typeface="Arial"/>
                <a:buChar char="⚬"/>
              </a:pPr>
              <a:r>
                <a:rPr lang="en-US" sz="1800" dirty="0">
                  <a:solidFill>
                    <a:srgbClr val="2B211A"/>
                  </a:solidFill>
                  <a:latin typeface="Times New Roman"/>
                  <a:ea typeface="Times New Roman"/>
                  <a:cs typeface="Times New Roman"/>
                  <a:sym typeface="Times New Roman"/>
                </a:rPr>
                <a:t>CCTV-based visual monitoring – Staff watch camera feeds to judge congestion manually, without any automatic counting or alerting.</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559797"/>
            <a:ext cx="7781862" cy="1047170"/>
            <a:chOff x="0" y="0"/>
            <a:chExt cx="10375816" cy="1396226"/>
          </a:xfrm>
        </p:grpSpPr>
        <p:sp>
          <p:nvSpPr>
            <p:cNvPr id="3" name="Freeform 3"/>
            <p:cNvSpPr/>
            <p:nvPr/>
          </p:nvSpPr>
          <p:spPr>
            <a:xfrm>
              <a:off x="0" y="0"/>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DISADVANTAGES :</a:t>
              </a:r>
            </a:p>
          </p:txBody>
        </p:sp>
      </p:grpSp>
      <p:grpSp>
        <p:nvGrpSpPr>
          <p:cNvPr id="5" name="Group 5"/>
          <p:cNvGrpSpPr/>
          <p:nvPr/>
        </p:nvGrpSpPr>
        <p:grpSpPr>
          <a:xfrm>
            <a:off x="731631" y="1934387"/>
            <a:ext cx="4950523" cy="38100"/>
            <a:chOff x="0" y="0"/>
            <a:chExt cx="6600697" cy="50800"/>
          </a:xfrm>
        </p:grpSpPr>
        <p:sp>
          <p:nvSpPr>
            <p:cNvPr id="6" name="Freeform 6"/>
            <p:cNvSpPr/>
            <p:nvPr/>
          </p:nvSpPr>
          <p:spPr>
            <a:xfrm>
              <a:off x="0" y="0"/>
              <a:ext cx="6600698" cy="50800"/>
            </a:xfrm>
            <a:custGeom>
              <a:avLst/>
              <a:gdLst/>
              <a:ahLst/>
              <a:cxnLst/>
              <a:rect l="l" t="t" r="r" b="b"/>
              <a:pathLst>
                <a:path w="6600698" h="50800">
                  <a:moveTo>
                    <a:pt x="0" y="0"/>
                  </a:moveTo>
                  <a:lnTo>
                    <a:pt x="6600698" y="0"/>
                  </a:lnTo>
                  <a:lnTo>
                    <a:pt x="6600698" y="50800"/>
                  </a:lnTo>
                  <a:lnTo>
                    <a:pt x="0" y="50800"/>
                  </a:lnTo>
                  <a:close/>
                </a:path>
              </a:pathLst>
            </a:custGeom>
            <a:solidFill>
              <a:srgbClr val="A8917A"/>
            </a:solidFill>
          </p:spPr>
          <p:txBody>
            <a:bodyPr/>
            <a:lstStyle/>
            <a:p>
              <a:endParaRPr/>
            </a:p>
          </p:txBody>
        </p:sp>
      </p:grpSp>
      <p:grpSp>
        <p:nvGrpSpPr>
          <p:cNvPr id="7" name="Group 7"/>
          <p:cNvGrpSpPr/>
          <p:nvPr/>
        </p:nvGrpSpPr>
        <p:grpSpPr>
          <a:xfrm>
            <a:off x="731631" y="2526685"/>
            <a:ext cx="14302398" cy="5800725"/>
            <a:chOff x="0" y="0"/>
            <a:chExt cx="19069864" cy="7734300"/>
          </a:xfrm>
        </p:grpSpPr>
        <p:sp>
          <p:nvSpPr>
            <p:cNvPr id="8" name="Freeform 8"/>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9" name="TextBox 9"/>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No Real-Time Queue Information – Devotees cannot see their queue position or expected waiting time, so they wait without any idea of how long it will take.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Unplanned Crowd Distribution – Arrivals are not spread across the day, causing heavy congestion at peak hours while other hours remain under-used.</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Reactive Manual Control – Gate and counter decisions are taken by staff only after congestion has already built up, not before it occurs.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Poor Accessibility and Safety – Elderly devotees, children and differently-abled visitors are forced to stand in long physical lines, increasing health and stampede risks.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No Data for Planning – Footfall is not recorded digitally, so administrators have no reliable basis to forecast peak days or plan staff and counters.</a:t>
              </a:r>
            </a:p>
          </p:txBody>
        </p:sp>
      </p:grpSp>
      <p:sp>
        <p:nvSpPr>
          <p:cNvPr id="10" name="Freeform 10"/>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476539"/>
            <a:ext cx="7781862" cy="1430419"/>
            <a:chOff x="0" y="-19050"/>
            <a:chExt cx="10375816" cy="1907224"/>
          </a:xfrm>
        </p:grpSpPr>
        <p:sp>
          <p:nvSpPr>
            <p:cNvPr id="3" name="Freeform 3"/>
            <p:cNvSpPr/>
            <p:nvPr/>
          </p:nvSpPr>
          <p:spPr>
            <a:xfrm>
              <a:off x="0" y="491948"/>
              <a:ext cx="10375816" cy="1396226"/>
            </a:xfrm>
            <a:custGeom>
              <a:avLst/>
              <a:gdLst/>
              <a:ahLst/>
              <a:cxnLst/>
              <a:rect l="l" t="t" r="r" b="b"/>
              <a:pathLst>
                <a:path w="10375816" h="1396226">
                  <a:moveTo>
                    <a:pt x="0" y="0"/>
                  </a:moveTo>
                  <a:lnTo>
                    <a:pt x="10375816" y="0"/>
                  </a:lnTo>
                  <a:lnTo>
                    <a:pt x="10375816" y="1396226"/>
                  </a:lnTo>
                  <a:lnTo>
                    <a:pt x="0" y="1396226"/>
                  </a:lnTo>
                  <a:close/>
                </a:path>
              </a:pathLst>
            </a:custGeom>
            <a:solidFill>
              <a:srgbClr val="2B211A">
                <a:alpha val="0"/>
              </a:srgbClr>
            </a:solidFill>
          </p:spPr>
          <p:txBody>
            <a:bodyPr/>
            <a:lstStyle/>
            <a:p>
              <a:endParaRPr/>
            </a:p>
          </p:txBody>
        </p:sp>
        <p:sp>
          <p:nvSpPr>
            <p:cNvPr id="4" name="TextBox 4"/>
            <p:cNvSpPr txBox="1"/>
            <p:nvPr/>
          </p:nvSpPr>
          <p:spPr>
            <a:xfrm>
              <a:off x="0" y="-19050"/>
              <a:ext cx="10375816" cy="1415276"/>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PROPOSED SYSTEM :</a:t>
              </a:r>
            </a:p>
          </p:txBody>
        </p:sp>
      </p:grpSp>
      <p:grpSp>
        <p:nvGrpSpPr>
          <p:cNvPr id="5" name="Group 5"/>
          <p:cNvGrpSpPr/>
          <p:nvPr/>
        </p:nvGrpSpPr>
        <p:grpSpPr>
          <a:xfrm>
            <a:off x="750681" y="1701461"/>
            <a:ext cx="5511832" cy="38100"/>
            <a:chOff x="0" y="0"/>
            <a:chExt cx="7349109" cy="50800"/>
          </a:xfrm>
        </p:grpSpPr>
        <p:sp>
          <p:nvSpPr>
            <p:cNvPr id="6" name="Freeform 6"/>
            <p:cNvSpPr/>
            <p:nvPr/>
          </p:nvSpPr>
          <p:spPr>
            <a:xfrm>
              <a:off x="0" y="0"/>
              <a:ext cx="7349109" cy="50800"/>
            </a:xfrm>
            <a:custGeom>
              <a:avLst/>
              <a:gdLst/>
              <a:ahLst/>
              <a:cxnLst/>
              <a:rect l="l" t="t" r="r" b="b"/>
              <a:pathLst>
                <a:path w="7349109" h="50800">
                  <a:moveTo>
                    <a:pt x="0" y="0"/>
                  </a:moveTo>
                  <a:lnTo>
                    <a:pt x="7349109" y="0"/>
                  </a:lnTo>
                  <a:lnTo>
                    <a:pt x="7349109" y="50800"/>
                  </a:lnTo>
                  <a:lnTo>
                    <a:pt x="0" y="50800"/>
                  </a:lnTo>
                  <a:close/>
                </a:path>
              </a:pathLst>
            </a:custGeom>
            <a:solidFill>
              <a:srgbClr val="A8917A"/>
            </a:solidFill>
          </p:spPr>
          <p:txBody>
            <a:bodyPr/>
            <a:lstStyle/>
            <a:p>
              <a:endParaRPr/>
            </a:p>
          </p:txBody>
        </p:sp>
      </p:grpSp>
      <p:sp>
        <p:nvSpPr>
          <p:cNvPr id="7" name="Freeform 7"/>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8" name="Group 8"/>
          <p:cNvGrpSpPr/>
          <p:nvPr/>
        </p:nvGrpSpPr>
        <p:grpSpPr>
          <a:xfrm>
            <a:off x="750681" y="2623423"/>
            <a:ext cx="14058346" cy="6791708"/>
            <a:chOff x="0" y="0"/>
            <a:chExt cx="18744461" cy="9055611"/>
          </a:xfrm>
        </p:grpSpPr>
        <p:sp>
          <p:nvSpPr>
            <p:cNvPr id="9" name="Freeform 9"/>
            <p:cNvSpPr/>
            <p:nvPr/>
          </p:nvSpPr>
          <p:spPr>
            <a:xfrm>
              <a:off x="0" y="0"/>
              <a:ext cx="18744462" cy="9055612"/>
            </a:xfrm>
            <a:custGeom>
              <a:avLst/>
              <a:gdLst/>
              <a:ahLst/>
              <a:cxnLst/>
              <a:rect l="l" t="t" r="r" b="b"/>
              <a:pathLst>
                <a:path w="18744462" h="9055612">
                  <a:moveTo>
                    <a:pt x="0" y="0"/>
                  </a:moveTo>
                  <a:lnTo>
                    <a:pt x="18744462" y="0"/>
                  </a:lnTo>
                  <a:lnTo>
                    <a:pt x="18744462" y="9055612"/>
                  </a:lnTo>
                  <a:lnTo>
                    <a:pt x="0" y="9055612"/>
                  </a:lnTo>
                  <a:close/>
                </a:path>
              </a:pathLst>
            </a:custGeom>
            <a:solidFill>
              <a:srgbClr val="2B211A">
                <a:alpha val="0"/>
              </a:srgbClr>
            </a:solidFill>
          </p:spPr>
          <p:txBody>
            <a:bodyPr/>
            <a:lstStyle/>
            <a:p>
              <a:endParaRPr/>
            </a:p>
          </p:txBody>
        </p:sp>
        <p:sp>
          <p:nvSpPr>
            <p:cNvPr id="10" name="TextBox 10"/>
            <p:cNvSpPr txBox="1"/>
            <p:nvPr/>
          </p:nvSpPr>
          <p:spPr>
            <a:xfrm>
              <a:off x="0" y="-171450"/>
              <a:ext cx="18744461" cy="9227061"/>
            </a:xfrm>
            <a:prstGeom prst="rect">
              <a:avLst/>
            </a:prstGeom>
          </p:spPr>
          <p:txBody>
            <a:bodyPr lIns="0" tIns="0" rIns="0" bIns="0" rtlCol="0" anchor="t"/>
            <a:lstStyle/>
            <a:p>
              <a:pPr marL="517945" lvl="1" indent="-258972" algn="just">
                <a:lnSpc>
                  <a:spcPts val="4750"/>
                </a:lnSpc>
                <a:buFont typeface="Arial"/>
                <a:buChar char="•"/>
              </a:pPr>
              <a:r>
                <a:rPr lang="en-US" sz="1800">
                  <a:solidFill>
                    <a:srgbClr val="2B211A"/>
                  </a:solidFill>
                  <a:latin typeface="Times New Roman"/>
                  <a:ea typeface="Times New Roman"/>
                  <a:cs typeface="Times New Roman"/>
                  <a:sym typeface="Times New Roman"/>
                </a:rPr>
                <a:t>The proposed system replaces physical waiting with a slot-based virtual queue. Devotees book a darshan slot through a web or mobile application, or at a kiosk, and receive a QR-coded digital token instead of standing in a line.</a:t>
              </a:r>
            </a:p>
            <a:p>
              <a:pPr marL="517945" lvl="1" indent="-258972" algn="just">
                <a:lnSpc>
                  <a:spcPts val="4750"/>
                </a:lnSpc>
                <a:buFont typeface="Arial"/>
                <a:buChar char="•"/>
              </a:pPr>
              <a:r>
                <a:rPr lang="en-US" sz="1800">
                  <a:solidFill>
                    <a:srgbClr val="2B211A"/>
                  </a:solidFill>
                  <a:latin typeface="Times New Roman"/>
                  <a:ea typeface="Times New Roman"/>
                  <a:cs typeface="Times New Roman"/>
                  <a:sym typeface="Times New Roman"/>
                </a:rPr>
                <a:t>At the entry gate the token is scanned, which automatically updates the live count of devotees admitted. The queue engine computes the estimated waiting time from the number of devotees ahead and the measured service rate, and pushes it to the devotee's app, to display boards and by SMS through real-time Socket.IO updates.</a:t>
              </a:r>
            </a:p>
            <a:p>
              <a:pPr marL="517944" lvl="1" indent="-258972" algn="just">
                <a:lnSpc>
                  <a:spcPts val="4751"/>
                </a:lnSpc>
                <a:buFont typeface="Arial"/>
                <a:buChar char="•"/>
              </a:pPr>
              <a:r>
                <a:rPr lang="en-US" sz="1800">
                  <a:solidFill>
                    <a:srgbClr val="2B211A"/>
                  </a:solidFill>
                  <a:latin typeface="Times New Roman"/>
                  <a:ea typeface="Times New Roman"/>
                  <a:cs typeface="Times New Roman"/>
                  <a:sym typeface="Times New Roman"/>
                </a:rPr>
                <a:t>A prediction module trained on historical footfall forecasts peak hours and recommends less crowded slots, while an administrator dashboard shows live lane-wise crowd status, raises alerts at 90% and 100% of the safe limit and lets staff pause entry before congestion builds.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Freeform 2"/>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grpSp>
        <p:nvGrpSpPr>
          <p:cNvPr id="3" name="Group 3"/>
          <p:cNvGrpSpPr/>
          <p:nvPr/>
        </p:nvGrpSpPr>
        <p:grpSpPr>
          <a:xfrm>
            <a:off x="731631" y="762744"/>
            <a:ext cx="7781862" cy="1004205"/>
            <a:chOff x="0" y="0"/>
            <a:chExt cx="10375816" cy="1338941"/>
          </a:xfrm>
        </p:grpSpPr>
        <p:sp>
          <p:nvSpPr>
            <p:cNvPr id="4" name="Freeform 4"/>
            <p:cNvSpPr/>
            <p:nvPr/>
          </p:nvSpPr>
          <p:spPr>
            <a:xfrm>
              <a:off x="0" y="0"/>
              <a:ext cx="10375816" cy="1338941"/>
            </a:xfrm>
            <a:custGeom>
              <a:avLst/>
              <a:gdLst/>
              <a:ahLst/>
              <a:cxnLst/>
              <a:rect l="l" t="t" r="r" b="b"/>
              <a:pathLst>
                <a:path w="10375816" h="1338941">
                  <a:moveTo>
                    <a:pt x="0" y="0"/>
                  </a:moveTo>
                  <a:lnTo>
                    <a:pt x="10375816" y="0"/>
                  </a:lnTo>
                  <a:lnTo>
                    <a:pt x="10375816" y="1338941"/>
                  </a:lnTo>
                  <a:lnTo>
                    <a:pt x="0" y="1338941"/>
                  </a:lnTo>
                  <a:close/>
                </a:path>
              </a:pathLst>
            </a:custGeom>
            <a:solidFill>
              <a:srgbClr val="2B211A">
                <a:alpha val="0"/>
              </a:srgbClr>
            </a:solidFill>
          </p:spPr>
          <p:txBody>
            <a:bodyPr/>
            <a:lstStyle/>
            <a:p>
              <a:endParaRPr/>
            </a:p>
          </p:txBody>
        </p:sp>
        <p:sp>
          <p:nvSpPr>
            <p:cNvPr id="5" name="TextBox 5"/>
            <p:cNvSpPr txBox="1"/>
            <p:nvPr/>
          </p:nvSpPr>
          <p:spPr>
            <a:xfrm>
              <a:off x="0" y="-19050"/>
              <a:ext cx="10375816" cy="1357991"/>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ADVANTAGES :</a:t>
              </a:r>
            </a:p>
          </p:txBody>
        </p:sp>
      </p:grpSp>
      <p:grpSp>
        <p:nvGrpSpPr>
          <p:cNvPr id="6" name="Group 6"/>
          <p:cNvGrpSpPr/>
          <p:nvPr/>
        </p:nvGrpSpPr>
        <p:grpSpPr>
          <a:xfrm>
            <a:off x="731631" y="1912729"/>
            <a:ext cx="3991451" cy="57150"/>
            <a:chOff x="0" y="0"/>
            <a:chExt cx="5321935" cy="76200"/>
          </a:xfrm>
        </p:grpSpPr>
        <p:sp>
          <p:nvSpPr>
            <p:cNvPr id="7" name="Freeform 7"/>
            <p:cNvSpPr/>
            <p:nvPr/>
          </p:nvSpPr>
          <p:spPr>
            <a:xfrm>
              <a:off x="0" y="0"/>
              <a:ext cx="5321935" cy="76200"/>
            </a:xfrm>
            <a:custGeom>
              <a:avLst/>
              <a:gdLst/>
              <a:ahLst/>
              <a:cxnLst/>
              <a:rect l="l" t="t" r="r" b="b"/>
              <a:pathLst>
                <a:path w="5321935" h="76200">
                  <a:moveTo>
                    <a:pt x="0" y="25400"/>
                  </a:moveTo>
                  <a:lnTo>
                    <a:pt x="5321681" y="0"/>
                  </a:lnTo>
                  <a:lnTo>
                    <a:pt x="5321935" y="50800"/>
                  </a:lnTo>
                  <a:lnTo>
                    <a:pt x="254" y="76200"/>
                  </a:lnTo>
                  <a:close/>
                </a:path>
              </a:pathLst>
            </a:custGeom>
            <a:solidFill>
              <a:srgbClr val="A8917A"/>
            </a:solidFill>
          </p:spPr>
          <p:txBody>
            <a:bodyPr/>
            <a:lstStyle/>
            <a:p>
              <a:endParaRPr/>
            </a:p>
          </p:txBody>
        </p:sp>
      </p:grpSp>
      <p:grpSp>
        <p:nvGrpSpPr>
          <p:cNvPr id="8" name="Group 8"/>
          <p:cNvGrpSpPr/>
          <p:nvPr/>
        </p:nvGrpSpPr>
        <p:grpSpPr>
          <a:xfrm>
            <a:off x="731631" y="2526685"/>
            <a:ext cx="14302398" cy="5800725"/>
            <a:chOff x="0" y="0"/>
            <a:chExt cx="19069864" cy="7734300"/>
          </a:xfrm>
        </p:grpSpPr>
        <p:sp>
          <p:nvSpPr>
            <p:cNvPr id="9" name="Freeform 9"/>
            <p:cNvSpPr/>
            <p:nvPr/>
          </p:nvSpPr>
          <p:spPr>
            <a:xfrm>
              <a:off x="0" y="0"/>
              <a:ext cx="19069864" cy="7734300"/>
            </a:xfrm>
            <a:custGeom>
              <a:avLst/>
              <a:gdLst/>
              <a:ahLst/>
              <a:cxnLst/>
              <a:rect l="l" t="t" r="r" b="b"/>
              <a:pathLst>
                <a:path w="19069864" h="7734300">
                  <a:moveTo>
                    <a:pt x="0" y="0"/>
                  </a:moveTo>
                  <a:lnTo>
                    <a:pt x="19069864" y="0"/>
                  </a:lnTo>
                  <a:lnTo>
                    <a:pt x="19069864" y="7734300"/>
                  </a:lnTo>
                  <a:lnTo>
                    <a:pt x="0" y="7734300"/>
                  </a:lnTo>
                  <a:close/>
                </a:path>
              </a:pathLst>
            </a:custGeom>
            <a:solidFill>
              <a:srgbClr val="2B211A">
                <a:alpha val="0"/>
              </a:srgbClr>
            </a:solidFill>
          </p:spPr>
          <p:txBody>
            <a:bodyPr/>
            <a:lstStyle/>
            <a:p>
              <a:endParaRPr/>
            </a:p>
          </p:txBody>
        </p:sp>
        <p:sp>
          <p:nvSpPr>
            <p:cNvPr id="10" name="TextBox 10"/>
            <p:cNvSpPr txBox="1"/>
            <p:nvPr/>
          </p:nvSpPr>
          <p:spPr>
            <a:xfrm>
              <a:off x="0" y="-190500"/>
              <a:ext cx="19069864" cy="7924800"/>
            </a:xfrm>
            <a:prstGeom prst="rect">
              <a:avLst/>
            </a:prstGeom>
          </p:spPr>
          <p:txBody>
            <a:bodyPr lIns="0" tIns="0" rIns="0" bIns="0" rtlCol="0" anchor="t"/>
            <a:lstStyle/>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Reduced Waiting Time – Slot-based virtual tokens spread arrivals across the day and remove long physical queues at the entrance.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Real-Time Transparency – Devotees see their live queue position and estimated waiting time on the app, on display boards or by SMS.</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Proactive Crowd Control – The admin dashboard and peak-hour forecast let staff act before congestion builds instead of reacting after it.</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Inclusive Access – SMS and kiosk-based tokens cover devotees without smartphones, and elderly and differently-abled visitors avoid standing in line.</a:t>
              </a:r>
            </a:p>
            <a:p>
              <a:pPr marL="813321" lvl="4" indent="-162664" algn="just">
                <a:lnSpc>
                  <a:spcPts val="4948"/>
                </a:lnSpc>
                <a:buAutoNum type="arabicPeriod"/>
              </a:pPr>
              <a:r>
                <a:rPr lang="en-US" sz="1800" dirty="0">
                  <a:solidFill>
                    <a:srgbClr val="2B211A"/>
                  </a:solidFill>
                  <a:latin typeface="Times New Roman"/>
                  <a:ea typeface="Times New Roman"/>
                  <a:cs typeface="Times New Roman"/>
                  <a:sym typeface="Times New Roman"/>
                </a:rPr>
                <a:t>Data-Driven Planning – Digitally recorded footfall gives administrators reliable data to plan counters, staff and festival arrangements.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404494"/>
            <a:ext cx="13599364" cy="1176656"/>
            <a:chOff x="0" y="0"/>
            <a:chExt cx="18132485" cy="1568874"/>
          </a:xfrm>
        </p:grpSpPr>
        <p:sp>
          <p:nvSpPr>
            <p:cNvPr id="3" name="Freeform 3"/>
            <p:cNvSpPr/>
            <p:nvPr/>
          </p:nvSpPr>
          <p:spPr>
            <a:xfrm>
              <a:off x="0" y="0"/>
              <a:ext cx="18132485" cy="1568874"/>
            </a:xfrm>
            <a:custGeom>
              <a:avLst/>
              <a:gdLst/>
              <a:ahLst/>
              <a:cxnLst/>
              <a:rect l="l" t="t" r="r" b="b"/>
              <a:pathLst>
                <a:path w="18132485" h="1568874">
                  <a:moveTo>
                    <a:pt x="0" y="0"/>
                  </a:moveTo>
                  <a:lnTo>
                    <a:pt x="18132485" y="0"/>
                  </a:lnTo>
                  <a:lnTo>
                    <a:pt x="18132485" y="1568874"/>
                  </a:lnTo>
                  <a:lnTo>
                    <a:pt x="0" y="1568874"/>
                  </a:lnTo>
                  <a:close/>
                </a:path>
              </a:pathLst>
            </a:custGeom>
            <a:solidFill>
              <a:srgbClr val="2B211A">
                <a:alpha val="0"/>
              </a:srgbClr>
            </a:solidFill>
          </p:spPr>
          <p:txBody>
            <a:bodyPr/>
            <a:lstStyle/>
            <a:p>
              <a:endParaRPr/>
            </a:p>
          </p:txBody>
        </p:sp>
        <p:sp>
          <p:nvSpPr>
            <p:cNvPr id="4" name="TextBox 4"/>
            <p:cNvSpPr txBox="1"/>
            <p:nvPr/>
          </p:nvSpPr>
          <p:spPr>
            <a:xfrm>
              <a:off x="0" y="-19050"/>
              <a:ext cx="18132485"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SYSTEM  REQUIREMENTS  &amp;  SPECIFICATIONS</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51476"/>
            <a:ext cx="9607567" cy="811848"/>
            <a:chOff x="0" y="0"/>
            <a:chExt cx="12810089" cy="1082464"/>
          </a:xfrm>
        </p:grpSpPr>
        <p:sp>
          <p:nvSpPr>
            <p:cNvPr id="8" name="Freeform 8"/>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2B211A">
                <a:alpha val="0"/>
              </a:srgbClr>
            </a:solidFill>
          </p:spPr>
          <p:txBody>
            <a:bodyPr/>
            <a:lstStyle/>
            <a:p>
              <a:endParaRPr/>
            </a:p>
          </p:txBody>
        </p:sp>
        <p:sp>
          <p:nvSpPr>
            <p:cNvPr id="9" name="TextBox 9"/>
            <p:cNvSpPr txBox="1"/>
            <p:nvPr/>
          </p:nvSpPr>
          <p:spPr>
            <a:xfrm>
              <a:off x="0" y="-9525"/>
              <a:ext cx="12810089" cy="1091989"/>
            </a:xfrm>
            <a:prstGeom prst="rect">
              <a:avLst/>
            </a:prstGeom>
          </p:spPr>
          <p:txBody>
            <a:bodyPr lIns="0" tIns="0" rIns="0" bIns="0" rtlCol="0" anchor="t"/>
            <a:lstStyle/>
            <a:p>
              <a:pPr algn="l">
                <a:lnSpc>
                  <a:spcPts val="3909"/>
                </a:lnSpc>
              </a:pPr>
              <a:r>
                <a:rPr lang="en-US" sz="2000" b="1">
                  <a:solidFill>
                    <a:srgbClr val="7C2D12"/>
                  </a:solidFill>
                  <a:latin typeface="Times New Roman"/>
                  <a:ea typeface="Times New Roman"/>
                  <a:cs typeface="Times New Roman"/>
                  <a:sym typeface="Times New Roman"/>
                </a:rPr>
                <a:t>HARDWARE SPECIFICATIONS:</a:t>
              </a:r>
            </a:p>
            <a:p>
              <a:pPr algn="l">
                <a:lnSpc>
                  <a:spcPts val="2070"/>
                </a:lnSpc>
              </a:pPr>
              <a:endParaRPr lang="en-US" sz="2000" b="1">
                <a:solidFill>
                  <a:srgbClr val="7C2D12"/>
                </a:solidFill>
                <a:latin typeface="Times New Roman"/>
                <a:ea typeface="Times New Roman"/>
                <a:cs typeface="Times New Roman"/>
                <a:sym typeface="Arimo Bold"/>
              </a:endParaRPr>
            </a:p>
          </p:txBody>
        </p:sp>
      </p:grpSp>
      <p:grpSp>
        <p:nvGrpSpPr>
          <p:cNvPr id="10" name="Group 10"/>
          <p:cNvGrpSpPr/>
          <p:nvPr/>
        </p:nvGrpSpPr>
        <p:grpSpPr>
          <a:xfrm>
            <a:off x="1028700" y="2529999"/>
            <a:ext cx="14302398" cy="3495293"/>
            <a:chOff x="0" y="0"/>
            <a:chExt cx="19069864" cy="4660391"/>
          </a:xfrm>
        </p:grpSpPr>
        <p:sp>
          <p:nvSpPr>
            <p:cNvPr id="11" name="Freeform 11"/>
            <p:cNvSpPr/>
            <p:nvPr/>
          </p:nvSpPr>
          <p:spPr>
            <a:xfrm>
              <a:off x="0" y="0"/>
              <a:ext cx="19069864" cy="4660392"/>
            </a:xfrm>
            <a:custGeom>
              <a:avLst/>
              <a:gdLst/>
              <a:ahLst/>
              <a:cxnLst/>
              <a:rect l="l" t="t" r="r" b="b"/>
              <a:pathLst>
                <a:path w="19069864" h="4660392">
                  <a:moveTo>
                    <a:pt x="0" y="0"/>
                  </a:moveTo>
                  <a:lnTo>
                    <a:pt x="19069864" y="0"/>
                  </a:lnTo>
                  <a:lnTo>
                    <a:pt x="19069864" y="4660392"/>
                  </a:lnTo>
                  <a:lnTo>
                    <a:pt x="0" y="4660392"/>
                  </a:lnTo>
                  <a:close/>
                </a:path>
              </a:pathLst>
            </a:custGeom>
            <a:solidFill>
              <a:srgbClr val="2B211A">
                <a:alpha val="0"/>
              </a:srgbClr>
            </a:solidFill>
          </p:spPr>
          <p:txBody>
            <a:bodyPr/>
            <a:lstStyle/>
            <a:p>
              <a:endParaRPr/>
            </a:p>
          </p:txBody>
        </p:sp>
        <p:sp>
          <p:nvSpPr>
            <p:cNvPr id="12" name="TextBox 12"/>
            <p:cNvSpPr txBox="1"/>
            <p:nvPr/>
          </p:nvSpPr>
          <p:spPr>
            <a:xfrm>
              <a:off x="0" y="-209550"/>
              <a:ext cx="19069864" cy="4869941"/>
            </a:xfrm>
            <a:prstGeom prst="rect">
              <a:avLst/>
            </a:prstGeom>
          </p:spPr>
          <p:txBody>
            <a:bodyPr lIns="0" tIns="0" rIns="0" bIns="0" rtlCol="0" anchor="t"/>
            <a:lstStyle/>
            <a:p>
              <a:pPr algn="just">
                <a:lnSpc>
                  <a:spcPts val="5147"/>
                </a:lnSpc>
              </a:pPr>
              <a:r>
                <a:rPr lang="en-US" sz="1800" b="1" dirty="0">
                  <a:solidFill>
                    <a:srgbClr val="2B211A"/>
                  </a:solidFill>
                  <a:latin typeface="Times New Roman"/>
                  <a:ea typeface="Times New Roman"/>
                  <a:cs typeface="Times New Roman"/>
                  <a:sym typeface="Times New Roman"/>
                </a:rPr>
                <a:t>PROCESSOR       :  </a:t>
              </a:r>
              <a:r>
                <a:rPr lang="en-US" sz="1800" b="0" dirty="0">
                  <a:solidFill>
                    <a:srgbClr val="2B211A"/>
                  </a:solidFill>
                  <a:latin typeface="Times New Roman"/>
                  <a:ea typeface="Times New Roman"/>
                  <a:cs typeface="Times New Roman"/>
                  <a:sym typeface="Times New Roman"/>
                </a:rPr>
                <a:t>Intel Core i3 / 2.5 GHz or above</a:t>
              </a:r>
            </a:p>
            <a:p>
              <a:pPr algn="just">
                <a:lnSpc>
                  <a:spcPts val="5147"/>
                </a:lnSpc>
              </a:pPr>
              <a:r>
                <a:rPr lang="en-US" sz="1800" b="1" dirty="0">
                  <a:solidFill>
                    <a:srgbClr val="2B211A"/>
                  </a:solidFill>
                  <a:latin typeface="Times New Roman"/>
                  <a:ea typeface="Times New Roman"/>
                  <a:cs typeface="Times New Roman"/>
                  <a:sym typeface="Times New Roman"/>
                </a:rPr>
                <a:t>RAM                      :  </a:t>
              </a:r>
              <a:r>
                <a:rPr lang="en-US" sz="1800" b="0" dirty="0">
                  <a:solidFill>
                    <a:srgbClr val="2B211A"/>
                  </a:solidFill>
                  <a:latin typeface="Times New Roman"/>
                  <a:ea typeface="Times New Roman"/>
                  <a:cs typeface="Times New Roman"/>
                  <a:sym typeface="Times New Roman"/>
                </a:rPr>
                <a:t>4 GB (Minimum), 8 GB Recommended</a:t>
              </a:r>
            </a:p>
            <a:p>
              <a:pPr algn="just">
                <a:lnSpc>
                  <a:spcPts val="5147"/>
                </a:lnSpc>
              </a:pPr>
              <a:r>
                <a:rPr lang="en-US" sz="1800" b="1" dirty="0">
                  <a:solidFill>
                    <a:srgbClr val="2B211A"/>
                  </a:solidFill>
                  <a:latin typeface="Times New Roman"/>
                  <a:ea typeface="Times New Roman"/>
                  <a:cs typeface="Times New Roman"/>
                  <a:sym typeface="Times New Roman"/>
                </a:rPr>
                <a:t>HARD DISK         :  </a:t>
              </a:r>
              <a:r>
                <a:rPr lang="en-US" sz="1800" b="0" dirty="0">
                  <a:solidFill>
                    <a:srgbClr val="2B211A"/>
                  </a:solidFill>
                  <a:latin typeface="Times New Roman"/>
                  <a:ea typeface="Times New Roman"/>
                  <a:cs typeface="Times New Roman"/>
                  <a:sym typeface="Times New Roman"/>
                </a:rPr>
                <a:t>40 GB</a:t>
              </a:r>
            </a:p>
            <a:p>
              <a:pPr algn="just">
                <a:lnSpc>
                  <a:spcPts val="5147"/>
                </a:lnSpc>
              </a:pPr>
              <a:r>
                <a:rPr lang="en-US" sz="1800" b="1" dirty="0">
                  <a:solidFill>
                    <a:srgbClr val="2B211A"/>
                  </a:solidFill>
                  <a:latin typeface="Times New Roman"/>
                  <a:ea typeface="Times New Roman"/>
                  <a:cs typeface="Times New Roman"/>
                  <a:sym typeface="Times New Roman"/>
                </a:rPr>
                <a:t>INPUT DEVICE   :  </a:t>
              </a:r>
              <a:r>
                <a:rPr lang="en-US" sz="1800" b="0" dirty="0">
                  <a:solidFill>
                    <a:srgbClr val="2B211A"/>
                  </a:solidFill>
                  <a:latin typeface="Times New Roman"/>
                  <a:ea typeface="Times New Roman"/>
                  <a:cs typeface="Times New Roman"/>
                  <a:sym typeface="Times New Roman"/>
                </a:rPr>
                <a:t>Keyboard / Webcam or smartphone camera for QR scanning</a:t>
              </a:r>
            </a:p>
            <a:p>
              <a:pPr algn="just">
                <a:lnSpc>
                  <a:spcPts val="5147"/>
                </a:lnSpc>
              </a:pPr>
              <a:r>
                <a:rPr lang="en-US" sz="1800" b="1" dirty="0">
                  <a:solidFill>
                    <a:srgbClr val="2B211A"/>
                  </a:solidFill>
                  <a:latin typeface="Times New Roman"/>
                  <a:ea typeface="Times New Roman"/>
                  <a:cs typeface="Times New Roman"/>
                  <a:sym typeface="Times New Roman"/>
                </a:rPr>
                <a:t>MONITOR            :  </a:t>
              </a:r>
              <a:r>
                <a:rPr lang="en-US" sz="1800" b="0" dirty="0">
                  <a:solidFill>
                    <a:srgbClr val="2B211A"/>
                  </a:solidFill>
                  <a:latin typeface="Times New Roman"/>
                  <a:ea typeface="Times New Roman"/>
                  <a:cs typeface="Times New Roman"/>
                  <a:sym typeface="Times New Roman"/>
                </a:rPr>
                <a:t>Minimum Resolution 1920*1080</a:t>
              </a:r>
            </a:p>
          </p:txBody>
        </p:sp>
      </p:grpSp>
      <p:grpSp>
        <p:nvGrpSpPr>
          <p:cNvPr id="13" name="Group 13"/>
          <p:cNvGrpSpPr/>
          <p:nvPr/>
        </p:nvGrpSpPr>
        <p:grpSpPr>
          <a:xfrm>
            <a:off x="731687" y="5862447"/>
            <a:ext cx="9607567" cy="811848"/>
            <a:chOff x="0" y="0"/>
            <a:chExt cx="12810089" cy="1082464"/>
          </a:xfrm>
        </p:grpSpPr>
        <p:sp>
          <p:nvSpPr>
            <p:cNvPr id="14" name="Freeform 14"/>
            <p:cNvSpPr/>
            <p:nvPr/>
          </p:nvSpPr>
          <p:spPr>
            <a:xfrm>
              <a:off x="0" y="0"/>
              <a:ext cx="12810089" cy="1082464"/>
            </a:xfrm>
            <a:custGeom>
              <a:avLst/>
              <a:gdLst/>
              <a:ahLst/>
              <a:cxnLst/>
              <a:rect l="l" t="t" r="r" b="b"/>
              <a:pathLst>
                <a:path w="12810089" h="1082464">
                  <a:moveTo>
                    <a:pt x="0" y="0"/>
                  </a:moveTo>
                  <a:lnTo>
                    <a:pt x="12810089" y="0"/>
                  </a:lnTo>
                  <a:lnTo>
                    <a:pt x="12810089" y="1082464"/>
                  </a:lnTo>
                  <a:lnTo>
                    <a:pt x="0" y="1082464"/>
                  </a:lnTo>
                  <a:close/>
                </a:path>
              </a:pathLst>
            </a:custGeom>
            <a:solidFill>
              <a:srgbClr val="2B211A">
                <a:alpha val="0"/>
              </a:srgbClr>
            </a:solidFill>
          </p:spPr>
          <p:txBody>
            <a:bodyPr/>
            <a:lstStyle/>
            <a:p>
              <a:endParaRPr/>
            </a:p>
          </p:txBody>
        </p:sp>
        <p:sp>
          <p:nvSpPr>
            <p:cNvPr id="15" name="TextBox 15"/>
            <p:cNvSpPr txBox="1"/>
            <p:nvPr/>
          </p:nvSpPr>
          <p:spPr>
            <a:xfrm>
              <a:off x="0" y="-9525"/>
              <a:ext cx="12810089" cy="1091989"/>
            </a:xfrm>
            <a:prstGeom prst="rect">
              <a:avLst/>
            </a:prstGeom>
          </p:spPr>
          <p:txBody>
            <a:bodyPr lIns="0" tIns="0" rIns="0" bIns="0" rtlCol="0" anchor="t"/>
            <a:lstStyle/>
            <a:p>
              <a:pPr algn="l">
                <a:lnSpc>
                  <a:spcPts val="3909"/>
                </a:lnSpc>
              </a:pPr>
              <a:r>
                <a:rPr lang="en-US" sz="2000" b="1">
                  <a:solidFill>
                    <a:srgbClr val="7C2D12"/>
                  </a:solidFill>
                  <a:latin typeface="Times New Roman"/>
                  <a:ea typeface="Times New Roman"/>
                  <a:cs typeface="Times New Roman"/>
                  <a:sym typeface="Times New Roman"/>
                </a:rPr>
                <a:t>SOFTWARE SPECIFICATIONS:</a:t>
              </a:r>
            </a:p>
            <a:p>
              <a:pPr algn="l">
                <a:lnSpc>
                  <a:spcPts val="2070"/>
                </a:lnSpc>
              </a:pPr>
              <a:endParaRPr lang="en-US" sz="2000" b="1">
                <a:solidFill>
                  <a:srgbClr val="7C2D12"/>
                </a:solidFill>
                <a:latin typeface="Times New Roman"/>
                <a:ea typeface="Times New Roman"/>
                <a:cs typeface="Times New Roman"/>
                <a:sym typeface="Arimo Bold"/>
              </a:endParaRPr>
            </a:p>
          </p:txBody>
        </p:sp>
      </p:grpSp>
      <p:grpSp>
        <p:nvGrpSpPr>
          <p:cNvPr id="16" name="Group 16"/>
          <p:cNvGrpSpPr/>
          <p:nvPr/>
        </p:nvGrpSpPr>
        <p:grpSpPr>
          <a:xfrm>
            <a:off x="1028700" y="6740969"/>
            <a:ext cx="15529147" cy="4142993"/>
            <a:chOff x="0" y="0"/>
            <a:chExt cx="20705529" cy="5523991"/>
          </a:xfrm>
        </p:grpSpPr>
        <p:sp>
          <p:nvSpPr>
            <p:cNvPr id="17" name="Freeform 17"/>
            <p:cNvSpPr/>
            <p:nvPr/>
          </p:nvSpPr>
          <p:spPr>
            <a:xfrm>
              <a:off x="0" y="0"/>
              <a:ext cx="20705530" cy="5523992"/>
            </a:xfrm>
            <a:custGeom>
              <a:avLst/>
              <a:gdLst/>
              <a:ahLst/>
              <a:cxnLst/>
              <a:rect l="l" t="t" r="r" b="b"/>
              <a:pathLst>
                <a:path w="20705530" h="5523992">
                  <a:moveTo>
                    <a:pt x="0" y="0"/>
                  </a:moveTo>
                  <a:lnTo>
                    <a:pt x="20705530" y="0"/>
                  </a:lnTo>
                  <a:lnTo>
                    <a:pt x="20705530" y="5523992"/>
                  </a:lnTo>
                  <a:lnTo>
                    <a:pt x="0" y="5523992"/>
                  </a:lnTo>
                  <a:close/>
                </a:path>
              </a:pathLst>
            </a:custGeom>
            <a:solidFill>
              <a:srgbClr val="2B211A">
                <a:alpha val="0"/>
              </a:srgbClr>
            </a:solidFill>
          </p:spPr>
          <p:txBody>
            <a:bodyPr/>
            <a:lstStyle/>
            <a:p>
              <a:endParaRPr/>
            </a:p>
          </p:txBody>
        </p:sp>
        <p:sp>
          <p:nvSpPr>
            <p:cNvPr id="18" name="TextBox 18"/>
            <p:cNvSpPr txBox="1"/>
            <p:nvPr/>
          </p:nvSpPr>
          <p:spPr>
            <a:xfrm>
              <a:off x="0" y="-209550"/>
              <a:ext cx="20705529" cy="5733541"/>
            </a:xfrm>
            <a:prstGeom prst="rect">
              <a:avLst/>
            </a:prstGeom>
          </p:spPr>
          <p:txBody>
            <a:bodyPr lIns="0" tIns="0" rIns="0" bIns="0" rtlCol="0" anchor="t"/>
            <a:lstStyle/>
            <a:p>
              <a:pPr algn="just">
                <a:lnSpc>
                  <a:spcPts val="5147"/>
                </a:lnSpc>
              </a:pPr>
              <a:r>
                <a:rPr lang="en-US" sz="1800" b="1" dirty="0">
                  <a:solidFill>
                    <a:srgbClr val="2B211A"/>
                  </a:solidFill>
                  <a:latin typeface="Times New Roman"/>
                  <a:ea typeface="Times New Roman"/>
                  <a:cs typeface="Times New Roman"/>
                  <a:sym typeface="Times New Roman"/>
                </a:rPr>
                <a:t>OPERATING SYSTEM                                          :  </a:t>
              </a:r>
              <a:r>
                <a:rPr lang="en-US" sz="1800" b="0" dirty="0">
                  <a:solidFill>
                    <a:srgbClr val="2B211A"/>
                  </a:solidFill>
                  <a:latin typeface="Times New Roman"/>
                  <a:ea typeface="Times New Roman"/>
                  <a:cs typeface="Times New Roman"/>
                  <a:sym typeface="Times New Roman"/>
                </a:rPr>
                <a:t>Windows 10 or Above</a:t>
              </a:r>
            </a:p>
            <a:p>
              <a:pPr algn="just">
                <a:lnSpc>
                  <a:spcPts val="5147"/>
                </a:lnSpc>
              </a:pPr>
              <a:r>
                <a:rPr lang="en-US" sz="1800" b="1" dirty="0">
                  <a:solidFill>
                    <a:srgbClr val="2B211A"/>
                  </a:solidFill>
                  <a:latin typeface="Times New Roman"/>
                  <a:ea typeface="Times New Roman"/>
                  <a:cs typeface="Times New Roman"/>
                  <a:sym typeface="Times New Roman"/>
                </a:rPr>
                <a:t>PROGRAMMING LANGUAGE &amp; VERSION   :  </a:t>
              </a:r>
              <a:r>
                <a:rPr lang="en-US" sz="1800" b="0" dirty="0">
                  <a:solidFill>
                    <a:srgbClr val="2B211A"/>
                  </a:solidFill>
                  <a:latin typeface="Times New Roman"/>
                  <a:ea typeface="Times New Roman"/>
                  <a:cs typeface="Times New Roman"/>
                  <a:sym typeface="Times New Roman"/>
                </a:rPr>
                <a:t>JavaScript (Node.js 20+, ES modules), Python 3.10</a:t>
              </a:r>
            </a:p>
            <a:p>
              <a:pPr algn="just">
                <a:lnSpc>
                  <a:spcPts val="5147"/>
                </a:lnSpc>
              </a:pPr>
              <a:r>
                <a:rPr lang="en-US" sz="1800" b="1" dirty="0">
                  <a:solidFill>
                    <a:srgbClr val="2B211A"/>
                  </a:solidFill>
                  <a:latin typeface="Times New Roman"/>
                  <a:ea typeface="Times New Roman"/>
                  <a:cs typeface="Times New Roman"/>
                  <a:sym typeface="Times New Roman"/>
                </a:rPr>
                <a:t>PLATFORM                                                            :  </a:t>
              </a:r>
              <a:r>
                <a:rPr lang="en-US" sz="1800" b="0" dirty="0">
                  <a:solidFill>
                    <a:srgbClr val="2B211A"/>
                  </a:solidFill>
                  <a:latin typeface="Times New Roman"/>
                  <a:ea typeface="Times New Roman"/>
                  <a:cs typeface="Times New Roman"/>
                  <a:sym typeface="Times New Roman"/>
                </a:rPr>
                <a:t>VS Code, Node.js 22, MongoDB 7 (local or Atlas)</a:t>
              </a:r>
            </a:p>
            <a:p>
              <a:pPr algn="just">
                <a:lnSpc>
                  <a:spcPts val="5147"/>
                </a:lnSpc>
              </a:pPr>
              <a:r>
                <a:rPr lang="en-US" sz="1800" b="1" dirty="0">
                  <a:solidFill>
                    <a:srgbClr val="2B211A"/>
                  </a:solidFill>
                  <a:latin typeface="Times New Roman"/>
                  <a:ea typeface="Times New Roman"/>
                  <a:cs typeface="Times New Roman"/>
                  <a:sym typeface="Times New Roman"/>
                </a:rPr>
                <a:t>SUPPORTING LIBRARIES                                  :  </a:t>
              </a:r>
              <a:r>
                <a:rPr lang="en-US" sz="1800" b="0" dirty="0" err="1">
                  <a:solidFill>
                    <a:srgbClr val="2B211A"/>
                  </a:solidFill>
                  <a:latin typeface="Times New Roman"/>
                  <a:ea typeface="Times New Roman"/>
                  <a:cs typeface="Times New Roman"/>
                  <a:sym typeface="Times New Roman"/>
                </a:rPr>
                <a:t>React 19 + Vite, Tailwind CSS, Recharts, Express 5, Socket.IO 4,</a:t>
              </a:r>
            </a:p>
            <a:p>
              <a:pPr algn="just">
                <a:lnSpc>
                  <a:spcPts val="5147"/>
                </a:lnSpc>
              </a:pPr>
              <a:r>
                <a:rPr lang="en-US" sz="1800" b="0" dirty="0">
                  <a:solidFill>
                    <a:srgbClr val="2B211A"/>
                  </a:solidFill>
                  <a:latin typeface="Times New Roman"/>
                  <a:ea typeface="Times New Roman"/>
                  <a:cs typeface="Times New Roman"/>
                  <a:sym typeface="Times New Roman"/>
                </a:rPr>
                <a:t>                                                                                      Mongoose 9, JWT, Flask, Scikit-learn, Pandas, Twilio SMS API</a:t>
              </a:r>
            </a:p>
            <a:p>
              <a:pPr algn="just">
                <a:lnSpc>
                  <a:spcPts val="5147"/>
                </a:lnSpc>
              </a:pPr>
              <a:endParaRPr lang="en-US" sz="1800" b="1" dirty="0">
                <a:solidFill>
                  <a:srgbClr val="2B211A"/>
                </a:solidFill>
                <a:latin typeface="Times New Roman"/>
                <a:ea typeface="Times New Roman"/>
                <a:cs typeface="Times New Roman"/>
                <a:sym typeface="Canva Sans Bold"/>
              </a:endParaRPr>
            </a:p>
          </p:txBody>
        </p:sp>
      </p:grpSp>
      <p:sp>
        <p:nvSpPr>
          <p:cNvPr id="19" name="Freeform 19"/>
          <p:cNvSpPr/>
          <p:nvPr/>
        </p:nvSpPr>
        <p:spPr>
          <a:xfrm>
            <a:off x="15034028"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31631" y="2990539"/>
            <a:ext cx="16071914" cy="4305967"/>
            <a:chOff x="0" y="0"/>
            <a:chExt cx="21429219" cy="5741289"/>
          </a:xfrm>
        </p:grpSpPr>
        <p:sp>
          <p:nvSpPr>
            <p:cNvPr id="3" name="Freeform 3"/>
            <p:cNvSpPr/>
            <p:nvPr/>
          </p:nvSpPr>
          <p:spPr>
            <a:xfrm>
              <a:off x="0" y="0"/>
              <a:ext cx="21429218" cy="5741289"/>
            </a:xfrm>
            <a:custGeom>
              <a:avLst/>
              <a:gdLst/>
              <a:ahLst/>
              <a:cxnLst/>
              <a:rect l="l" t="t" r="r" b="b"/>
              <a:pathLst>
                <a:path w="21429218" h="5741289">
                  <a:moveTo>
                    <a:pt x="0" y="0"/>
                  </a:moveTo>
                  <a:lnTo>
                    <a:pt x="21429218" y="0"/>
                  </a:lnTo>
                  <a:lnTo>
                    <a:pt x="21429218" y="5741289"/>
                  </a:lnTo>
                  <a:lnTo>
                    <a:pt x="0" y="5741289"/>
                  </a:lnTo>
                  <a:lnTo>
                    <a:pt x="0" y="0"/>
                  </a:lnTo>
                  <a:close/>
                </a:path>
              </a:pathLst>
            </a:custGeom>
            <a:blipFill>
              <a:blip r:embed="rId2"/>
              <a:stretch>
                <a:fillRect t="-83" b="-83"/>
              </a:stretch>
            </a:blipFill>
          </p:spPr>
          <p:txBody>
            <a:bodyPr/>
            <a:lstStyle/>
            <a:p>
              <a:endParaRPr/>
            </a:p>
          </p:txBody>
        </p:sp>
      </p:grpSp>
      <p:grpSp>
        <p:nvGrpSpPr>
          <p:cNvPr id="4" name="Group 4"/>
          <p:cNvGrpSpPr/>
          <p:nvPr/>
        </p:nvGrpSpPr>
        <p:grpSpPr>
          <a:xfrm>
            <a:off x="731631" y="404494"/>
            <a:ext cx="7781862" cy="1176656"/>
            <a:chOff x="0" y="0"/>
            <a:chExt cx="10375816" cy="1568874"/>
          </a:xfrm>
        </p:grpSpPr>
        <p:sp>
          <p:nvSpPr>
            <p:cNvPr id="5" name="Freeform 5"/>
            <p:cNvSpPr/>
            <p:nvPr/>
          </p:nvSpPr>
          <p:spPr>
            <a:xfrm>
              <a:off x="0" y="0"/>
              <a:ext cx="10375816" cy="1568874"/>
            </a:xfrm>
            <a:custGeom>
              <a:avLst/>
              <a:gdLst/>
              <a:ahLst/>
              <a:cxnLst/>
              <a:rect l="l" t="t" r="r" b="b"/>
              <a:pathLst>
                <a:path w="10375816" h="1568874">
                  <a:moveTo>
                    <a:pt x="0" y="0"/>
                  </a:moveTo>
                  <a:lnTo>
                    <a:pt x="10375816" y="0"/>
                  </a:lnTo>
                  <a:lnTo>
                    <a:pt x="10375816" y="1568874"/>
                  </a:lnTo>
                  <a:lnTo>
                    <a:pt x="0" y="1568874"/>
                  </a:lnTo>
                  <a:close/>
                </a:path>
              </a:pathLst>
            </a:custGeom>
            <a:solidFill>
              <a:srgbClr val="2B211A">
                <a:alpha val="0"/>
              </a:srgbClr>
            </a:solidFill>
          </p:spPr>
          <p:txBody>
            <a:bodyPr/>
            <a:lstStyle/>
            <a:p>
              <a:endParaRPr/>
            </a:p>
          </p:txBody>
        </p:sp>
        <p:sp>
          <p:nvSpPr>
            <p:cNvPr id="6" name="TextBox 6"/>
            <p:cNvSpPr txBox="1"/>
            <p:nvPr/>
          </p:nvSpPr>
          <p:spPr>
            <a:xfrm>
              <a:off x="0" y="-19050"/>
              <a:ext cx="10375816" cy="1587924"/>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SYSTEM ARCHITECTURE :</a:t>
              </a:r>
            </a:p>
            <a:p>
              <a:pPr algn="l">
                <a:lnSpc>
                  <a:spcPts val="4369"/>
                </a:lnSpc>
              </a:pPr>
              <a:endParaRPr lang="en-US" sz="2800" dirty="0">
                <a:solidFill>
                  <a:srgbClr val="7C2D12"/>
                </a:solidFill>
                <a:latin typeface="Times New Roman"/>
                <a:ea typeface="Times New Roman"/>
                <a:cs typeface="Times New Roman"/>
                <a:sym typeface="Brasika"/>
              </a:endParaRPr>
            </a:p>
          </p:txBody>
        </p:sp>
      </p:grpSp>
      <p:grpSp>
        <p:nvGrpSpPr>
          <p:cNvPr id="7" name="Group 7"/>
          <p:cNvGrpSpPr/>
          <p:nvPr/>
        </p:nvGrpSpPr>
        <p:grpSpPr>
          <a:xfrm>
            <a:off x="731631" y="1624794"/>
            <a:ext cx="6956107" cy="38100"/>
            <a:chOff x="0" y="0"/>
            <a:chExt cx="9274809" cy="50800"/>
          </a:xfrm>
        </p:grpSpPr>
        <p:sp>
          <p:nvSpPr>
            <p:cNvPr id="8" name="Freeform 8"/>
            <p:cNvSpPr/>
            <p:nvPr/>
          </p:nvSpPr>
          <p:spPr>
            <a:xfrm>
              <a:off x="0" y="0"/>
              <a:ext cx="9274810" cy="50800"/>
            </a:xfrm>
            <a:custGeom>
              <a:avLst/>
              <a:gdLst/>
              <a:ahLst/>
              <a:cxnLst/>
              <a:rect l="l" t="t" r="r" b="b"/>
              <a:pathLst>
                <a:path w="9274810" h="50800">
                  <a:moveTo>
                    <a:pt x="0" y="0"/>
                  </a:moveTo>
                  <a:lnTo>
                    <a:pt x="9274810" y="0"/>
                  </a:lnTo>
                  <a:lnTo>
                    <a:pt x="9274810" y="50800"/>
                  </a:lnTo>
                  <a:lnTo>
                    <a:pt x="0" y="50800"/>
                  </a:lnTo>
                  <a:close/>
                </a:path>
              </a:pathLst>
            </a:custGeom>
            <a:solidFill>
              <a:srgbClr val="A8917A"/>
            </a:solidFill>
          </p:spPr>
          <p:txBody>
            <a:bodyPr/>
            <a:lstStyle/>
            <a:p>
              <a:endParaRPr/>
            </a:p>
          </p:txBody>
        </p:sp>
      </p:grpSp>
      <p:sp>
        <p:nvSpPr>
          <p:cNvPr id="9" name="Freeform 9"/>
          <p:cNvSpPr/>
          <p:nvPr/>
        </p:nvSpPr>
        <p:spPr>
          <a:xfrm>
            <a:off x="16222161" y="-754576"/>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3"/>
                </a:ext>
              </a:extLst>
            </a:blip>
            <a:stretch>
              <a:fillRect l="-25" r="-25"/>
            </a:stretch>
          </a:blipFill>
        </p:spPr>
        <p:txBody>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grpSp>
        <p:nvGrpSpPr>
          <p:cNvPr id="2" name="Group 2"/>
          <p:cNvGrpSpPr/>
          <p:nvPr/>
        </p:nvGrpSpPr>
        <p:grpSpPr>
          <a:xfrm>
            <a:off x="779298" y="471353"/>
            <a:ext cx="7781862" cy="1086119"/>
            <a:chOff x="0" y="0"/>
            <a:chExt cx="10375816" cy="1448158"/>
          </a:xfrm>
        </p:grpSpPr>
        <p:sp>
          <p:nvSpPr>
            <p:cNvPr id="3" name="Freeform 3"/>
            <p:cNvSpPr/>
            <p:nvPr/>
          </p:nvSpPr>
          <p:spPr>
            <a:xfrm>
              <a:off x="0" y="0"/>
              <a:ext cx="10375816" cy="1448158"/>
            </a:xfrm>
            <a:custGeom>
              <a:avLst/>
              <a:gdLst/>
              <a:ahLst/>
              <a:cxnLst/>
              <a:rect l="l" t="t" r="r" b="b"/>
              <a:pathLst>
                <a:path w="10375816" h="1448158">
                  <a:moveTo>
                    <a:pt x="0" y="0"/>
                  </a:moveTo>
                  <a:lnTo>
                    <a:pt x="10375816" y="0"/>
                  </a:lnTo>
                  <a:lnTo>
                    <a:pt x="10375816" y="1448158"/>
                  </a:lnTo>
                  <a:lnTo>
                    <a:pt x="0" y="1448158"/>
                  </a:lnTo>
                  <a:close/>
                </a:path>
              </a:pathLst>
            </a:custGeom>
            <a:solidFill>
              <a:srgbClr val="2B211A">
                <a:alpha val="0"/>
              </a:srgbClr>
            </a:solidFill>
          </p:spPr>
          <p:txBody>
            <a:bodyPr/>
            <a:lstStyle/>
            <a:p>
              <a:endParaRPr/>
            </a:p>
          </p:txBody>
        </p:sp>
        <p:sp>
          <p:nvSpPr>
            <p:cNvPr id="4" name="TextBox 4"/>
            <p:cNvSpPr txBox="1"/>
            <p:nvPr/>
          </p:nvSpPr>
          <p:spPr>
            <a:xfrm>
              <a:off x="0" y="-19050"/>
              <a:ext cx="10375816" cy="1467208"/>
            </a:xfrm>
            <a:prstGeom prst="rect">
              <a:avLst/>
            </a:prstGeom>
          </p:spPr>
          <p:txBody>
            <a:bodyPr lIns="0" tIns="0" rIns="0" bIns="0" rtlCol="0" anchor="t"/>
            <a:lstStyle/>
            <a:p>
              <a:pPr algn="l">
                <a:lnSpc>
                  <a:spcPts val="4369"/>
                </a:lnSpc>
              </a:pPr>
              <a:endParaRPr lang="en-US" sz="2800" dirty="0">
                <a:solidFill>
                  <a:srgbClr val="7C2D12"/>
                </a:solidFill>
                <a:latin typeface="Times New Roman"/>
                <a:ea typeface="Times New Roman"/>
                <a:cs typeface="Times New Roman"/>
                <a:sym typeface="Brasika"/>
              </a:endParaRPr>
            </a:p>
            <a:p>
              <a:pPr algn="l">
                <a:lnSpc>
                  <a:spcPts val="4369"/>
                </a:lnSpc>
              </a:pPr>
              <a:r>
                <a:rPr lang="en-US" sz="2800" b="1" dirty="0">
                  <a:solidFill>
                    <a:srgbClr val="7C2D12"/>
                  </a:solidFill>
                  <a:latin typeface="Times New Roman"/>
                  <a:ea typeface="Times New Roman"/>
                  <a:cs typeface="Times New Roman"/>
                  <a:sym typeface="Times New Roman"/>
                </a:rPr>
                <a:t>REFERENCES :</a:t>
              </a:r>
            </a:p>
          </p:txBody>
        </p:sp>
      </p:grpSp>
      <p:grpSp>
        <p:nvGrpSpPr>
          <p:cNvPr id="5" name="Group 5"/>
          <p:cNvGrpSpPr/>
          <p:nvPr/>
        </p:nvGrpSpPr>
        <p:grpSpPr>
          <a:xfrm>
            <a:off x="798348" y="1778903"/>
            <a:ext cx="4011644" cy="38100"/>
            <a:chOff x="0" y="0"/>
            <a:chExt cx="5348859" cy="50800"/>
          </a:xfrm>
        </p:grpSpPr>
        <p:sp>
          <p:nvSpPr>
            <p:cNvPr id="6" name="Freeform 6"/>
            <p:cNvSpPr/>
            <p:nvPr/>
          </p:nvSpPr>
          <p:spPr>
            <a:xfrm>
              <a:off x="0" y="0"/>
              <a:ext cx="5348859" cy="50800"/>
            </a:xfrm>
            <a:custGeom>
              <a:avLst/>
              <a:gdLst/>
              <a:ahLst/>
              <a:cxnLst/>
              <a:rect l="l" t="t" r="r" b="b"/>
              <a:pathLst>
                <a:path w="5348859" h="50800">
                  <a:moveTo>
                    <a:pt x="0" y="0"/>
                  </a:moveTo>
                  <a:lnTo>
                    <a:pt x="5348859" y="0"/>
                  </a:lnTo>
                  <a:lnTo>
                    <a:pt x="5348859" y="50800"/>
                  </a:lnTo>
                  <a:lnTo>
                    <a:pt x="0" y="50800"/>
                  </a:lnTo>
                  <a:close/>
                </a:path>
              </a:pathLst>
            </a:custGeom>
            <a:solidFill>
              <a:srgbClr val="A8917A"/>
            </a:solidFill>
          </p:spPr>
          <p:txBody>
            <a:bodyPr/>
            <a:lstStyle/>
            <a:p>
              <a:endParaRPr/>
            </a:p>
          </p:txBody>
        </p:sp>
      </p:grpSp>
      <p:sp>
        <p:nvSpPr>
          <p:cNvPr id="7" name="Freeform 7"/>
          <p:cNvSpPr/>
          <p:nvPr/>
        </p:nvSpPr>
        <p:spPr>
          <a:xfrm>
            <a:off x="0" y="-151323"/>
            <a:ext cx="18288000" cy="10438323"/>
          </a:xfrm>
          <a:custGeom>
            <a:avLst/>
            <a:gdLst/>
            <a:ahLst/>
            <a:cxnLst/>
            <a:rect l="l" t="t" r="r" b="b"/>
            <a:pathLst>
              <a:path w="18288000" h="10438323">
                <a:moveTo>
                  <a:pt x="0" y="0"/>
                </a:moveTo>
                <a:lnTo>
                  <a:pt x="18288000" y="0"/>
                </a:lnTo>
                <a:lnTo>
                  <a:pt x="18288000" y="10438323"/>
                </a:lnTo>
                <a:lnTo>
                  <a:pt x="0" y="10438323"/>
                </a:lnTo>
                <a:lnTo>
                  <a:pt x="0" y="0"/>
                </a:lnTo>
                <a:close/>
              </a:path>
            </a:pathLst>
          </a:custGeom>
          <a:blipFill>
            <a:blip>
              <a:extLst>
                <a:ext uri="{96DAC541-7B7A-43D3-8B79-37D633B846F1}">
                  <asvg:svgBlip xmlns:asvg="http://schemas.microsoft.com/office/drawing/2016/SVG/main" r:embed="rId2"/>
                </a:ext>
              </a:extLst>
            </a:blip>
            <a:stretch>
              <a:fillRect t="-5" b="-5"/>
            </a:stretch>
          </a:blipFill>
        </p:spPr>
        <p:txBody>
          <a:bodyPr/>
          <a:lstStyle/>
          <a:p>
            <a:endParaRPr/>
          </a:p>
        </p:txBody>
      </p:sp>
      <p:grpSp>
        <p:nvGrpSpPr>
          <p:cNvPr id="8" name="Group 8"/>
          <p:cNvGrpSpPr/>
          <p:nvPr/>
        </p:nvGrpSpPr>
        <p:grpSpPr>
          <a:xfrm>
            <a:off x="779298" y="2191956"/>
            <a:ext cx="15609464" cy="8530752"/>
            <a:chOff x="0" y="0"/>
            <a:chExt cx="20812619" cy="11374337"/>
          </a:xfrm>
        </p:grpSpPr>
        <p:sp>
          <p:nvSpPr>
            <p:cNvPr id="9" name="Freeform 9"/>
            <p:cNvSpPr/>
            <p:nvPr/>
          </p:nvSpPr>
          <p:spPr>
            <a:xfrm>
              <a:off x="0" y="0"/>
              <a:ext cx="20812620" cy="11374337"/>
            </a:xfrm>
            <a:custGeom>
              <a:avLst/>
              <a:gdLst/>
              <a:ahLst/>
              <a:cxnLst/>
              <a:rect l="l" t="t" r="r" b="b"/>
              <a:pathLst>
                <a:path w="20812620" h="11374337">
                  <a:moveTo>
                    <a:pt x="0" y="0"/>
                  </a:moveTo>
                  <a:lnTo>
                    <a:pt x="20812620" y="0"/>
                  </a:lnTo>
                  <a:lnTo>
                    <a:pt x="20812620" y="11374337"/>
                  </a:lnTo>
                  <a:lnTo>
                    <a:pt x="0" y="11374337"/>
                  </a:lnTo>
                  <a:close/>
                </a:path>
              </a:pathLst>
            </a:custGeom>
            <a:solidFill>
              <a:srgbClr val="2B211A">
                <a:alpha val="0"/>
              </a:srgbClr>
            </a:solidFill>
          </p:spPr>
          <p:txBody>
            <a:bodyPr/>
            <a:lstStyle/>
            <a:p>
              <a:endParaRPr/>
            </a:p>
          </p:txBody>
        </p:sp>
        <p:sp>
          <p:nvSpPr>
            <p:cNvPr id="10" name="TextBox 10"/>
            <p:cNvSpPr txBox="1"/>
            <p:nvPr/>
          </p:nvSpPr>
          <p:spPr>
            <a:xfrm>
              <a:off x="0" y="-171450"/>
              <a:ext cx="20812619" cy="11545787"/>
            </a:xfrm>
            <a:prstGeom prst="rect">
              <a:avLst/>
            </a:prstGeom>
          </p:spPr>
          <p:txBody>
            <a:bodyPr lIns="0" tIns="0" rIns="0" bIns="0" rtlCol="0" anchor="t"/>
            <a:lstStyle/>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Bhuiyan, M.R.; Abdullah, J.; Hashim, N.; Al Farid, F.; Uddin, J.; Abdullah, N.; Samsudin, M.A. Crowd density estimation using deep learning for Hajj pilgrimage video analytics. F1000Research 2022, 10:1190.</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Kawade, S.; Pawar, R.; Shewale, S.; Tatar, V.; Bhor, S.R. Temple Crowd Management and Elevation System Using IoT. IJSRD – International Journal for Scientific Research &amp; Development, Vol. 13, Issue 2, 2025.</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Reddy, M.D.; Narasimha, K.; Lakshmi Kumari. Smart Slot-Based Darshan Management System (Rapid Darshan). International Journal of Engineering Research &amp; Technology (IJERT), Vol. 15, Issue 5, 2026.</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Yu, Q.; Zhang, Y.; Zhou, Y.-P. Delay Information in Virtual Queues: A Large-Scale Field Experiment on a Major Ride-Sharing Platform. Management Science, 2022. https://doi.org/10.1287/mnsc.2022.4448</a:t>
              </a:r>
            </a:p>
            <a:p>
              <a:pPr marL="834185" lvl="3" indent="-342900" algn="just">
                <a:lnSpc>
                  <a:spcPts val="4750"/>
                </a:lnSpc>
                <a:buFont typeface="Wingdings" panose="05000000000000000000" pitchFamily="2" charset="2"/>
                <a:buChar char="§"/>
              </a:pPr>
              <a:r>
                <a:rPr lang="en-US" sz="1800" dirty="0" err="1">
                  <a:solidFill>
                    <a:srgbClr val="2B211A"/>
                  </a:solidFill>
                  <a:latin typeface="Times New Roman"/>
                  <a:ea typeface="Times New Roman"/>
                  <a:cs typeface="Times New Roman"/>
                  <a:sym typeface="Times New Roman"/>
                </a:rPr>
                <a:t>KPMG in India. Faith and Flow: Navigating Crowds in India's Sacred Spaces, August 2025. Available online: https://kpmg.com/in/en/insights/2025/08/faith-and-flow-navigating-crowds-in-indias-sacred-spaces.html (accessed on 6 September 2026).</a:t>
              </a:r>
            </a:p>
          </p:txBody>
        </p:sp>
      </p:grpSp>
      <p:sp>
        <p:nvSpPr>
          <p:cNvPr id="11" name="Freeform 11"/>
          <p:cNvSpPr/>
          <p:nvPr/>
        </p:nvSpPr>
        <p:spPr>
          <a:xfrm>
            <a:off x="15845348" y="-278497"/>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3"/>
                </a:ext>
              </a:extLst>
            </a:blip>
            <a:stretch>
              <a:fillRect l="-25" r="-25"/>
            </a:stretch>
          </a:blipFill>
        </p:spPr>
        <p:txBody>
          <a:bodyP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5" name="Freeform 5"/>
          <p:cNvSpPr/>
          <p:nvPr/>
        </p:nvSpPr>
        <p:spPr>
          <a:xfrm>
            <a:off x="15410842" y="0"/>
            <a:ext cx="5388429" cy="4114800"/>
          </a:xfrm>
          <a:custGeom>
            <a:avLst/>
            <a:gdLst/>
            <a:ahLst/>
            <a:cxnLst/>
            <a:rect l="l" t="t" r="r" b="b"/>
            <a:pathLst>
              <a:path w="5388429" h="4114800">
                <a:moveTo>
                  <a:pt x="0" y="0"/>
                </a:moveTo>
                <a:lnTo>
                  <a:pt x="5388429" y="0"/>
                </a:lnTo>
                <a:lnTo>
                  <a:pt x="5388429" y="4114800"/>
                </a:lnTo>
                <a:lnTo>
                  <a:pt x="0" y="4114800"/>
                </a:lnTo>
                <a:lnTo>
                  <a:pt x="0" y="0"/>
                </a:lnTo>
                <a:close/>
              </a:path>
            </a:pathLst>
          </a:custGeom>
          <a:blipFill>
            <a:blip>
              <a:alphaModFix amt="9999"/>
              <a:extLst>
                <a:ext uri="{96DAC541-7B7A-43D3-8B79-37D633B846F1}">
                  <asvg:svgBlip xmlns:asvg="http://schemas.microsoft.com/office/drawing/2016/SVG/main" r:embed="rId2"/>
                </a:ext>
              </a:extLst>
            </a:blip>
            <a:stretch>
              <a:fillRect l="-25" r="-25"/>
            </a:stretch>
          </a:blipFill>
        </p:spPr>
        <p:txBody>
          <a:bodyPr/>
          <a:lstStyle/>
          <a:p>
            <a:endParaRPr/>
          </a:p>
        </p:txBody>
      </p:sp>
      <p:sp>
        <p:nvSpPr>
          <p:cNvPr id="7" name="TextBox 6">
            <a:extLst>
              <a:ext uri="{FF2B5EF4-FFF2-40B4-BE49-F238E27FC236}">
                <a16:creationId xmlns:a16="http://schemas.microsoft.com/office/drawing/2014/main" id="{841C0059-1B47-186C-FC7A-00BDE114EEB5}"/>
              </a:ext>
            </a:extLst>
          </p:cNvPr>
          <p:cNvSpPr txBox="1"/>
          <p:nvPr/>
        </p:nvSpPr>
        <p:spPr>
          <a:xfrm>
            <a:off x="3945194" y="4686300"/>
            <a:ext cx="10397612" cy="1080617"/>
          </a:xfrm>
          <a:prstGeom prst="rect">
            <a:avLst/>
          </a:prstGeom>
          <a:noFill/>
        </p:spPr>
        <p:txBody>
          <a:bodyPr wrap="square">
            <a:spAutoFit/>
          </a:bodyPr>
          <a:lstStyle/>
          <a:p>
            <a:pPr algn="l">
              <a:lnSpc>
                <a:spcPts val="6897"/>
              </a:lnSpc>
            </a:pPr>
            <a:r>
              <a:rPr lang="en-US" sz="10800" b="1" dirty="0">
                <a:solidFill>
                  <a:srgbClr val="7C2D12"/>
                </a:solidFill>
                <a:latin typeface="Times New Roman"/>
                <a:ea typeface="Times New Roman"/>
                <a:cs typeface="Times New Roman"/>
                <a:sym typeface="Times New Roman"/>
              </a:rPr>
              <a:t>THANK YOU !</a:t>
            </a:r>
          </a:p>
        </p:txBody>
      </p:sp>
    </p:spTree>
  </p:cSld>
  <p:clrMapOvr>
    <a:masterClrMapping/>
  </p:clrMapOvr>
</p:sld>
</file>

<file path=ppt/theme/theme1.xml><?xml version="1.0" encoding="utf-8"?>
<a:theme xmlns:a="http://schemas.openxmlformats.org/drawingml/2006/main" name="Office Theme">
  <a:themeElements>
    <a:clrScheme name="Office">
      <a:dk1>
        <a:srgbClr val="2B211A"/>
      </a:dk1>
      <a:lt1>
        <a:srgbClr val="FBF8F4"/>
      </a:lt1>
      <a:dk2>
        <a:srgbClr val="3F3228"/>
      </a:dk2>
      <a:lt2>
        <a:srgbClr val="F3ECE3"/>
      </a:lt2>
      <a:accent1>
        <a:srgbClr val="C2410C"/>
      </a:accent1>
      <a:accent2>
        <a:srgbClr val="7C2D12"/>
      </a:accent2>
      <a:accent3>
        <a:srgbClr val="A8917A"/>
      </a:accent3>
      <a:accent4>
        <a:srgbClr val="6B5746"/>
      </a:accent4>
      <a:accent5>
        <a:srgbClr val="FDB070"/>
      </a:accent5>
      <a:accent6>
        <a:srgbClr val="9A3412"/>
      </a:accent6>
      <a:hlink>
        <a:srgbClr val="C2410C"/>
      </a:hlink>
      <a:folHlink>
        <a:srgbClr val="9A3412"/>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1513</Words>
  <Application>Microsoft Office PowerPoint</Application>
  <PresentationFormat>Custom</PresentationFormat>
  <Paragraphs>97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Wingdings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proposed system for autism detection integrates CNN, DNN, and ResNet50 to enhance accuracy and efficiency. CNN is used for extracting spatial features from medical images, ensuring effective pattern recognition. Deep Neural Networks (DNN) further</dc:title>
  <dc:creator>sai lakshmi</dc:creator>
  <cp:lastModifiedBy>DHANU PRAGATEESH K</cp:lastModifiedBy>
  <cp:revision>17</cp:revision>
  <dcterms:created xsi:type="dcterms:W3CDTF">2006-08-16T00:00:00Z</dcterms:created>
  <dcterms:modified xsi:type="dcterms:W3CDTF">2026-09-17T03:32:41Z</dcterms:modified>
  <dc:identifier>DAGe0PGZ5Yc</dc:identifier>
</cp:coreProperties>
</file>