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9" r:id="rId12"/>
    <p:sldId id="278" r:id="rId13"/>
    <p:sldId id="279" r:id="rId14"/>
    <p:sldId id="280" r:id="rId15"/>
    <p:sldId id="281" r:id="rId16"/>
    <p:sldId id="282" r:id="rId17"/>
    <p:sldId id="283" r:id="rId18"/>
    <p:sldId id="284" r:id="rId19"/>
    <p:sldId id="285" r:id="rId20"/>
    <p:sldId id="286" r:id="rId21"/>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322"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Freeform 2"/>
          <p:cNvSpPr/>
          <p:nvPr/>
        </p:nvSpPr>
        <p:spPr>
          <a:xfrm>
            <a:off x="1524433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sp>
        <p:nvSpPr>
          <p:cNvPr id="9" name="Freeform 9"/>
          <p:cNvSpPr/>
          <p:nvPr/>
        </p:nvSpPr>
        <p:spPr>
          <a:xfrm>
            <a:off x="12139907" y="5432430"/>
            <a:ext cx="4571932" cy="1133741"/>
          </a:xfrm>
          <a:custGeom>
            <a:avLst/>
            <a:gdLst/>
            <a:ahLst/>
            <a:cxnLst/>
            <a:rect l="l" t="t" r="r" b="b"/>
            <a:pathLst>
              <a:path w="6095909" h="1511654">
                <a:moveTo>
                  <a:pt x="0" y="0"/>
                </a:moveTo>
                <a:lnTo>
                  <a:pt x="6095909" y="0"/>
                </a:lnTo>
                <a:lnTo>
                  <a:pt x="6095909" y="1511654"/>
                </a:lnTo>
                <a:lnTo>
                  <a:pt x="0" y="1511654"/>
                </a:lnTo>
                <a:close/>
              </a:path>
            </a:pathLst>
          </a:custGeom>
          <a:solidFill>
            <a:srgbClr val="2B211A">
              <a:alpha val="0"/>
            </a:srgbClr>
          </a:solidFill>
        </p:spPr>
        <p:txBody>
          <a:bodyPr/>
          <a:lstStyle/>
          <a:p>
            <a:endParaRPr/>
          </a:p>
        </p:txBody>
      </p:sp>
      <p:grpSp>
        <p:nvGrpSpPr>
          <p:cNvPr id="11" name="Group 11"/>
          <p:cNvGrpSpPr/>
          <p:nvPr/>
        </p:nvGrpSpPr>
        <p:grpSpPr>
          <a:xfrm>
            <a:off x="7933367" y="6008059"/>
            <a:ext cx="8338858" cy="1663601"/>
            <a:chOff x="0" y="-9525"/>
            <a:chExt cx="11118478" cy="2218134"/>
          </a:xfrm>
        </p:grpSpPr>
        <p:sp>
          <p:nvSpPr>
            <p:cNvPr id="12" name="Freeform 12"/>
            <p:cNvSpPr/>
            <p:nvPr/>
          </p:nvSpPr>
          <p:spPr>
            <a:xfrm>
              <a:off x="3606692" y="1552865"/>
              <a:ext cx="7511786" cy="655744"/>
            </a:xfrm>
            <a:custGeom>
              <a:avLst/>
              <a:gdLst/>
              <a:ahLst/>
              <a:cxnLst/>
              <a:rect l="l" t="t" r="r" b="b"/>
              <a:pathLst>
                <a:path w="7511786" h="655744">
                  <a:moveTo>
                    <a:pt x="0" y="0"/>
                  </a:moveTo>
                  <a:lnTo>
                    <a:pt x="7511786" y="0"/>
                  </a:lnTo>
                  <a:lnTo>
                    <a:pt x="7511786" y="655744"/>
                  </a:lnTo>
                  <a:lnTo>
                    <a:pt x="0" y="655744"/>
                  </a:lnTo>
                  <a:close/>
                </a:path>
              </a:pathLst>
            </a:custGeom>
            <a:solidFill>
              <a:srgbClr val="2B211A">
                <a:alpha val="0"/>
              </a:srgbClr>
            </a:solidFill>
          </p:spPr>
          <p:txBody>
            <a:bodyPr/>
            <a:lstStyle/>
            <a:p>
              <a:endParaRPr/>
            </a:p>
          </p:txBody>
        </p:sp>
        <p:sp>
          <p:nvSpPr>
            <p:cNvPr id="13" name="TextBox 13"/>
            <p:cNvSpPr txBox="1"/>
            <p:nvPr/>
          </p:nvSpPr>
          <p:spPr>
            <a:xfrm>
              <a:off x="0" y="-9525"/>
              <a:ext cx="7511787" cy="665269"/>
            </a:xfrm>
            <a:prstGeom prst="rect">
              <a:avLst/>
            </a:prstGeom>
          </p:spPr>
          <p:txBody>
            <a:bodyPr lIns="0" tIns="0" rIns="0" bIns="0" rtlCol="0" anchor="t"/>
            <a:lstStyle/>
            <a:p>
              <a:pPr algn="ctr">
                <a:lnSpc>
                  <a:spcPts val="3680"/>
                </a:lnSpc>
              </a:pPr>
              <a:endParaRPr lang="en-US" sz="1800" b="1" dirty="0">
                <a:solidFill>
                  <a:srgbClr val="7C2D12"/>
                </a:solidFill>
                <a:latin typeface="Times New Roman"/>
                <a:ea typeface="Times New Roman"/>
                <a:cs typeface="Times New Roman"/>
                <a:sym typeface="Arimo Bold"/>
              </a:endParaRPr>
            </a:p>
          </p:txBody>
        </p:sp>
      </p:grpSp>
      <p:grpSp>
        <p:nvGrpSpPr>
          <p:cNvPr id="14" name="Group 14"/>
          <p:cNvGrpSpPr/>
          <p:nvPr/>
        </p:nvGrpSpPr>
        <p:grpSpPr>
          <a:xfrm>
            <a:off x="9440285" y="7315503"/>
            <a:ext cx="6553200" cy="2884453"/>
            <a:chOff x="0" y="0"/>
            <a:chExt cx="7450821" cy="1643013"/>
          </a:xfrm>
        </p:grpSpPr>
        <p:sp>
          <p:nvSpPr>
            <p:cNvPr id="15" name="Freeform 15"/>
            <p:cNvSpPr/>
            <p:nvPr/>
          </p:nvSpPr>
          <p:spPr>
            <a:xfrm>
              <a:off x="0" y="0"/>
              <a:ext cx="7450821" cy="1643013"/>
            </a:xfrm>
            <a:custGeom>
              <a:avLst/>
              <a:gdLst/>
              <a:ahLst/>
              <a:cxnLst/>
              <a:rect l="l" t="t" r="r" b="b"/>
              <a:pathLst>
                <a:path w="7450821" h="1643013">
                  <a:moveTo>
                    <a:pt x="0" y="0"/>
                  </a:moveTo>
                  <a:lnTo>
                    <a:pt x="7450821" y="0"/>
                  </a:lnTo>
                  <a:lnTo>
                    <a:pt x="7450821" y="1643013"/>
                  </a:lnTo>
                  <a:lnTo>
                    <a:pt x="0" y="1643013"/>
                  </a:lnTo>
                  <a:close/>
                </a:path>
              </a:pathLst>
            </a:custGeom>
            <a:solidFill>
              <a:srgbClr val="2B211A">
                <a:alpha val="0"/>
              </a:srgbClr>
            </a:solidFill>
          </p:spPr>
          <p:txBody>
            <a:bodyPr/>
            <a:lstStyle/>
            <a:p>
              <a:endParaRPr/>
            </a:p>
          </p:txBody>
        </p:sp>
        <p:sp>
          <p:nvSpPr>
            <p:cNvPr id="16" name="TextBox 16"/>
            <p:cNvSpPr txBox="1"/>
            <p:nvPr/>
          </p:nvSpPr>
          <p:spPr>
            <a:xfrm>
              <a:off x="0" y="-9525"/>
              <a:ext cx="7450821" cy="1652538"/>
            </a:xfrm>
            <a:prstGeom prst="rect">
              <a:avLst/>
            </a:prstGeom>
          </p:spPr>
          <p:txBody>
            <a:bodyPr lIns="0" tIns="0" rIns="0" bIns="0" rtlCol="0" anchor="t"/>
            <a:lstStyle/>
            <a:p>
              <a:pPr algn="ctr">
                <a:lnSpc>
                  <a:spcPts val="5289"/>
                </a:lnSpc>
              </a:pPr>
              <a:endParaRPr lang="en-US" sz="1800" b="1" dirty="0">
                <a:solidFill>
                  <a:srgbClr val="7C2D12"/>
                </a:solidFill>
                <a:latin typeface="Times New Roman"/>
                <a:ea typeface="Times New Roman"/>
                <a:cs typeface="Times New Roman"/>
                <a:sym typeface="Arimo Bold"/>
              </a:endParaRPr>
            </a:p>
          </p:txBody>
        </p:sp>
      </p:grpSp>
      <p:sp>
        <p:nvSpPr>
          <p:cNvPr id="19" name="TextBox 19"/>
          <p:cNvSpPr txBox="1"/>
          <p:nvPr/>
        </p:nvSpPr>
        <p:spPr>
          <a:xfrm>
            <a:off x="11290421" y="7259058"/>
            <a:ext cx="10316496" cy="504528"/>
          </a:xfrm>
          <a:prstGeom prst="rect">
            <a:avLst/>
          </a:prstGeom>
        </p:spPr>
        <p:txBody>
          <a:bodyPr lIns="0" tIns="0" rIns="0" bIns="0" rtlCol="0" anchor="t"/>
          <a:lstStyle/>
          <a:p>
            <a:pPr algn="l">
              <a:lnSpc>
                <a:spcPts val="2879"/>
              </a:lnSpc>
            </a:pPr>
            <a:endParaRPr lang="en-US" sz="1800" dirty="0">
              <a:solidFill>
                <a:srgbClr val="2B211A"/>
              </a:solidFill>
              <a:latin typeface="Times New Roman"/>
              <a:ea typeface="Times New Roman"/>
              <a:cs typeface="Times New Roman"/>
              <a:sym typeface="Poppins"/>
            </a:endParaRPr>
          </a:p>
        </p:txBody>
      </p:sp>
      <p:grpSp>
        <p:nvGrpSpPr>
          <p:cNvPr id="20" name="Group 20"/>
          <p:cNvGrpSpPr/>
          <p:nvPr/>
        </p:nvGrpSpPr>
        <p:grpSpPr>
          <a:xfrm>
            <a:off x="11290421" y="7789111"/>
            <a:ext cx="10316496" cy="490241"/>
            <a:chOff x="0" y="0"/>
            <a:chExt cx="13755328" cy="653654"/>
          </a:xfrm>
        </p:grpSpPr>
        <p:sp>
          <p:nvSpPr>
            <p:cNvPr id="21" name="Freeform 21"/>
            <p:cNvSpPr/>
            <p:nvPr/>
          </p:nvSpPr>
          <p:spPr>
            <a:xfrm>
              <a:off x="0" y="0"/>
              <a:ext cx="13755328" cy="653654"/>
            </a:xfrm>
            <a:custGeom>
              <a:avLst/>
              <a:gdLst/>
              <a:ahLst/>
              <a:cxnLst/>
              <a:rect l="l" t="t" r="r" b="b"/>
              <a:pathLst>
                <a:path w="13755328" h="653654">
                  <a:moveTo>
                    <a:pt x="0" y="0"/>
                  </a:moveTo>
                  <a:lnTo>
                    <a:pt x="13755328" y="0"/>
                  </a:lnTo>
                  <a:lnTo>
                    <a:pt x="13755328" y="653654"/>
                  </a:lnTo>
                  <a:lnTo>
                    <a:pt x="0" y="653654"/>
                  </a:lnTo>
                  <a:close/>
                </a:path>
              </a:pathLst>
            </a:custGeom>
            <a:solidFill>
              <a:srgbClr val="2B211A">
                <a:alpha val="0"/>
              </a:srgbClr>
            </a:solidFill>
          </p:spPr>
          <p:txBody>
            <a:bodyPr/>
            <a:lstStyle/>
            <a:p>
              <a:endParaRPr/>
            </a:p>
          </p:txBody>
        </p:sp>
        <p:sp>
          <p:nvSpPr>
            <p:cNvPr id="22" name="TextBox 22"/>
            <p:cNvSpPr txBox="1"/>
            <p:nvPr/>
          </p:nvSpPr>
          <p:spPr>
            <a:xfrm>
              <a:off x="0" y="-19050"/>
              <a:ext cx="13755328" cy="672704"/>
            </a:xfrm>
            <a:prstGeom prst="rect">
              <a:avLst/>
            </a:prstGeom>
          </p:spPr>
          <p:txBody>
            <a:bodyPr lIns="0" tIns="0" rIns="0" bIns="0" rtlCol="0" anchor="t"/>
            <a:lstStyle/>
            <a:p>
              <a:pPr algn="l">
                <a:lnSpc>
                  <a:spcPts val="2879"/>
                </a:lnSpc>
              </a:pPr>
              <a:endParaRPr lang="en-US" sz="1800" dirty="0">
                <a:solidFill>
                  <a:srgbClr val="2B211A"/>
                </a:solidFill>
                <a:latin typeface="Times New Roman"/>
                <a:ea typeface="Times New Roman"/>
                <a:cs typeface="Times New Roman"/>
                <a:sym typeface="Poppins"/>
              </a:endParaRPr>
            </a:p>
          </p:txBody>
        </p:sp>
      </p:grpSp>
      <p:grpSp>
        <p:nvGrpSpPr>
          <p:cNvPr id="23" name="Group 23"/>
          <p:cNvGrpSpPr/>
          <p:nvPr/>
        </p:nvGrpSpPr>
        <p:grpSpPr>
          <a:xfrm>
            <a:off x="11299386" y="8253201"/>
            <a:ext cx="10316496" cy="504529"/>
            <a:chOff x="0" y="0"/>
            <a:chExt cx="13755328" cy="653654"/>
          </a:xfrm>
        </p:grpSpPr>
        <p:sp>
          <p:nvSpPr>
            <p:cNvPr id="24" name="Freeform 24"/>
            <p:cNvSpPr/>
            <p:nvPr/>
          </p:nvSpPr>
          <p:spPr>
            <a:xfrm>
              <a:off x="0" y="0"/>
              <a:ext cx="13755328" cy="653654"/>
            </a:xfrm>
            <a:custGeom>
              <a:avLst/>
              <a:gdLst/>
              <a:ahLst/>
              <a:cxnLst/>
              <a:rect l="l" t="t" r="r" b="b"/>
              <a:pathLst>
                <a:path w="13755328" h="653654">
                  <a:moveTo>
                    <a:pt x="0" y="0"/>
                  </a:moveTo>
                  <a:lnTo>
                    <a:pt x="13755328" y="0"/>
                  </a:lnTo>
                  <a:lnTo>
                    <a:pt x="13755328" y="653654"/>
                  </a:lnTo>
                  <a:lnTo>
                    <a:pt x="0" y="653654"/>
                  </a:lnTo>
                  <a:close/>
                </a:path>
              </a:pathLst>
            </a:custGeom>
            <a:solidFill>
              <a:srgbClr val="2B211A">
                <a:alpha val="0"/>
              </a:srgbClr>
            </a:solidFill>
          </p:spPr>
          <p:txBody>
            <a:bodyPr/>
            <a:lstStyle/>
            <a:p>
              <a:endParaRPr/>
            </a:p>
          </p:txBody>
        </p:sp>
        <p:sp>
          <p:nvSpPr>
            <p:cNvPr id="25" name="TextBox 25"/>
            <p:cNvSpPr txBox="1"/>
            <p:nvPr/>
          </p:nvSpPr>
          <p:spPr>
            <a:xfrm>
              <a:off x="0" y="-19050"/>
              <a:ext cx="13755328" cy="672704"/>
            </a:xfrm>
            <a:prstGeom prst="rect">
              <a:avLst/>
            </a:prstGeom>
          </p:spPr>
          <p:txBody>
            <a:bodyPr lIns="0" tIns="0" rIns="0" bIns="0" rtlCol="0" anchor="t"/>
            <a:lstStyle/>
            <a:p>
              <a:pPr algn="l">
                <a:lnSpc>
                  <a:spcPts val="2879"/>
                </a:lnSpc>
              </a:pPr>
              <a:endParaRPr lang="en-US" sz="1800" dirty="0">
                <a:solidFill>
                  <a:srgbClr val="2B211A"/>
                </a:solidFill>
                <a:latin typeface="Times New Roman"/>
                <a:ea typeface="Times New Roman"/>
                <a:cs typeface="Times New Roman"/>
                <a:sym typeface="Poppins"/>
              </a:endParaRPr>
            </a:p>
          </p:txBody>
        </p:sp>
      </p:grpSp>
      <p:grpSp>
        <p:nvGrpSpPr>
          <p:cNvPr id="26" name="Group 26"/>
          <p:cNvGrpSpPr/>
          <p:nvPr/>
        </p:nvGrpSpPr>
        <p:grpSpPr>
          <a:xfrm>
            <a:off x="11190090" y="8714868"/>
            <a:ext cx="4803395" cy="717842"/>
            <a:chOff x="-32775" y="-57150"/>
            <a:chExt cx="6404527" cy="957124"/>
          </a:xfrm>
        </p:grpSpPr>
        <p:sp>
          <p:nvSpPr>
            <p:cNvPr id="27" name="Freeform 27"/>
            <p:cNvSpPr/>
            <p:nvPr/>
          </p:nvSpPr>
          <p:spPr>
            <a:xfrm>
              <a:off x="-32775" y="0"/>
              <a:ext cx="6371752" cy="899974"/>
            </a:xfrm>
            <a:custGeom>
              <a:avLst/>
              <a:gdLst/>
              <a:ahLst/>
              <a:cxnLst/>
              <a:rect l="l" t="t" r="r" b="b"/>
              <a:pathLst>
                <a:path w="6371752" h="899974">
                  <a:moveTo>
                    <a:pt x="0" y="0"/>
                  </a:moveTo>
                  <a:lnTo>
                    <a:pt x="6371752" y="0"/>
                  </a:lnTo>
                  <a:lnTo>
                    <a:pt x="6371752" y="899974"/>
                  </a:lnTo>
                  <a:lnTo>
                    <a:pt x="0" y="899974"/>
                  </a:lnTo>
                  <a:close/>
                </a:path>
              </a:pathLst>
            </a:custGeom>
            <a:solidFill>
              <a:srgbClr val="2B211A">
                <a:alpha val="0"/>
              </a:srgbClr>
            </a:solidFill>
          </p:spPr>
          <p:txBody>
            <a:bodyPr/>
            <a:lstStyle/>
            <a:p>
              <a:endParaRPr/>
            </a:p>
          </p:txBody>
        </p:sp>
        <p:sp>
          <p:nvSpPr>
            <p:cNvPr id="28" name="TextBox 28"/>
            <p:cNvSpPr txBox="1"/>
            <p:nvPr/>
          </p:nvSpPr>
          <p:spPr>
            <a:xfrm>
              <a:off x="0" y="-57150"/>
              <a:ext cx="6371752" cy="957124"/>
            </a:xfrm>
            <a:prstGeom prst="rect">
              <a:avLst/>
            </a:prstGeom>
          </p:spPr>
          <p:txBody>
            <a:bodyPr lIns="0" tIns="0" rIns="0" bIns="0" rtlCol="0" anchor="t"/>
            <a:lstStyle/>
            <a:p>
              <a:pPr algn="ctr">
                <a:lnSpc>
                  <a:spcPts val="3219"/>
                </a:lnSpc>
              </a:pPr>
              <a:endParaRPr lang="en-US" sz="1800" dirty="0">
                <a:solidFill>
                  <a:srgbClr val="2B211A"/>
                </a:solidFill>
                <a:latin typeface="Times New Roman"/>
                <a:ea typeface="Times New Roman"/>
                <a:cs typeface="Times New Roman"/>
                <a:sym typeface="Poppins"/>
              </a:endParaRPr>
            </a:p>
          </p:txBody>
        </p:sp>
      </p:grpSp>
      <p:sp>
        <p:nvSpPr>
          <p:cNvPr id="29" name="Freeform 29"/>
          <p:cNvSpPr/>
          <p:nvPr/>
        </p:nvSpPr>
        <p:spPr>
          <a:xfrm>
            <a:off x="3850799" y="4977333"/>
            <a:ext cx="14897174" cy="2217282"/>
          </a:xfrm>
          <a:custGeom>
            <a:avLst/>
            <a:gdLst/>
            <a:ahLst/>
            <a:cxnLst/>
            <a:rect l="l" t="t" r="r" b="b"/>
            <a:pathLst>
              <a:path w="14897174" h="2217282">
                <a:moveTo>
                  <a:pt x="0" y="0"/>
                </a:moveTo>
                <a:lnTo>
                  <a:pt x="14897174" y="0"/>
                </a:lnTo>
                <a:lnTo>
                  <a:pt x="14897174" y="2217282"/>
                </a:lnTo>
                <a:lnTo>
                  <a:pt x="0" y="2217282"/>
                </a:lnTo>
                <a:lnTo>
                  <a:pt x="0" y="0"/>
                </a:lnTo>
                <a:close/>
              </a:path>
            </a:pathLst>
          </a:custGeom>
          <a:blipFill>
            <a:blip>
              <a:extLst>
                <a:ext uri="{96DAC541-7B7A-43D3-8B79-37D633B846F1}">
                  <asvg:svgBlip xmlns:asvg="http://schemas.microsoft.com/office/drawing/2016/SVG/main" r:embed="rId3"/>
                </a:ext>
              </a:extLst>
            </a:blip>
            <a:stretch>
              <a:fillRect t="-14" b="-14"/>
            </a:stretch>
          </a:blipFill>
        </p:spPr>
        <p:txBody>
          <a:bodyPr/>
          <a:lstStyle/>
          <a:p>
            <a:endParaRPr/>
          </a:p>
        </p:txBody>
      </p:sp>
      <p:sp>
        <p:nvSpPr>
          <p:cNvPr id="30" name="Rectangle 29">
            <a:extLst>
              <a:ext uri="{FF2B5EF4-FFF2-40B4-BE49-F238E27FC236}">
                <a16:creationId xmlns:a16="http://schemas.microsoft.com/office/drawing/2014/main" id="{E6322FBF-8F11-40A9-0116-99E214F29DDF}"/>
              </a:ext>
            </a:extLst>
          </p:cNvPr>
          <p:cNvSpPr/>
          <p:nvPr/>
        </p:nvSpPr>
        <p:spPr>
          <a:xfrm>
            <a:off x="457200" y="342900"/>
            <a:ext cx="2133600" cy="1752600"/>
          </a:xfrm>
          <a:prstGeom prst="rect">
            <a:avLst/>
          </a:prstGeom>
          <a:blipFill>
            <a:blip r:embed="rId4"/>
            <a:stretch>
              <a:fillRect/>
            </a:stretch>
          </a:blipFill>
          <a:ln w="12700">
            <a:solidFill>
              <a:srgbClr val="8570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a:extLst>
              <a:ext uri="{FF2B5EF4-FFF2-40B4-BE49-F238E27FC236}">
                <a16:creationId xmlns:a16="http://schemas.microsoft.com/office/drawing/2014/main" id="{BC89C05E-C121-3821-F743-C8799C78F9CC}"/>
              </a:ext>
            </a:extLst>
          </p:cNvPr>
          <p:cNvSpPr txBox="1"/>
          <p:nvPr/>
        </p:nvSpPr>
        <p:spPr>
          <a:xfrm>
            <a:off x="3352800" y="342900"/>
            <a:ext cx="12268200" cy="2185214"/>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EASWARI ENGINEERING COLLEGE</a:t>
            </a:r>
            <a:br>
              <a:rPr lang="en-IN" sz="3600"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(AUTONOMOUS)</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Bharathi Salai, </a:t>
            </a:r>
            <a:r>
              <a:rPr lang="en-IN" sz="3600" dirty="0" err="1">
                <a:latin typeface="Times New Roman" panose="02020603050405020304" pitchFamily="18" charset="0"/>
                <a:cs typeface="Times New Roman" panose="02020603050405020304" pitchFamily="18" charset="0"/>
              </a:rPr>
              <a:t>Ramapuram</a:t>
            </a:r>
            <a:r>
              <a:rPr lang="en-IN" sz="3600" dirty="0">
                <a:latin typeface="Times New Roman" panose="02020603050405020304" pitchFamily="18" charset="0"/>
                <a:cs typeface="Times New Roman" panose="02020603050405020304" pitchFamily="18" charset="0"/>
              </a:rPr>
              <a:t>, Chennai, 600089.</a:t>
            </a:r>
            <a:endParaRPr lang="en-US" sz="3600" dirty="0">
              <a:latin typeface="Times New Roman" panose="02020603050405020304" pitchFamily="18" charset="0"/>
              <a:cs typeface="Times New Roman" panose="02020603050405020304" pitchFamily="18" charset="0"/>
            </a:endParaRPr>
          </a:p>
          <a:p>
            <a:endParaRPr lang="en-IN" sz="2800" dirty="0"/>
          </a:p>
        </p:txBody>
      </p:sp>
      <p:sp>
        <p:nvSpPr>
          <p:cNvPr id="34" name="Text 7">
            <a:extLst>
              <a:ext uri="{FF2B5EF4-FFF2-40B4-BE49-F238E27FC236}">
                <a16:creationId xmlns:a16="http://schemas.microsoft.com/office/drawing/2014/main" id="{E343FC88-7D57-2603-446E-95F1C414A59C}"/>
              </a:ext>
            </a:extLst>
          </p:cNvPr>
          <p:cNvSpPr txBox="1"/>
          <p:nvPr/>
        </p:nvSpPr>
        <p:spPr>
          <a:xfrm>
            <a:off x="3962552" y="6126052"/>
            <a:ext cx="10362895" cy="365760"/>
          </a:xfrm>
          <a:prstGeom prst="rect">
            <a:avLst/>
          </a:prstGeom>
          <a:noFill/>
          <a:ln/>
        </p:spPr>
        <p:txBody>
          <a:bodyPr wrap="square" lIns="0" tIns="0" rIns="0" bIns="0" rtlCol="0" anchor="ctr"/>
          <a:lstStyle/>
          <a:p>
            <a:pPr marL="0" indent="0" algn="ctr">
              <a:buNone/>
            </a:pPr>
            <a:r>
              <a:rPr lang="en-US" sz="2000" dirty="0">
                <a:latin typeface="Times New Roman" pitchFamily="34" charset="0"/>
                <a:ea typeface="Times New Roman" pitchFamily="34" charset="-122"/>
                <a:cs typeface="Times New Roman" pitchFamily="34" charset="-120"/>
              </a:rPr>
              <a:t>Department of Information Technology</a:t>
            </a:r>
          </a:p>
        </p:txBody>
      </p:sp>
      <p:sp>
        <p:nvSpPr>
          <p:cNvPr id="37" name="TextBox 36">
            <a:extLst>
              <a:ext uri="{FF2B5EF4-FFF2-40B4-BE49-F238E27FC236}">
                <a16:creationId xmlns:a16="http://schemas.microsoft.com/office/drawing/2014/main" id="{197C25D0-BB5D-2EF4-4B32-C160A1F09469}"/>
              </a:ext>
            </a:extLst>
          </p:cNvPr>
          <p:cNvSpPr txBox="1"/>
          <p:nvPr/>
        </p:nvSpPr>
        <p:spPr>
          <a:xfrm>
            <a:off x="6576968" y="6726651"/>
            <a:ext cx="5819863" cy="707886"/>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SUBJECT NAME:</a:t>
            </a:r>
            <a:r>
              <a:rPr lang="en-US" sz="2000" dirty="0">
                <a:latin typeface="Times New Roman" panose="02020603050405020304" pitchFamily="18" charset="0"/>
                <a:cs typeface="Times New Roman" panose="02020603050405020304" pitchFamily="18" charset="0"/>
              </a:rPr>
              <a:t> FULL STACK DEVELOPMENT</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SUBJECT CODE:</a:t>
            </a:r>
            <a:r>
              <a:rPr lang="en-US" sz="2000" dirty="0">
                <a:latin typeface="Times New Roman" panose="02020603050405020304" pitchFamily="18" charset="0"/>
                <a:cs typeface="Times New Roman" panose="02020603050405020304" pitchFamily="18" charset="0"/>
              </a:rPr>
              <a:t> 2311CSC503R</a:t>
            </a:r>
          </a:p>
        </p:txBody>
      </p:sp>
      <p:sp>
        <p:nvSpPr>
          <p:cNvPr id="40" name="Text 8">
            <a:extLst>
              <a:ext uri="{FF2B5EF4-FFF2-40B4-BE49-F238E27FC236}">
                <a16:creationId xmlns:a16="http://schemas.microsoft.com/office/drawing/2014/main" id="{F377710D-53EF-188F-62CA-1F28EE096652}"/>
              </a:ext>
            </a:extLst>
          </p:cNvPr>
          <p:cNvSpPr txBox="1"/>
          <p:nvPr/>
        </p:nvSpPr>
        <p:spPr>
          <a:xfrm>
            <a:off x="12396831" y="8323716"/>
            <a:ext cx="4349313" cy="509236"/>
          </a:xfrm>
          <a:prstGeom prst="rect">
            <a:avLst/>
          </a:prstGeom>
          <a:noFill/>
          <a:ln/>
        </p:spPr>
        <p:txBody>
          <a:bodyPr wrap="square" lIns="0" tIns="0" rIns="0" bIns="0" rtlCol="0" anchor="ctr"/>
          <a:lstStyle/>
          <a:p>
            <a:pPr marL="0" indent="0">
              <a:lnSpc>
                <a:spcPct val="125000"/>
              </a:lnSpc>
              <a:buNone/>
            </a:pPr>
            <a:r>
              <a:rPr lang="en-US" b="1" dirty="0">
                <a:latin typeface="Times New Roman" pitchFamily="34" charset="0"/>
                <a:ea typeface="Times New Roman" pitchFamily="34" charset="-122"/>
                <a:cs typeface="Times New Roman" pitchFamily="34" charset="-120"/>
              </a:rPr>
              <a:t>PRESENTED BY</a:t>
            </a:r>
            <a:endParaRPr lang="en-US" dirty="0"/>
          </a:p>
          <a:p>
            <a:pPr marL="0" indent="0">
              <a:lnSpc>
                <a:spcPct val="125000"/>
              </a:lnSpc>
              <a:buNone/>
            </a:pPr>
            <a:r>
              <a:rPr lang="en-US" dirty="0" err="1">
                <a:latin typeface="Times New Roman" pitchFamily="34" charset="0"/>
                <a:ea typeface="Times New Roman" pitchFamily="34" charset="-122"/>
                <a:cs typeface="Times New Roman" pitchFamily="34" charset="-120"/>
              </a:rPr>
              <a:t>Muthuveer</a:t>
            </a:r>
            <a:r>
              <a:rPr lang="en-US" dirty="0">
                <a:latin typeface="Times New Roman" pitchFamily="34" charset="0"/>
                <a:ea typeface="Times New Roman" pitchFamily="34" charset="-122"/>
                <a:cs typeface="Times New Roman" pitchFamily="34" charset="-120"/>
              </a:rPr>
              <a:t> M (310624205166)</a:t>
            </a:r>
            <a:endParaRPr lang="en-US" dirty="0"/>
          </a:p>
        </p:txBody>
      </p:sp>
      <p:sp>
        <p:nvSpPr>
          <p:cNvPr id="42" name="Text 9">
            <a:extLst>
              <a:ext uri="{FF2B5EF4-FFF2-40B4-BE49-F238E27FC236}">
                <a16:creationId xmlns:a16="http://schemas.microsoft.com/office/drawing/2014/main" id="{377442A6-C7CC-E59D-B44C-BA1B0A55A84C}"/>
              </a:ext>
            </a:extLst>
          </p:cNvPr>
          <p:cNvSpPr txBox="1"/>
          <p:nvPr/>
        </p:nvSpPr>
        <p:spPr>
          <a:xfrm>
            <a:off x="1541856" y="8343334"/>
            <a:ext cx="4206240" cy="580933"/>
          </a:xfrm>
          <a:prstGeom prst="rect">
            <a:avLst/>
          </a:prstGeom>
          <a:noFill/>
          <a:ln/>
        </p:spPr>
        <p:txBody>
          <a:bodyPr wrap="square" lIns="0" tIns="0" rIns="0" bIns="0" rtlCol="0" anchor="ctr"/>
          <a:lstStyle/>
          <a:p>
            <a:pPr marL="0" indent="0">
              <a:lnSpc>
                <a:spcPct val="125000"/>
              </a:lnSpc>
              <a:buNone/>
            </a:pPr>
            <a:r>
              <a:rPr lang="en-US" b="1" dirty="0">
                <a:latin typeface="Times New Roman" pitchFamily="34" charset="0"/>
                <a:ea typeface="Times New Roman" pitchFamily="34" charset="-122"/>
                <a:cs typeface="Times New Roman" pitchFamily="34" charset="-120"/>
              </a:rPr>
              <a:t>UNDER THE GUIDANCE OF</a:t>
            </a:r>
            <a:endParaRPr lang="en-US" dirty="0"/>
          </a:p>
          <a:p>
            <a:pPr>
              <a:lnSpc>
                <a:spcPct val="125000"/>
              </a:lnSpc>
            </a:pPr>
            <a:r>
              <a:rPr lang="en-US" dirty="0">
                <a:latin typeface="Times New Roman" pitchFamily="34" charset="0"/>
                <a:ea typeface="Times New Roman" pitchFamily="34" charset="-122"/>
                <a:cs typeface="Times New Roman" pitchFamily="34" charset="-120"/>
              </a:rPr>
              <a:t>G. Sai Lakshmi</a:t>
            </a:r>
            <a:endParaRPr lang="en-US" dirty="0"/>
          </a:p>
        </p:txBody>
      </p:sp>
      <p:sp>
        <p:nvSpPr>
          <p:cNvPr id="44" name="Text 4">
            <a:extLst>
              <a:ext uri="{FF2B5EF4-FFF2-40B4-BE49-F238E27FC236}">
                <a16:creationId xmlns:a16="http://schemas.microsoft.com/office/drawing/2014/main" id="{AB5A5823-3255-CA74-95B3-099D35901B4C}"/>
              </a:ext>
            </a:extLst>
          </p:cNvPr>
          <p:cNvSpPr txBox="1"/>
          <p:nvPr/>
        </p:nvSpPr>
        <p:spPr>
          <a:xfrm>
            <a:off x="2133599" y="3179136"/>
            <a:ext cx="14020800" cy="1554480"/>
          </a:xfrm>
          <a:prstGeom prst="rect">
            <a:avLst/>
          </a:prstGeom>
          <a:noFill/>
          <a:ln/>
        </p:spPr>
        <p:txBody>
          <a:bodyPr wrap="square" lIns="0" tIns="0" rIns="0" bIns="0" rtlCol="0" anchor="ctr"/>
          <a:lstStyle/>
          <a:p>
            <a:pPr algn="ctr"/>
            <a:r>
              <a:rPr lang="en-IN" sz="2800" b="1" dirty="0">
                <a:latin typeface="Times New Roman" panose="02020603050405020304" pitchFamily="18" charset="0"/>
                <a:cs typeface="Times New Roman" panose="02020603050405020304" pitchFamily="18" charset="0"/>
              </a:rPr>
              <a:t>Devotees experience long waiting times due to unplanned crowd management and lack of real-time queue information</a:t>
            </a: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grpSp>
        <p:nvGrpSpPr>
          <p:cNvPr id="2" name="Group 2"/>
          <p:cNvGrpSpPr/>
          <p:nvPr/>
        </p:nvGrpSpPr>
        <p:grpSpPr>
          <a:xfrm>
            <a:off x="1524000" y="1533524"/>
            <a:ext cx="11154133" cy="9186822"/>
            <a:chOff x="0" y="0"/>
            <a:chExt cx="14872177" cy="12249095"/>
          </a:xfrm>
        </p:grpSpPr>
        <p:sp>
          <p:nvSpPr>
            <p:cNvPr id="3" name="Freeform 3"/>
            <p:cNvSpPr/>
            <p:nvPr/>
          </p:nvSpPr>
          <p:spPr>
            <a:xfrm>
              <a:off x="0" y="0"/>
              <a:ext cx="14872177" cy="12249095"/>
            </a:xfrm>
            <a:custGeom>
              <a:avLst/>
              <a:gdLst/>
              <a:ahLst/>
              <a:cxnLst/>
              <a:rect l="l" t="t" r="r" b="b"/>
              <a:pathLst>
                <a:path w="14872177" h="12249095">
                  <a:moveTo>
                    <a:pt x="0" y="0"/>
                  </a:moveTo>
                  <a:lnTo>
                    <a:pt x="14872177" y="0"/>
                  </a:lnTo>
                  <a:lnTo>
                    <a:pt x="14872177" y="12249095"/>
                  </a:lnTo>
                  <a:lnTo>
                    <a:pt x="0" y="12249095"/>
                  </a:lnTo>
                  <a:close/>
                </a:path>
              </a:pathLst>
            </a:custGeom>
            <a:solidFill>
              <a:srgbClr val="2B211A">
                <a:alpha val="0"/>
              </a:srgbClr>
            </a:solidFill>
          </p:spPr>
          <p:txBody>
            <a:bodyPr/>
            <a:lstStyle/>
            <a:p>
              <a:endParaRPr/>
            </a:p>
          </p:txBody>
        </p:sp>
        <p:sp>
          <p:nvSpPr>
            <p:cNvPr id="4" name="TextBox 4"/>
            <p:cNvSpPr txBox="1"/>
            <p:nvPr/>
          </p:nvSpPr>
          <p:spPr>
            <a:xfrm>
              <a:off x="0" y="-171450"/>
              <a:ext cx="14872177" cy="12420545"/>
            </a:xfrm>
            <a:prstGeom prst="rect">
              <a:avLst/>
            </a:prstGeom>
          </p:spPr>
          <p:txBody>
            <a:bodyPr lIns="0" tIns="0" rIns="0" bIns="0" rtlCol="0" anchor="t"/>
            <a:lstStyle/>
            <a:p>
              <a:pPr marL="834391" lvl="3" indent="-342900" algn="just">
                <a:lnSpc>
                  <a:spcPts val="4752"/>
                </a:lnSpc>
                <a:buFont typeface="Courier New" panose="02070309020205020404" pitchFamily="49" charset="0"/>
                <a:buChar char="o"/>
              </a:pPr>
              <a:endParaRPr lang="en-US" sz="1800" dirty="0">
                <a:solidFill>
                  <a:srgbClr val="2B211A"/>
                </a:solidFill>
                <a:latin typeface="Times New Roman"/>
                <a:ea typeface="Times New Roman"/>
                <a:cs typeface="Times New Roman"/>
                <a:sym typeface="Canva Sans"/>
              </a:endParaRP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Title </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Abstract</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Introduction </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Literature survey</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Existing system and Disadvantages</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Proposed system and Advantages</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System requirements</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System Architecture</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Modules implemented</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System design and wait-time engine</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Prediction module</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Implementation results and testing</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References</a:t>
              </a:r>
            </a:p>
          </p:txBody>
        </p:sp>
      </p:grpSp>
      <p:grpSp>
        <p:nvGrpSpPr>
          <p:cNvPr id="5" name="Group 5"/>
          <p:cNvGrpSpPr/>
          <p:nvPr/>
        </p:nvGrpSpPr>
        <p:grpSpPr>
          <a:xfrm>
            <a:off x="673334" y="332282"/>
            <a:ext cx="7862824" cy="1201242"/>
            <a:chOff x="0" y="-19050"/>
            <a:chExt cx="10483765" cy="1601655"/>
          </a:xfrm>
        </p:grpSpPr>
        <p:sp>
          <p:nvSpPr>
            <p:cNvPr id="6" name="Freeform 6"/>
            <p:cNvSpPr/>
            <p:nvPr/>
          </p:nvSpPr>
          <p:spPr>
            <a:xfrm>
              <a:off x="107949" y="225303"/>
              <a:ext cx="10375816" cy="1357302"/>
            </a:xfrm>
            <a:custGeom>
              <a:avLst/>
              <a:gdLst/>
              <a:ahLst/>
              <a:cxnLst/>
              <a:rect l="l" t="t" r="r" b="b"/>
              <a:pathLst>
                <a:path w="10375816" h="1357302">
                  <a:moveTo>
                    <a:pt x="0" y="0"/>
                  </a:moveTo>
                  <a:lnTo>
                    <a:pt x="10375816" y="0"/>
                  </a:lnTo>
                  <a:lnTo>
                    <a:pt x="10375816" y="1357302"/>
                  </a:lnTo>
                  <a:lnTo>
                    <a:pt x="0" y="1357302"/>
                  </a:lnTo>
                  <a:close/>
                </a:path>
              </a:pathLst>
            </a:custGeom>
            <a:solidFill>
              <a:srgbClr val="2B211A">
                <a:alpha val="0"/>
              </a:srgbClr>
            </a:solidFill>
          </p:spPr>
          <p:txBody>
            <a:bodyPr/>
            <a:lstStyle/>
            <a:p>
              <a:endParaRPr/>
            </a:p>
          </p:txBody>
        </p:sp>
        <p:sp>
          <p:nvSpPr>
            <p:cNvPr id="7" name="TextBox 7"/>
            <p:cNvSpPr txBox="1"/>
            <p:nvPr/>
          </p:nvSpPr>
          <p:spPr>
            <a:xfrm>
              <a:off x="0" y="-19050"/>
              <a:ext cx="10375816" cy="1376352"/>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CONTENTS :</a:t>
              </a:r>
            </a:p>
          </p:txBody>
        </p:sp>
      </p:grpSp>
      <p:sp>
        <p:nvSpPr>
          <p:cNvPr id="8" name="Freeform 8"/>
          <p:cNvSpPr/>
          <p:nvPr/>
        </p:nvSpPr>
        <p:spPr>
          <a:xfrm>
            <a:off x="15468600" y="23352"/>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grpSp>
        <p:nvGrpSpPr>
          <p:cNvPr id="9" name="Group 9"/>
          <p:cNvGrpSpPr/>
          <p:nvPr/>
        </p:nvGrpSpPr>
        <p:grpSpPr>
          <a:xfrm>
            <a:off x="457200" y="1496974"/>
            <a:ext cx="3974306" cy="38100"/>
            <a:chOff x="0" y="0"/>
            <a:chExt cx="5299075" cy="50800"/>
          </a:xfrm>
        </p:grpSpPr>
        <p:sp>
          <p:nvSpPr>
            <p:cNvPr id="10" name="Freeform 10"/>
            <p:cNvSpPr/>
            <p:nvPr/>
          </p:nvSpPr>
          <p:spPr>
            <a:xfrm>
              <a:off x="0" y="0"/>
              <a:ext cx="5299075" cy="50800"/>
            </a:xfrm>
            <a:custGeom>
              <a:avLst/>
              <a:gdLst/>
              <a:ahLst/>
              <a:cxnLst/>
              <a:rect l="l" t="t" r="r" b="b"/>
              <a:pathLst>
                <a:path w="5299075" h="50800">
                  <a:moveTo>
                    <a:pt x="0" y="0"/>
                  </a:moveTo>
                  <a:lnTo>
                    <a:pt x="5299075" y="0"/>
                  </a:lnTo>
                  <a:lnTo>
                    <a:pt x="5299075" y="50800"/>
                  </a:lnTo>
                  <a:lnTo>
                    <a:pt x="0" y="50800"/>
                  </a:lnTo>
                  <a:close/>
                </a:path>
              </a:pathLst>
            </a:custGeom>
            <a:solidFill>
              <a:srgbClr val="A8917A"/>
            </a:solidFill>
          </p:spPr>
          <p:txBody>
            <a:bodyPr/>
            <a:lstStyle/>
            <a:p>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Freeform 2"/>
          <p:cNvSpPr/>
          <p:nvPr/>
        </p:nvSpPr>
        <p:spPr>
          <a:xfrm rot="2852131">
            <a:off x="-7662073" y="3059260"/>
            <a:ext cx="18930865" cy="18758766"/>
          </a:xfrm>
          <a:custGeom>
            <a:avLst/>
            <a:gdLst/>
            <a:ahLst/>
            <a:cxnLst/>
            <a:rect l="l" t="t" r="r" b="b"/>
            <a:pathLst>
              <a:path w="18930865" h="18758766">
                <a:moveTo>
                  <a:pt x="0" y="0"/>
                </a:moveTo>
                <a:lnTo>
                  <a:pt x="18930865" y="0"/>
                </a:lnTo>
                <a:lnTo>
                  <a:pt x="18930865" y="18758766"/>
                </a:lnTo>
                <a:lnTo>
                  <a:pt x="0" y="18758766"/>
                </a:lnTo>
                <a:lnTo>
                  <a:pt x="0" y="0"/>
                </a:lnTo>
                <a:close/>
              </a:path>
            </a:pathLst>
          </a:custGeom>
          <a:blipFill>
            <a:blip>
              <a:alphaModFix amt="7999"/>
              <a:extLst>
                <a:ext uri="{96DAC541-7B7A-43D3-8B79-37D633B846F1}">
                  <asvg:svgBlip xmlns:asvg="http://schemas.microsoft.com/office/drawing/2016/SVG/main" r:embed="rId2"/>
                </a:ext>
              </a:extLst>
            </a:blip>
            <a:stretch>
              <a:fillRect l="-23" r="-23"/>
            </a:stretch>
          </a:blipFill>
        </p:spPr>
        <p:txBody>
          <a:bodyPr/>
          <a:lstStyle/>
          <a:p>
            <a:endParaRPr/>
          </a:p>
        </p:txBody>
      </p:sp>
      <p:sp>
        <p:nvSpPr>
          <p:cNvPr id="3" name="Freeform 3"/>
          <p:cNvSpPr/>
          <p:nvPr/>
        </p:nvSpPr>
        <p:spPr>
          <a:xfrm>
            <a:off x="4097320" y="507957"/>
            <a:ext cx="924343" cy="867202"/>
          </a:xfrm>
          <a:custGeom>
            <a:avLst/>
            <a:gdLst/>
            <a:ahLst/>
            <a:cxnLst/>
            <a:rect l="l" t="t" r="r" b="b"/>
            <a:pathLst>
              <a:path w="924343" h="867202">
                <a:moveTo>
                  <a:pt x="0" y="0"/>
                </a:moveTo>
                <a:lnTo>
                  <a:pt x="924343" y="0"/>
                </a:lnTo>
                <a:lnTo>
                  <a:pt x="924343" y="867202"/>
                </a:lnTo>
                <a:lnTo>
                  <a:pt x="0" y="867202"/>
                </a:lnTo>
                <a:lnTo>
                  <a:pt x="0" y="0"/>
                </a:lnTo>
                <a:close/>
              </a:path>
            </a:pathLst>
          </a:custGeom>
          <a:blipFill>
            <a:blip>
              <a:extLst>
                <a:ext uri="{96DAC541-7B7A-43D3-8B79-37D633B846F1}">
                  <asvg:svgBlip xmlns:asvg="http://schemas.microsoft.com/office/drawing/2016/SVG/main" r:embed="rId3"/>
                </a:ext>
              </a:extLst>
            </a:blip>
            <a:stretch>
              <a:fillRect t="-31" b="-31"/>
            </a:stretch>
          </a:blipFill>
        </p:spPr>
        <p:txBody>
          <a:bodyPr/>
          <a:lstStyle/>
          <a:p>
            <a:endParaRPr/>
          </a:p>
        </p:txBody>
      </p:sp>
      <p:grpSp>
        <p:nvGrpSpPr>
          <p:cNvPr id="4" name="Group 4"/>
          <p:cNvGrpSpPr/>
          <p:nvPr/>
        </p:nvGrpSpPr>
        <p:grpSpPr>
          <a:xfrm>
            <a:off x="862986" y="750954"/>
            <a:ext cx="7781862" cy="1017977"/>
            <a:chOff x="0" y="0"/>
            <a:chExt cx="10375816" cy="1357302"/>
          </a:xfrm>
        </p:grpSpPr>
        <p:sp>
          <p:nvSpPr>
            <p:cNvPr id="5" name="Freeform 5"/>
            <p:cNvSpPr/>
            <p:nvPr/>
          </p:nvSpPr>
          <p:spPr>
            <a:xfrm>
              <a:off x="0" y="0"/>
              <a:ext cx="10375816" cy="1357302"/>
            </a:xfrm>
            <a:custGeom>
              <a:avLst/>
              <a:gdLst/>
              <a:ahLst/>
              <a:cxnLst/>
              <a:rect l="l" t="t" r="r" b="b"/>
              <a:pathLst>
                <a:path w="10375816" h="1357302">
                  <a:moveTo>
                    <a:pt x="0" y="0"/>
                  </a:moveTo>
                  <a:lnTo>
                    <a:pt x="10375816" y="0"/>
                  </a:lnTo>
                  <a:lnTo>
                    <a:pt x="10375816" y="1357302"/>
                  </a:lnTo>
                  <a:lnTo>
                    <a:pt x="0" y="1357302"/>
                  </a:lnTo>
                  <a:close/>
                </a:path>
              </a:pathLst>
            </a:custGeom>
            <a:solidFill>
              <a:srgbClr val="2B211A">
                <a:alpha val="0"/>
              </a:srgbClr>
            </a:solidFill>
          </p:spPr>
          <p:txBody>
            <a:bodyPr/>
            <a:lstStyle/>
            <a:p>
              <a:endParaRPr/>
            </a:p>
          </p:txBody>
        </p:sp>
        <p:sp>
          <p:nvSpPr>
            <p:cNvPr id="6" name="TextBox 6"/>
            <p:cNvSpPr txBox="1"/>
            <p:nvPr/>
          </p:nvSpPr>
          <p:spPr>
            <a:xfrm>
              <a:off x="0" y="-19050"/>
              <a:ext cx="10375816" cy="1376352"/>
            </a:xfrm>
            <a:prstGeom prst="rect">
              <a:avLst/>
            </a:prstGeom>
          </p:spPr>
          <p:txBody>
            <a:bodyPr lIns="0" tIns="0" rIns="0" bIns="0" rtlCol="0" anchor="t"/>
            <a:lstStyle/>
            <a:p>
              <a:pPr algn="l">
                <a:lnSpc>
                  <a:spcPts val="4369"/>
                </a:lnSpc>
              </a:pPr>
              <a:r>
                <a:rPr lang="en-US" sz="2800" b="1">
                  <a:solidFill>
                    <a:srgbClr val="7C2D12"/>
                  </a:solidFill>
                  <a:latin typeface="Times New Roman"/>
                  <a:ea typeface="Times New Roman"/>
                  <a:cs typeface="Times New Roman"/>
                  <a:sym typeface="Times New Roman"/>
                </a:rPr>
                <a:t>ABSTRACT</a:t>
              </a:r>
            </a:p>
          </p:txBody>
        </p:sp>
      </p:grpSp>
      <p:grpSp>
        <p:nvGrpSpPr>
          <p:cNvPr id="7" name="Group 7"/>
          <p:cNvGrpSpPr/>
          <p:nvPr/>
        </p:nvGrpSpPr>
        <p:grpSpPr>
          <a:xfrm>
            <a:off x="1537751" y="2613981"/>
            <a:ext cx="13575168" cy="8773289"/>
            <a:chOff x="0" y="0"/>
            <a:chExt cx="18100224" cy="11697719"/>
          </a:xfrm>
        </p:grpSpPr>
        <p:sp>
          <p:nvSpPr>
            <p:cNvPr id="8" name="Freeform 8"/>
            <p:cNvSpPr/>
            <p:nvPr/>
          </p:nvSpPr>
          <p:spPr>
            <a:xfrm>
              <a:off x="0" y="0"/>
              <a:ext cx="18100224" cy="11697719"/>
            </a:xfrm>
            <a:custGeom>
              <a:avLst/>
              <a:gdLst/>
              <a:ahLst/>
              <a:cxnLst/>
              <a:rect l="l" t="t" r="r" b="b"/>
              <a:pathLst>
                <a:path w="18100224" h="11697719">
                  <a:moveTo>
                    <a:pt x="0" y="0"/>
                  </a:moveTo>
                  <a:lnTo>
                    <a:pt x="18100224" y="0"/>
                  </a:lnTo>
                  <a:lnTo>
                    <a:pt x="18100224" y="11697719"/>
                  </a:lnTo>
                  <a:lnTo>
                    <a:pt x="0" y="11697719"/>
                  </a:lnTo>
                  <a:close/>
                </a:path>
              </a:pathLst>
            </a:custGeom>
            <a:solidFill>
              <a:srgbClr val="2B211A">
                <a:alpha val="0"/>
              </a:srgbClr>
            </a:solidFill>
          </p:spPr>
          <p:txBody>
            <a:bodyPr/>
            <a:lstStyle/>
            <a:p>
              <a:endParaRPr/>
            </a:p>
          </p:txBody>
        </p:sp>
        <p:sp>
          <p:nvSpPr>
            <p:cNvPr id="9" name="TextBox 9"/>
            <p:cNvSpPr txBox="1"/>
            <p:nvPr/>
          </p:nvSpPr>
          <p:spPr>
            <a:xfrm>
              <a:off x="0" y="-171450"/>
              <a:ext cx="18100224" cy="11869169"/>
            </a:xfrm>
            <a:prstGeom prst="rect">
              <a:avLst/>
            </a:prstGeom>
          </p:spPr>
          <p:txBody>
            <a:bodyPr lIns="0" tIns="0" rIns="0" bIns="0" rtlCol="0" anchor="t"/>
            <a:lstStyle/>
            <a:p>
              <a:pPr algn="just">
                <a:lnSpc>
                  <a:spcPts val="4553"/>
                </a:lnSpc>
              </a:pPr>
              <a:r>
                <a:rPr lang="en-US" sz="1800">
                  <a:solidFill>
                    <a:srgbClr val="2B211A"/>
                  </a:solidFill>
                  <a:latin typeface="Times New Roman"/>
                  <a:ea typeface="Times New Roman"/>
                  <a:cs typeface="Times New Roman"/>
                  <a:sym typeface="Times New Roman"/>
                </a:rPr>
                <a:t>Devotees at temples and pilgrimage centres often wait for several hours because entry is managed manually and no reliable information about queue length or expected waiting time is available to them. This project proposes a Smart Darshan system that replaces the physical waiting line with a virtual queue. Devotees book a darshan slot through a web application, or collect a walk-in token at the temple counter or kiosk, and receive a QR-coded digital token. The token is scanned at the entry and exit gates, which keeps the live count of devotees inside accurate, and the system computes the estimated waiting time from the number of devotees ahead and the measured service rate. A prediction module trained on historical footfall data forecasts peak hours and recommends less crowded slots, while an administrator dashboard shows live lane-wise crowd status and raises an alert when the queue nears its safe limit. The result is shorter waiting, planned crowd distribution and transparent real-time queue information for every devotee.</a:t>
              </a:r>
            </a:p>
          </p:txBody>
        </p:sp>
      </p:grpSp>
      <p:grpSp>
        <p:nvGrpSpPr>
          <p:cNvPr id="10" name="Group 10"/>
          <p:cNvGrpSpPr/>
          <p:nvPr/>
        </p:nvGrpSpPr>
        <p:grpSpPr>
          <a:xfrm>
            <a:off x="779611" y="1768931"/>
            <a:ext cx="3974306" cy="38100"/>
            <a:chOff x="0" y="0"/>
            <a:chExt cx="5299075" cy="50800"/>
          </a:xfrm>
        </p:grpSpPr>
        <p:sp>
          <p:nvSpPr>
            <p:cNvPr id="11" name="Freeform 11"/>
            <p:cNvSpPr/>
            <p:nvPr/>
          </p:nvSpPr>
          <p:spPr>
            <a:xfrm>
              <a:off x="0" y="0"/>
              <a:ext cx="5299075" cy="50800"/>
            </a:xfrm>
            <a:custGeom>
              <a:avLst/>
              <a:gdLst/>
              <a:ahLst/>
              <a:cxnLst/>
              <a:rect l="l" t="t" r="r" b="b"/>
              <a:pathLst>
                <a:path w="5299075" h="50800">
                  <a:moveTo>
                    <a:pt x="0" y="0"/>
                  </a:moveTo>
                  <a:lnTo>
                    <a:pt x="5299075" y="0"/>
                  </a:lnTo>
                  <a:lnTo>
                    <a:pt x="5299075" y="50800"/>
                  </a:lnTo>
                  <a:lnTo>
                    <a:pt x="0" y="50800"/>
                  </a:lnTo>
                  <a:close/>
                </a:path>
              </a:pathLst>
            </a:custGeom>
            <a:solidFill>
              <a:srgbClr val="A8917A"/>
            </a:solidFill>
          </p:spPr>
          <p:txBody>
            <a:bodyPr/>
            <a:lstStyle/>
            <a:p>
              <a:endParaRPr/>
            </a:p>
          </p:txBody>
        </p:sp>
      </p:grpSp>
      <p:sp>
        <p:nvSpPr>
          <p:cNvPr id="12" name="Freeform 12"/>
          <p:cNvSpPr/>
          <p:nvPr/>
        </p:nvSpPr>
        <p:spPr>
          <a:xfrm>
            <a:off x="15730039"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4"/>
                </a:ext>
              </a:extLst>
            </a:blip>
            <a:stretch>
              <a:fillRect l="-25" r="-25"/>
            </a:stretch>
          </a:blipFill>
        </p:spPr>
        <p:txBody>
          <a:bodyPr/>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Freeform 2"/>
          <p:cNvSpPr/>
          <p:nvPr/>
        </p:nvSpPr>
        <p:spPr>
          <a:xfrm>
            <a:off x="15877629"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grpSp>
        <p:nvGrpSpPr>
          <p:cNvPr id="3" name="Group 3"/>
          <p:cNvGrpSpPr/>
          <p:nvPr/>
        </p:nvGrpSpPr>
        <p:grpSpPr>
          <a:xfrm>
            <a:off x="731631" y="404494"/>
            <a:ext cx="7781862" cy="1008470"/>
            <a:chOff x="0" y="0"/>
            <a:chExt cx="10375816" cy="1344626"/>
          </a:xfrm>
        </p:grpSpPr>
        <p:sp>
          <p:nvSpPr>
            <p:cNvPr id="4" name="Freeform 4"/>
            <p:cNvSpPr/>
            <p:nvPr/>
          </p:nvSpPr>
          <p:spPr>
            <a:xfrm>
              <a:off x="0" y="0"/>
              <a:ext cx="10375816" cy="1344626"/>
            </a:xfrm>
            <a:custGeom>
              <a:avLst/>
              <a:gdLst/>
              <a:ahLst/>
              <a:cxnLst/>
              <a:rect l="l" t="t" r="r" b="b"/>
              <a:pathLst>
                <a:path w="10375816" h="1344626">
                  <a:moveTo>
                    <a:pt x="0" y="0"/>
                  </a:moveTo>
                  <a:lnTo>
                    <a:pt x="10375816" y="0"/>
                  </a:lnTo>
                  <a:lnTo>
                    <a:pt x="10375816" y="1344626"/>
                  </a:lnTo>
                  <a:lnTo>
                    <a:pt x="0" y="1344626"/>
                  </a:lnTo>
                  <a:close/>
                </a:path>
              </a:pathLst>
            </a:custGeom>
            <a:solidFill>
              <a:srgbClr val="2B211A">
                <a:alpha val="0"/>
              </a:srgbClr>
            </a:solidFill>
          </p:spPr>
          <p:txBody>
            <a:bodyPr/>
            <a:lstStyle/>
            <a:p>
              <a:endParaRPr/>
            </a:p>
          </p:txBody>
        </p:sp>
        <p:sp>
          <p:nvSpPr>
            <p:cNvPr id="5" name="TextBox 5"/>
            <p:cNvSpPr txBox="1"/>
            <p:nvPr/>
          </p:nvSpPr>
          <p:spPr>
            <a:xfrm>
              <a:off x="0" y="-19050"/>
              <a:ext cx="10375816" cy="1363676"/>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INTRODUCTION</a:t>
              </a:r>
            </a:p>
          </p:txBody>
        </p:sp>
      </p:grpSp>
      <p:grpSp>
        <p:nvGrpSpPr>
          <p:cNvPr id="6" name="Group 6"/>
          <p:cNvGrpSpPr/>
          <p:nvPr/>
        </p:nvGrpSpPr>
        <p:grpSpPr>
          <a:xfrm>
            <a:off x="731631" y="1541552"/>
            <a:ext cx="4421219" cy="38100"/>
            <a:chOff x="0" y="0"/>
            <a:chExt cx="5894959" cy="50800"/>
          </a:xfrm>
        </p:grpSpPr>
        <p:sp>
          <p:nvSpPr>
            <p:cNvPr id="7" name="Freeform 7"/>
            <p:cNvSpPr/>
            <p:nvPr/>
          </p:nvSpPr>
          <p:spPr>
            <a:xfrm>
              <a:off x="0" y="0"/>
              <a:ext cx="5894959" cy="50800"/>
            </a:xfrm>
            <a:custGeom>
              <a:avLst/>
              <a:gdLst/>
              <a:ahLst/>
              <a:cxnLst/>
              <a:rect l="l" t="t" r="r" b="b"/>
              <a:pathLst>
                <a:path w="5894959" h="50800">
                  <a:moveTo>
                    <a:pt x="0" y="0"/>
                  </a:moveTo>
                  <a:lnTo>
                    <a:pt x="5894959" y="0"/>
                  </a:lnTo>
                  <a:lnTo>
                    <a:pt x="5894959" y="50800"/>
                  </a:lnTo>
                  <a:lnTo>
                    <a:pt x="0" y="50800"/>
                  </a:lnTo>
                  <a:close/>
                </a:path>
              </a:pathLst>
            </a:custGeom>
            <a:solidFill>
              <a:srgbClr val="A8917A"/>
            </a:solidFill>
          </p:spPr>
          <p:txBody>
            <a:bodyPr/>
            <a:lstStyle/>
            <a:p>
              <a:endParaRPr/>
            </a:p>
          </p:txBody>
        </p:sp>
      </p:grpSp>
      <p:grpSp>
        <p:nvGrpSpPr>
          <p:cNvPr id="8" name="Group 8"/>
          <p:cNvGrpSpPr/>
          <p:nvPr/>
        </p:nvGrpSpPr>
        <p:grpSpPr>
          <a:xfrm>
            <a:off x="941800" y="2183300"/>
            <a:ext cx="14935829" cy="10036952"/>
            <a:chOff x="0" y="0"/>
            <a:chExt cx="19914439" cy="13382602"/>
          </a:xfrm>
        </p:grpSpPr>
        <p:sp>
          <p:nvSpPr>
            <p:cNvPr id="9" name="Freeform 9"/>
            <p:cNvSpPr/>
            <p:nvPr/>
          </p:nvSpPr>
          <p:spPr>
            <a:xfrm>
              <a:off x="0" y="0"/>
              <a:ext cx="19914439" cy="13382602"/>
            </a:xfrm>
            <a:custGeom>
              <a:avLst/>
              <a:gdLst/>
              <a:ahLst/>
              <a:cxnLst/>
              <a:rect l="l" t="t" r="r" b="b"/>
              <a:pathLst>
                <a:path w="19914439" h="13382602">
                  <a:moveTo>
                    <a:pt x="0" y="0"/>
                  </a:moveTo>
                  <a:lnTo>
                    <a:pt x="19914439" y="0"/>
                  </a:lnTo>
                  <a:lnTo>
                    <a:pt x="19914439" y="13382602"/>
                  </a:lnTo>
                  <a:lnTo>
                    <a:pt x="0" y="13382602"/>
                  </a:lnTo>
                  <a:close/>
                </a:path>
              </a:pathLst>
            </a:custGeom>
            <a:solidFill>
              <a:srgbClr val="2B211A">
                <a:alpha val="0"/>
              </a:srgbClr>
            </a:solidFill>
          </p:spPr>
          <p:txBody>
            <a:bodyPr/>
            <a:lstStyle/>
            <a:p>
              <a:endParaRPr/>
            </a:p>
          </p:txBody>
        </p:sp>
        <p:sp>
          <p:nvSpPr>
            <p:cNvPr id="10" name="TextBox 10"/>
            <p:cNvSpPr txBox="1"/>
            <p:nvPr/>
          </p:nvSpPr>
          <p:spPr>
            <a:xfrm>
              <a:off x="0" y="-171450"/>
              <a:ext cx="19914439" cy="13554052"/>
            </a:xfrm>
            <a:prstGeom prst="rect">
              <a:avLst/>
            </a:prstGeom>
          </p:spPr>
          <p:txBody>
            <a:bodyPr lIns="0" tIns="0" rIns="0" bIns="0" rtlCol="0" anchor="t"/>
            <a:lstStyle/>
            <a:p>
              <a:pPr algn="just">
                <a:lnSpc>
                  <a:spcPts val="4553"/>
                </a:lnSpc>
              </a:pPr>
              <a:r>
                <a:rPr lang="en-US" sz="1800" dirty="0">
                  <a:solidFill>
                    <a:srgbClr val="2B211A"/>
                  </a:solidFill>
                  <a:latin typeface="Times New Roman"/>
                  <a:ea typeface="Times New Roman"/>
                  <a:cs typeface="Times New Roman"/>
                  <a:sym typeface="Times New Roman"/>
                </a:rPr>
                <a:t>      Temples and pilgrimage centres in India receive thousands of devotees every day, and the number multiplies during festivals and auspicious days. Entry is usually regulated manually with physical queue lines and barricades, so devotees have no way of knowing how long they must wait or which gate is less crowded. This results in waiting times of several hours, congestion at entry points, discomfort for elderly devotees and children, and in extreme cases serious safety risks such as stampedes. Temple administrators also lack a live picture of how many devotees are present in each zone, which makes it difficult to open extra counters or redirect the flow before congestion builds. This project addresses these problems by developing a slot-based virtual queue system with QR-verified entry, real-time queue status and predictive crowd analytics, so that devotees wait comfortably instead of standing in long physical lines.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327270996"/>
              </p:ext>
            </p:extLst>
          </p:nvPr>
        </p:nvGraphicFramePr>
        <p:xfrm>
          <a:off x="1371600" y="876300"/>
          <a:ext cx="16167099" cy="7040880"/>
        </p:xfrm>
        <a:graphic>
          <a:graphicData uri="http://schemas.openxmlformats.org/drawingml/2006/table">
            <a:tbl>
              <a:tblPr/>
              <a:tblGrid>
                <a:gridCol w="2021083">
                  <a:extLst>
                    <a:ext uri="{9D8B030D-6E8A-4147-A177-3AD203B41FA5}">
                      <a16:colId xmlns:a16="http://schemas.microsoft.com/office/drawing/2014/main" val="20000"/>
                    </a:ext>
                  </a:extLst>
                </a:gridCol>
                <a:gridCol w="2665280">
                  <a:extLst>
                    <a:ext uri="{9D8B030D-6E8A-4147-A177-3AD203B41FA5}">
                      <a16:colId xmlns:a16="http://schemas.microsoft.com/office/drawing/2014/main" val="20001"/>
                    </a:ext>
                  </a:extLst>
                </a:gridCol>
                <a:gridCol w="3582989">
                  <a:extLst>
                    <a:ext uri="{9D8B030D-6E8A-4147-A177-3AD203B41FA5}">
                      <a16:colId xmlns:a16="http://schemas.microsoft.com/office/drawing/2014/main" val="20002"/>
                    </a:ext>
                  </a:extLst>
                </a:gridCol>
                <a:gridCol w="3916195">
                  <a:extLst>
                    <a:ext uri="{9D8B030D-6E8A-4147-A177-3AD203B41FA5}">
                      <a16:colId xmlns:a16="http://schemas.microsoft.com/office/drawing/2014/main" val="20003"/>
                    </a:ext>
                  </a:extLst>
                </a:gridCol>
                <a:gridCol w="3981552">
                  <a:extLst>
                    <a:ext uri="{9D8B030D-6E8A-4147-A177-3AD203B41FA5}">
                      <a16:colId xmlns:a16="http://schemas.microsoft.com/office/drawing/2014/main" val="20004"/>
                    </a:ext>
                  </a:extLst>
                </a:gridCol>
              </a:tblGrid>
              <a:tr h="1005840">
                <a:tc>
                  <a:txBody>
                    <a:bodyPr/>
                    <a:lstStyle/>
                    <a:p>
                      <a:pPr algn="l">
                        <a:lnSpc>
                          <a:spcPts val="2800"/>
                        </a:lnSpc>
                      </a:pPr>
                      <a:r>
                        <a:rPr lang="en-US" sz="1800" b="1" dirty="0">
                          <a:solidFill>
                            <a:srgbClr val="2B211A"/>
                          </a:solidFill>
                          <a:latin typeface="Times New Roman"/>
                          <a:ea typeface="Times New Roman"/>
                          <a:cs typeface="Times New Roman"/>
                          <a:sym typeface="Times New Roman"/>
                        </a:rPr>
                        <a:t>  AUTHOR</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pPr>
                      <a:r>
                        <a:rPr lang="en-US" sz="1800" b="1">
                          <a:solidFill>
                            <a:srgbClr val="2B211A"/>
                          </a:solidFill>
                          <a:latin typeface="Times New Roman"/>
                          <a:ea typeface="Times New Roman"/>
                          <a:cs typeface="Times New Roman"/>
                          <a:sym typeface="Times New Roman"/>
                        </a:rPr>
                        <a:t>  YEAR OF PUBLICATION</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pPr>
                      <a:r>
                        <a:rPr lang="en-US" sz="1800" b="1" dirty="0">
                          <a:solidFill>
                            <a:srgbClr val="2B211A"/>
                          </a:solidFill>
                          <a:latin typeface="Times New Roman"/>
                          <a:ea typeface="Times New Roman"/>
                          <a:cs typeface="Times New Roman"/>
                          <a:sym typeface="Times New Roman"/>
                        </a:rPr>
                        <a:t>  DESCRIPTION</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pPr>
                      <a:r>
                        <a:rPr lang="en-US" sz="1800" b="1" dirty="0">
                          <a:solidFill>
                            <a:srgbClr val="2B211A"/>
                          </a:solidFill>
                          <a:latin typeface="Times New Roman"/>
                          <a:ea typeface="Times New Roman"/>
                          <a:cs typeface="Times New Roman"/>
                          <a:sym typeface="Times New Roman"/>
                        </a:rPr>
                        <a:t>  PROS</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pPr>
                      <a:r>
                        <a:rPr lang="en-US" sz="1800" b="1">
                          <a:solidFill>
                            <a:srgbClr val="2B211A"/>
                          </a:solidFill>
                          <a:latin typeface="Times New Roman"/>
                          <a:ea typeface="Times New Roman"/>
                          <a:cs typeface="Times New Roman"/>
                          <a:sym typeface="Times New Roman"/>
                        </a:rPr>
                        <a:t>  CONS</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extLst>
                  <a:ext uri="{0D108BD9-81ED-4DB2-BD59-A6C34878D82A}">
                    <a16:rowId xmlns:a16="http://schemas.microsoft.com/office/drawing/2014/main" val="10000"/>
                  </a:ext>
                </a:extLst>
              </a:tr>
              <a:tr h="2011680">
                <a:tc>
                  <a:txBody>
                    <a:bodyPr/>
                    <a:lstStyle/>
                    <a:p>
                      <a:pPr algn="l">
                        <a:lnSpc>
                          <a:spcPts val="2800"/>
                        </a:lnSpc>
                      </a:pPr>
                      <a:r>
                        <a:rPr lang="en-US" sz="1800" b="0">
                          <a:solidFill>
                            <a:srgbClr val="2B211A"/>
                          </a:solidFill>
                          <a:latin typeface="Times New Roman"/>
                          <a:ea typeface="Times New Roman"/>
                          <a:cs typeface="Times New Roman"/>
                          <a:sym typeface="Times New Roman"/>
                        </a:rPr>
                        <a:t>Bhuiyan et al.</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pPr>
                      <a:r>
                        <a:rPr lang="en-US" sz="1800" b="0" dirty="0">
                          <a:solidFill>
                            <a:srgbClr val="2B211A"/>
                          </a:solidFill>
                          <a:latin typeface="Times New Roman"/>
                          <a:ea typeface="Times New Roman"/>
                          <a:cs typeface="Times New Roman"/>
                          <a:sym typeface="Times New Roman"/>
                        </a:rPr>
                        <a:t>2022</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a:solidFill>
                            <a:srgbClr val="2B211A"/>
                          </a:solidFill>
                          <a:latin typeface="Times New Roman"/>
                          <a:ea typeface="Times New Roman"/>
                          <a:cs typeface="Times New Roman"/>
                          <a:sym typeface="Times New Roman"/>
                        </a:rPr>
                        <a:t>Applied a CNN-based crowd counting model to Hajj pilgrimage video footage to estimate density in very dense gatherings.</a:t>
                      </a:r>
                      <a:endParaRPr lang="en-US" sz="180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a:solidFill>
                            <a:srgbClr val="2B211A"/>
                          </a:solidFill>
                          <a:latin typeface="Times New Roman"/>
                          <a:ea typeface="Times New Roman"/>
                          <a:cs typeface="Times New Roman"/>
                          <a:sym typeface="Times New Roman"/>
                        </a:rPr>
                        <a:t>Measures crowd density automatically, without any manual head counting.</a:t>
                      </a:r>
                      <a:endParaRPr lang="en-US" sz="180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a:solidFill>
                            <a:srgbClr val="2B211A"/>
                          </a:solidFill>
                          <a:latin typeface="Times New Roman"/>
                          <a:ea typeface="Times New Roman"/>
                          <a:cs typeface="Times New Roman"/>
                          <a:sym typeface="Times New Roman"/>
                        </a:rPr>
                        <a:t>Needs dense camera coverage and GPU hardware; reports density, not individual waiting time.</a:t>
                      </a:r>
                      <a:endParaRPr lang="en-US" sz="180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extLst>
                  <a:ext uri="{0D108BD9-81ED-4DB2-BD59-A6C34878D82A}">
                    <a16:rowId xmlns:a16="http://schemas.microsoft.com/office/drawing/2014/main" val="10001"/>
                  </a:ext>
                </a:extLst>
              </a:tr>
              <a:tr h="2011680">
                <a:tc>
                  <a:txBody>
                    <a:bodyPr/>
                    <a:lstStyle/>
                    <a:p>
                      <a:pPr algn="l">
                        <a:lnSpc>
                          <a:spcPts val="2800"/>
                        </a:lnSpc>
                      </a:pPr>
                      <a:r>
                        <a:rPr lang="en-US" sz="1800" b="0">
                          <a:solidFill>
                            <a:srgbClr val="2B211A"/>
                          </a:solidFill>
                          <a:latin typeface="Times New Roman"/>
                          <a:ea typeface="Times New Roman"/>
                          <a:cs typeface="Times New Roman"/>
                          <a:sym typeface="Times New Roman"/>
                        </a:rPr>
                        <a:t>Kawade et al.</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pPr>
                      <a:r>
                        <a:rPr lang="en-US" sz="1800" b="0">
                          <a:solidFill>
                            <a:srgbClr val="2B211A"/>
                          </a:solidFill>
                          <a:latin typeface="Times New Roman"/>
                          <a:ea typeface="Times New Roman"/>
                          <a:cs typeface="Times New Roman"/>
                          <a:sym typeface="Times New Roman"/>
                        </a:rPr>
                        <a:t>2025</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a:solidFill>
                            <a:srgbClr val="2B211A"/>
                          </a:solidFill>
                          <a:latin typeface="Times New Roman"/>
                          <a:ea typeface="Times New Roman"/>
                          <a:cs typeface="Times New Roman"/>
                          <a:sym typeface="Times New Roman"/>
                        </a:rPr>
                        <a:t>Proposed an IoT-based temple crowd management system using IR, ultrasonic and air-quality sensors with servo-controlled gates.</a:t>
                      </a:r>
                      <a:endParaRPr lang="en-US" sz="180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a:solidFill>
                            <a:srgbClr val="2B211A"/>
                          </a:solidFill>
                          <a:latin typeface="Times New Roman"/>
                          <a:ea typeface="Times New Roman"/>
                          <a:cs typeface="Times New Roman"/>
                          <a:sym typeface="Times New Roman"/>
                        </a:rPr>
                        <a:t>Monitors devotee flow and congestion at each gate in real time.</a:t>
                      </a:r>
                      <a:endParaRPr lang="en-US" sz="180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a:solidFill>
                            <a:srgbClr val="2B211A"/>
                          </a:solidFill>
                          <a:latin typeface="Times New Roman"/>
                          <a:ea typeface="Times New Roman"/>
                          <a:cs typeface="Times New Roman"/>
                          <a:sym typeface="Times New Roman"/>
                        </a:rPr>
                        <a:t>Requires sensor hardware at every gate; gives devotees no queue position or advance slot booking.</a:t>
                      </a:r>
                      <a:endParaRPr lang="en-US" sz="180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extLst>
                  <a:ext uri="{0D108BD9-81ED-4DB2-BD59-A6C34878D82A}">
                    <a16:rowId xmlns:a16="http://schemas.microsoft.com/office/drawing/2014/main" val="10002"/>
                  </a:ext>
                </a:extLst>
              </a:tr>
              <a:tr h="2011680">
                <a:tc>
                  <a:txBody>
                    <a:bodyPr/>
                    <a:lstStyle/>
                    <a:p>
                      <a:pPr algn="l">
                        <a:lnSpc>
                          <a:spcPts val="2800"/>
                        </a:lnSpc>
                      </a:pPr>
                      <a:r>
                        <a:rPr lang="en-US" sz="1800" b="0">
                          <a:solidFill>
                            <a:srgbClr val="2B211A"/>
                          </a:solidFill>
                          <a:latin typeface="Times New Roman"/>
                          <a:ea typeface="Times New Roman"/>
                          <a:cs typeface="Times New Roman"/>
                          <a:sym typeface="Times New Roman"/>
                        </a:rPr>
                        <a:t>Dinesh Reddy et al.</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pPr>
                      <a:r>
                        <a:rPr lang="en-US" sz="1800" b="0">
                          <a:solidFill>
                            <a:srgbClr val="2B211A"/>
                          </a:solidFill>
                          <a:latin typeface="Times New Roman"/>
                          <a:ea typeface="Times New Roman"/>
                          <a:cs typeface="Times New Roman"/>
                          <a:sym typeface="Times New Roman"/>
                        </a:rPr>
                        <a:t>2026</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a:solidFill>
                            <a:srgbClr val="2B211A"/>
                          </a:solidFill>
                          <a:latin typeface="Times New Roman"/>
                          <a:ea typeface="Times New Roman"/>
                          <a:cs typeface="Times New Roman"/>
                          <a:sym typeface="Times New Roman"/>
                        </a:rPr>
                        <a:t>Developed a smart slot-based darshan management system with QR-verified time slots and predictive analytics for administrators.</a:t>
                      </a:r>
                      <a:endParaRPr lang="en-US" sz="180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dirty="0">
                          <a:solidFill>
                            <a:srgbClr val="2B211A"/>
                          </a:solidFill>
                          <a:latin typeface="Times New Roman"/>
                          <a:ea typeface="Times New Roman"/>
                          <a:cs typeface="Times New Roman"/>
                          <a:sym typeface="Times New Roman"/>
                        </a:rPr>
                        <a:t>Spreads arrivals across booked slots and reduces physical queueing.</a:t>
                      </a:r>
                      <a:endParaRPr lang="en-US" sz="1800" dirty="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dirty="0">
                          <a:solidFill>
                            <a:srgbClr val="2B211A"/>
                          </a:solidFill>
                          <a:latin typeface="Times New Roman"/>
                          <a:ea typeface="Times New Roman"/>
                          <a:cs typeface="Times New Roman"/>
                          <a:sym typeface="Times New Roman"/>
                        </a:rPr>
                        <a:t>Depends on smartphone access; no live gate-level counting to update waiting time continuously.</a:t>
                      </a:r>
                      <a:endParaRPr lang="en-US" sz="1800" dirty="0"/>
                    </a:p>
                    <a:p>
                      <a:pPr algn="l">
                        <a:lnSpc>
                          <a:spcPts val="2800"/>
                        </a:lnSpc>
                      </a:pPr>
                      <a:endParaRPr lang="en-US" sz="1800" dirty="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pSp>
        <p:nvGrpSpPr>
          <p:cNvPr id="3" name="Group 3"/>
          <p:cNvGrpSpPr/>
          <p:nvPr/>
        </p:nvGrpSpPr>
        <p:grpSpPr>
          <a:xfrm>
            <a:off x="672126" y="212031"/>
            <a:ext cx="7557474" cy="511869"/>
            <a:chOff x="0" y="0"/>
            <a:chExt cx="10375816" cy="1300842"/>
          </a:xfrm>
        </p:grpSpPr>
        <p:sp>
          <p:nvSpPr>
            <p:cNvPr id="4" name="Freeform 4"/>
            <p:cNvSpPr/>
            <p:nvPr/>
          </p:nvSpPr>
          <p:spPr>
            <a:xfrm>
              <a:off x="0" y="0"/>
              <a:ext cx="10375816" cy="1300842"/>
            </a:xfrm>
            <a:custGeom>
              <a:avLst/>
              <a:gdLst/>
              <a:ahLst/>
              <a:cxnLst/>
              <a:rect l="l" t="t" r="r" b="b"/>
              <a:pathLst>
                <a:path w="10375816" h="1300842">
                  <a:moveTo>
                    <a:pt x="0" y="0"/>
                  </a:moveTo>
                  <a:lnTo>
                    <a:pt x="10375816" y="0"/>
                  </a:lnTo>
                  <a:lnTo>
                    <a:pt x="10375816" y="1300842"/>
                  </a:lnTo>
                  <a:lnTo>
                    <a:pt x="0" y="1300842"/>
                  </a:lnTo>
                  <a:close/>
                </a:path>
              </a:pathLst>
            </a:custGeom>
            <a:solidFill>
              <a:srgbClr val="2B211A">
                <a:alpha val="0"/>
              </a:srgbClr>
            </a:solidFill>
          </p:spPr>
          <p:txBody>
            <a:bodyPr/>
            <a:lstStyle/>
            <a:p>
              <a:endParaRPr/>
            </a:p>
          </p:txBody>
        </p:sp>
        <p:sp>
          <p:nvSpPr>
            <p:cNvPr id="5" name="TextBox 5"/>
            <p:cNvSpPr txBox="1"/>
            <p:nvPr/>
          </p:nvSpPr>
          <p:spPr>
            <a:xfrm>
              <a:off x="0" y="-19050"/>
              <a:ext cx="10375816" cy="1319892"/>
            </a:xfrm>
            <a:prstGeom prst="rect">
              <a:avLst/>
            </a:prstGeom>
          </p:spPr>
          <p:txBody>
            <a:bodyPr lIns="0" tIns="0" rIns="0" bIns="0" rtlCol="0" anchor="t"/>
            <a:lstStyle/>
            <a:p>
              <a:pPr algn="l">
                <a:lnSpc>
                  <a:spcPts val="4369"/>
                </a:lnSpc>
              </a:pPr>
              <a:r>
                <a:rPr lang="en-US" sz="2800" b="1">
                  <a:solidFill>
                    <a:srgbClr val="7C2D12"/>
                  </a:solidFill>
                  <a:latin typeface="Times New Roman"/>
                  <a:ea typeface="Times New Roman"/>
                  <a:cs typeface="Times New Roman"/>
                  <a:sym typeface="Times New Roman"/>
                </a:rPr>
                <a:t>LITERATURE SURVEY :</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Freeform 2"/>
          <p:cNvSpPr/>
          <p:nvPr/>
        </p:nvSpPr>
        <p:spPr>
          <a:xfrm>
            <a:off x="15009623" y="-148536"/>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grpSp>
        <p:nvGrpSpPr>
          <p:cNvPr id="3" name="Group 3"/>
          <p:cNvGrpSpPr/>
          <p:nvPr/>
        </p:nvGrpSpPr>
        <p:grpSpPr>
          <a:xfrm>
            <a:off x="731631" y="404494"/>
            <a:ext cx="7781862" cy="1047170"/>
            <a:chOff x="0" y="0"/>
            <a:chExt cx="10375816" cy="1396226"/>
          </a:xfrm>
        </p:grpSpPr>
        <p:sp>
          <p:nvSpPr>
            <p:cNvPr id="4" name="Freeform 4"/>
            <p:cNvSpPr/>
            <p:nvPr/>
          </p:nvSpPr>
          <p:spPr>
            <a:xfrm>
              <a:off x="0" y="0"/>
              <a:ext cx="10375816" cy="1396226"/>
            </a:xfrm>
            <a:custGeom>
              <a:avLst/>
              <a:gdLst/>
              <a:ahLst/>
              <a:cxnLst/>
              <a:rect l="l" t="t" r="r" b="b"/>
              <a:pathLst>
                <a:path w="10375816" h="1396226">
                  <a:moveTo>
                    <a:pt x="0" y="0"/>
                  </a:moveTo>
                  <a:lnTo>
                    <a:pt x="10375816" y="0"/>
                  </a:lnTo>
                  <a:lnTo>
                    <a:pt x="10375816" y="1396226"/>
                  </a:lnTo>
                  <a:lnTo>
                    <a:pt x="0" y="1396226"/>
                  </a:lnTo>
                  <a:close/>
                </a:path>
              </a:pathLst>
            </a:custGeom>
            <a:solidFill>
              <a:srgbClr val="2B211A">
                <a:alpha val="0"/>
              </a:srgbClr>
            </a:solidFill>
          </p:spPr>
          <p:txBody>
            <a:bodyPr/>
            <a:lstStyle/>
            <a:p>
              <a:endParaRPr/>
            </a:p>
          </p:txBody>
        </p:sp>
        <p:sp>
          <p:nvSpPr>
            <p:cNvPr id="5" name="TextBox 5"/>
            <p:cNvSpPr txBox="1"/>
            <p:nvPr/>
          </p:nvSpPr>
          <p:spPr>
            <a:xfrm>
              <a:off x="0" y="-19050"/>
              <a:ext cx="10375816" cy="1415276"/>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EXISTING SYSTEM :</a:t>
              </a:r>
            </a:p>
          </p:txBody>
        </p:sp>
      </p:grpSp>
      <p:grpSp>
        <p:nvGrpSpPr>
          <p:cNvPr id="6" name="Group 6"/>
          <p:cNvGrpSpPr/>
          <p:nvPr/>
        </p:nvGrpSpPr>
        <p:grpSpPr>
          <a:xfrm>
            <a:off x="731631" y="1671852"/>
            <a:ext cx="4950523" cy="38100"/>
            <a:chOff x="0" y="0"/>
            <a:chExt cx="6600697" cy="50800"/>
          </a:xfrm>
        </p:grpSpPr>
        <p:sp>
          <p:nvSpPr>
            <p:cNvPr id="7" name="Freeform 7"/>
            <p:cNvSpPr/>
            <p:nvPr/>
          </p:nvSpPr>
          <p:spPr>
            <a:xfrm>
              <a:off x="0" y="0"/>
              <a:ext cx="6600698" cy="50800"/>
            </a:xfrm>
            <a:custGeom>
              <a:avLst/>
              <a:gdLst/>
              <a:ahLst/>
              <a:cxnLst/>
              <a:rect l="l" t="t" r="r" b="b"/>
              <a:pathLst>
                <a:path w="6600698" h="50800">
                  <a:moveTo>
                    <a:pt x="0" y="0"/>
                  </a:moveTo>
                  <a:lnTo>
                    <a:pt x="6600698" y="0"/>
                  </a:lnTo>
                  <a:lnTo>
                    <a:pt x="6600698" y="50800"/>
                  </a:lnTo>
                  <a:lnTo>
                    <a:pt x="0" y="50800"/>
                  </a:lnTo>
                  <a:close/>
                </a:path>
              </a:pathLst>
            </a:custGeom>
            <a:solidFill>
              <a:srgbClr val="A8917A"/>
            </a:solidFill>
          </p:spPr>
          <p:txBody>
            <a:bodyPr/>
            <a:lstStyle/>
            <a:p>
              <a:endParaRPr/>
            </a:p>
          </p:txBody>
        </p:sp>
      </p:grpSp>
      <p:grpSp>
        <p:nvGrpSpPr>
          <p:cNvPr id="8" name="Group 8"/>
          <p:cNvGrpSpPr/>
          <p:nvPr/>
        </p:nvGrpSpPr>
        <p:grpSpPr>
          <a:xfrm>
            <a:off x="951277" y="2229631"/>
            <a:ext cx="14058346" cy="8201789"/>
            <a:chOff x="0" y="0"/>
            <a:chExt cx="18744461" cy="10935719"/>
          </a:xfrm>
        </p:grpSpPr>
        <p:sp>
          <p:nvSpPr>
            <p:cNvPr id="9" name="Freeform 9"/>
            <p:cNvSpPr/>
            <p:nvPr/>
          </p:nvSpPr>
          <p:spPr>
            <a:xfrm>
              <a:off x="0" y="0"/>
              <a:ext cx="18744462" cy="10935719"/>
            </a:xfrm>
            <a:custGeom>
              <a:avLst/>
              <a:gdLst/>
              <a:ahLst/>
              <a:cxnLst/>
              <a:rect l="l" t="t" r="r" b="b"/>
              <a:pathLst>
                <a:path w="18744462" h="10935719">
                  <a:moveTo>
                    <a:pt x="0" y="0"/>
                  </a:moveTo>
                  <a:lnTo>
                    <a:pt x="18744462" y="0"/>
                  </a:lnTo>
                  <a:lnTo>
                    <a:pt x="18744462" y="10935719"/>
                  </a:lnTo>
                  <a:lnTo>
                    <a:pt x="0" y="10935719"/>
                  </a:lnTo>
                  <a:close/>
                </a:path>
              </a:pathLst>
            </a:custGeom>
            <a:solidFill>
              <a:srgbClr val="2B211A">
                <a:alpha val="0"/>
              </a:srgbClr>
            </a:solidFill>
          </p:spPr>
          <p:txBody>
            <a:bodyPr/>
            <a:lstStyle/>
            <a:p>
              <a:endParaRPr/>
            </a:p>
          </p:txBody>
        </p:sp>
        <p:sp>
          <p:nvSpPr>
            <p:cNvPr id="10" name="TextBox 10"/>
            <p:cNvSpPr txBox="1"/>
            <p:nvPr/>
          </p:nvSpPr>
          <p:spPr>
            <a:xfrm>
              <a:off x="0" y="-171450"/>
              <a:ext cx="18744461" cy="11107169"/>
            </a:xfrm>
            <a:prstGeom prst="rect">
              <a:avLst/>
            </a:prstGeom>
          </p:spPr>
          <p:txBody>
            <a:bodyPr lIns="0" tIns="0" rIns="0" bIns="0" rtlCol="0" anchor="t"/>
            <a:lstStyle/>
            <a:p>
              <a:pPr algn="just">
                <a:lnSpc>
                  <a:spcPts val="4552"/>
                </a:lnSpc>
              </a:pPr>
              <a:r>
                <a:rPr lang="en-US" sz="1800" dirty="0">
                  <a:solidFill>
                    <a:srgbClr val="2B211A"/>
                  </a:solidFill>
                  <a:latin typeface="Times New Roman"/>
                  <a:ea typeface="Times New Roman"/>
                  <a:cs typeface="Times New Roman"/>
                  <a:sym typeface="Times New Roman"/>
                </a:rPr>
                <a:t>               Crowd handling at most temples today is manual. Devotees stand in physical queue lines regulated by staff and barricades, and entry is controlled by opening or closing gates as the crowd builds up. Some large temples issue paper tokens at a counter, and a few offer online portals that only confirm a darshan date and time.</a:t>
              </a:r>
            </a:p>
            <a:p>
              <a:pPr algn="just">
                <a:lnSpc>
                  <a:spcPts val="4552"/>
                </a:lnSpc>
              </a:pPr>
              <a:r>
                <a:rPr lang="en-US" sz="1800" dirty="0">
                  <a:solidFill>
                    <a:srgbClr val="2B211A"/>
                  </a:solidFill>
                  <a:latin typeface="Times New Roman"/>
                  <a:ea typeface="Times New Roman"/>
                  <a:cs typeface="Times New Roman"/>
                  <a:sym typeface="Times New Roman"/>
                </a:rPr>
                <a:t>   The commonly used approaches are:</a:t>
              </a:r>
            </a:p>
            <a:p>
              <a:pPr marL="525431" lvl="2" indent="-175144" algn="just">
                <a:lnSpc>
                  <a:spcPts val="4552"/>
                </a:lnSpc>
                <a:buFont typeface="Arial"/>
                <a:buChar char="⚬"/>
              </a:pPr>
              <a:r>
                <a:rPr lang="en-US" sz="1800" dirty="0">
                  <a:solidFill>
                    <a:srgbClr val="2B211A"/>
                  </a:solidFill>
                  <a:latin typeface="Times New Roman"/>
                  <a:ea typeface="Times New Roman"/>
                  <a:cs typeface="Times New Roman"/>
                  <a:sym typeface="Times New Roman"/>
                </a:rPr>
                <a:t>Manual queue and barricade management – Staff physically regulate devotee flow, but decisions are reactive and depend on individual judgement.</a:t>
              </a:r>
            </a:p>
            <a:p>
              <a:pPr marL="525431" lvl="2" indent="-175144" algn="just">
                <a:lnSpc>
                  <a:spcPts val="4552"/>
                </a:lnSpc>
                <a:buFont typeface="Arial"/>
                <a:buChar char="⚬"/>
              </a:pPr>
              <a:r>
                <a:rPr lang="en-US" sz="1800" dirty="0">
                  <a:solidFill>
                    <a:srgbClr val="2B211A"/>
                  </a:solidFill>
                  <a:latin typeface="Times New Roman"/>
                  <a:ea typeface="Times New Roman"/>
                  <a:cs typeface="Times New Roman"/>
                  <a:sym typeface="Times New Roman"/>
                </a:rPr>
                <a:t>Counter-issued paper tokens – Devotees collect a token at the temple itself, which still requires them to travel early and wait on site.</a:t>
              </a:r>
            </a:p>
            <a:p>
              <a:pPr marL="525431" lvl="2" indent="-175144" algn="just">
                <a:lnSpc>
                  <a:spcPts val="4552"/>
                </a:lnSpc>
                <a:buFont typeface="Arial"/>
                <a:buChar char="⚬"/>
              </a:pPr>
              <a:r>
                <a:rPr lang="en-US" sz="1800" dirty="0">
                  <a:solidFill>
                    <a:srgbClr val="2B211A"/>
                  </a:solidFill>
                  <a:latin typeface="Times New Roman"/>
                  <a:ea typeface="Times New Roman"/>
                  <a:cs typeface="Times New Roman"/>
                  <a:sym typeface="Times New Roman"/>
                </a:rPr>
                <a:t>Online slot booking portals – Allow advance booking of a date and time, but give no live queue position or updated waiting time.</a:t>
              </a:r>
            </a:p>
            <a:p>
              <a:pPr marL="525431" lvl="2" indent="-175144" algn="just">
                <a:lnSpc>
                  <a:spcPts val="4552"/>
                </a:lnSpc>
                <a:buFont typeface="Arial"/>
                <a:buChar char="⚬"/>
              </a:pPr>
              <a:r>
                <a:rPr lang="en-US" sz="1800" dirty="0">
                  <a:solidFill>
                    <a:srgbClr val="2B211A"/>
                  </a:solidFill>
                  <a:latin typeface="Times New Roman"/>
                  <a:ea typeface="Times New Roman"/>
                  <a:cs typeface="Times New Roman"/>
                  <a:sym typeface="Times New Roman"/>
                </a:rPr>
                <a:t>CCTV-based visual monitoring – Staff watch camera feeds to judge congestion manually, without any automatic counting or alerting.</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grpSp>
        <p:nvGrpSpPr>
          <p:cNvPr id="2" name="Group 2"/>
          <p:cNvGrpSpPr/>
          <p:nvPr/>
        </p:nvGrpSpPr>
        <p:grpSpPr>
          <a:xfrm>
            <a:off x="731631" y="559797"/>
            <a:ext cx="7781862" cy="1047170"/>
            <a:chOff x="0" y="0"/>
            <a:chExt cx="10375816" cy="1396226"/>
          </a:xfrm>
        </p:grpSpPr>
        <p:sp>
          <p:nvSpPr>
            <p:cNvPr id="3" name="Freeform 3"/>
            <p:cNvSpPr/>
            <p:nvPr/>
          </p:nvSpPr>
          <p:spPr>
            <a:xfrm>
              <a:off x="0" y="0"/>
              <a:ext cx="10375816" cy="1396226"/>
            </a:xfrm>
            <a:custGeom>
              <a:avLst/>
              <a:gdLst/>
              <a:ahLst/>
              <a:cxnLst/>
              <a:rect l="l" t="t" r="r" b="b"/>
              <a:pathLst>
                <a:path w="10375816" h="1396226">
                  <a:moveTo>
                    <a:pt x="0" y="0"/>
                  </a:moveTo>
                  <a:lnTo>
                    <a:pt x="10375816" y="0"/>
                  </a:lnTo>
                  <a:lnTo>
                    <a:pt x="10375816" y="1396226"/>
                  </a:lnTo>
                  <a:lnTo>
                    <a:pt x="0" y="1396226"/>
                  </a:lnTo>
                  <a:close/>
                </a:path>
              </a:pathLst>
            </a:custGeom>
            <a:solidFill>
              <a:srgbClr val="2B211A">
                <a:alpha val="0"/>
              </a:srgbClr>
            </a:solidFill>
          </p:spPr>
          <p:txBody>
            <a:bodyPr/>
            <a:lstStyle/>
            <a:p>
              <a:endParaRPr/>
            </a:p>
          </p:txBody>
        </p:sp>
        <p:sp>
          <p:nvSpPr>
            <p:cNvPr id="4" name="TextBox 4"/>
            <p:cNvSpPr txBox="1"/>
            <p:nvPr/>
          </p:nvSpPr>
          <p:spPr>
            <a:xfrm>
              <a:off x="0" y="-19050"/>
              <a:ext cx="10375816" cy="1415276"/>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DISADVANTAGES :</a:t>
              </a:r>
            </a:p>
          </p:txBody>
        </p:sp>
      </p:grpSp>
      <p:grpSp>
        <p:nvGrpSpPr>
          <p:cNvPr id="5" name="Group 5"/>
          <p:cNvGrpSpPr/>
          <p:nvPr/>
        </p:nvGrpSpPr>
        <p:grpSpPr>
          <a:xfrm>
            <a:off x="731631" y="1934387"/>
            <a:ext cx="4950523" cy="38100"/>
            <a:chOff x="0" y="0"/>
            <a:chExt cx="6600697" cy="50800"/>
          </a:xfrm>
        </p:grpSpPr>
        <p:sp>
          <p:nvSpPr>
            <p:cNvPr id="6" name="Freeform 6"/>
            <p:cNvSpPr/>
            <p:nvPr/>
          </p:nvSpPr>
          <p:spPr>
            <a:xfrm>
              <a:off x="0" y="0"/>
              <a:ext cx="6600698" cy="50800"/>
            </a:xfrm>
            <a:custGeom>
              <a:avLst/>
              <a:gdLst/>
              <a:ahLst/>
              <a:cxnLst/>
              <a:rect l="l" t="t" r="r" b="b"/>
              <a:pathLst>
                <a:path w="6600698" h="50800">
                  <a:moveTo>
                    <a:pt x="0" y="0"/>
                  </a:moveTo>
                  <a:lnTo>
                    <a:pt x="6600698" y="0"/>
                  </a:lnTo>
                  <a:lnTo>
                    <a:pt x="6600698" y="50800"/>
                  </a:lnTo>
                  <a:lnTo>
                    <a:pt x="0" y="50800"/>
                  </a:lnTo>
                  <a:close/>
                </a:path>
              </a:pathLst>
            </a:custGeom>
            <a:solidFill>
              <a:srgbClr val="A8917A"/>
            </a:solidFill>
          </p:spPr>
          <p:txBody>
            <a:bodyPr/>
            <a:lstStyle/>
            <a:p>
              <a:endParaRPr/>
            </a:p>
          </p:txBody>
        </p:sp>
      </p:grpSp>
      <p:grpSp>
        <p:nvGrpSpPr>
          <p:cNvPr id="7" name="Group 7"/>
          <p:cNvGrpSpPr/>
          <p:nvPr/>
        </p:nvGrpSpPr>
        <p:grpSpPr>
          <a:xfrm>
            <a:off x="731631" y="2526685"/>
            <a:ext cx="14302398" cy="5800725"/>
            <a:chOff x="0" y="0"/>
            <a:chExt cx="19069864" cy="7734300"/>
          </a:xfrm>
        </p:grpSpPr>
        <p:sp>
          <p:nvSpPr>
            <p:cNvPr id="8" name="Freeform 8"/>
            <p:cNvSpPr/>
            <p:nvPr/>
          </p:nvSpPr>
          <p:spPr>
            <a:xfrm>
              <a:off x="0" y="0"/>
              <a:ext cx="19069864" cy="7734300"/>
            </a:xfrm>
            <a:custGeom>
              <a:avLst/>
              <a:gdLst/>
              <a:ahLst/>
              <a:cxnLst/>
              <a:rect l="l" t="t" r="r" b="b"/>
              <a:pathLst>
                <a:path w="19069864" h="7734300">
                  <a:moveTo>
                    <a:pt x="0" y="0"/>
                  </a:moveTo>
                  <a:lnTo>
                    <a:pt x="19069864" y="0"/>
                  </a:lnTo>
                  <a:lnTo>
                    <a:pt x="19069864" y="7734300"/>
                  </a:lnTo>
                  <a:lnTo>
                    <a:pt x="0" y="7734300"/>
                  </a:lnTo>
                  <a:close/>
                </a:path>
              </a:pathLst>
            </a:custGeom>
            <a:solidFill>
              <a:srgbClr val="2B211A">
                <a:alpha val="0"/>
              </a:srgbClr>
            </a:solidFill>
          </p:spPr>
          <p:txBody>
            <a:bodyPr/>
            <a:lstStyle/>
            <a:p>
              <a:endParaRPr/>
            </a:p>
          </p:txBody>
        </p:sp>
        <p:sp>
          <p:nvSpPr>
            <p:cNvPr id="9" name="TextBox 9"/>
            <p:cNvSpPr txBox="1"/>
            <p:nvPr/>
          </p:nvSpPr>
          <p:spPr>
            <a:xfrm>
              <a:off x="0" y="-190500"/>
              <a:ext cx="19069864" cy="7924800"/>
            </a:xfrm>
            <a:prstGeom prst="rect">
              <a:avLst/>
            </a:prstGeom>
          </p:spPr>
          <p:txBody>
            <a:bodyPr lIns="0" tIns="0" rIns="0" bIns="0" rtlCol="0" anchor="t"/>
            <a:lstStyle/>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No Real-Time Queue Information – Devotees cannot see their queue position or expected waiting time, so they wait without any idea of how long it will take.</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Unplanned Crowd Distribution – Arrivals are not spread across the day, causing heavy congestion at peak hours while other hours remain under-used.</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Reactive Manual Control – Gate and counter decisions are taken by staff only after congestion has already built up, not before it occurs.</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Poor Accessibility and Safety – Elderly devotees, children and differently-abled visitors are forced to stand in long physical lines, increasing health and stampede risks.</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No Data for Planning – Footfall is not recorded digitally, so administrators have no reliable basis to forecast peak days or plan staff and counters.</a:t>
              </a:r>
            </a:p>
          </p:txBody>
        </p:sp>
      </p:grpSp>
      <p:sp>
        <p:nvSpPr>
          <p:cNvPr id="10" name="Freeform 10"/>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grpSp>
        <p:nvGrpSpPr>
          <p:cNvPr id="2" name="Group 2"/>
          <p:cNvGrpSpPr/>
          <p:nvPr/>
        </p:nvGrpSpPr>
        <p:grpSpPr>
          <a:xfrm>
            <a:off x="731631" y="476539"/>
            <a:ext cx="7781862" cy="1430419"/>
            <a:chOff x="0" y="-19050"/>
            <a:chExt cx="10375816" cy="1907224"/>
          </a:xfrm>
        </p:grpSpPr>
        <p:sp>
          <p:nvSpPr>
            <p:cNvPr id="3" name="Freeform 3"/>
            <p:cNvSpPr/>
            <p:nvPr/>
          </p:nvSpPr>
          <p:spPr>
            <a:xfrm>
              <a:off x="0" y="491948"/>
              <a:ext cx="10375816" cy="1396226"/>
            </a:xfrm>
            <a:custGeom>
              <a:avLst/>
              <a:gdLst/>
              <a:ahLst/>
              <a:cxnLst/>
              <a:rect l="l" t="t" r="r" b="b"/>
              <a:pathLst>
                <a:path w="10375816" h="1396226">
                  <a:moveTo>
                    <a:pt x="0" y="0"/>
                  </a:moveTo>
                  <a:lnTo>
                    <a:pt x="10375816" y="0"/>
                  </a:lnTo>
                  <a:lnTo>
                    <a:pt x="10375816" y="1396226"/>
                  </a:lnTo>
                  <a:lnTo>
                    <a:pt x="0" y="1396226"/>
                  </a:lnTo>
                  <a:close/>
                </a:path>
              </a:pathLst>
            </a:custGeom>
            <a:solidFill>
              <a:srgbClr val="2B211A">
                <a:alpha val="0"/>
              </a:srgbClr>
            </a:solidFill>
          </p:spPr>
          <p:txBody>
            <a:bodyPr/>
            <a:lstStyle/>
            <a:p>
              <a:endParaRPr/>
            </a:p>
          </p:txBody>
        </p:sp>
        <p:sp>
          <p:nvSpPr>
            <p:cNvPr id="4" name="TextBox 4"/>
            <p:cNvSpPr txBox="1"/>
            <p:nvPr/>
          </p:nvSpPr>
          <p:spPr>
            <a:xfrm>
              <a:off x="0" y="-19050"/>
              <a:ext cx="10375816" cy="1415276"/>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PROPOSED SYSTEM :</a:t>
              </a:r>
            </a:p>
          </p:txBody>
        </p:sp>
      </p:grpSp>
      <p:grpSp>
        <p:nvGrpSpPr>
          <p:cNvPr id="5" name="Group 5"/>
          <p:cNvGrpSpPr/>
          <p:nvPr/>
        </p:nvGrpSpPr>
        <p:grpSpPr>
          <a:xfrm>
            <a:off x="750681" y="1701461"/>
            <a:ext cx="5511832" cy="38100"/>
            <a:chOff x="0" y="0"/>
            <a:chExt cx="7349109" cy="50800"/>
          </a:xfrm>
        </p:grpSpPr>
        <p:sp>
          <p:nvSpPr>
            <p:cNvPr id="6" name="Freeform 6"/>
            <p:cNvSpPr/>
            <p:nvPr/>
          </p:nvSpPr>
          <p:spPr>
            <a:xfrm>
              <a:off x="0" y="0"/>
              <a:ext cx="7349109" cy="50800"/>
            </a:xfrm>
            <a:custGeom>
              <a:avLst/>
              <a:gdLst/>
              <a:ahLst/>
              <a:cxnLst/>
              <a:rect l="l" t="t" r="r" b="b"/>
              <a:pathLst>
                <a:path w="7349109" h="50800">
                  <a:moveTo>
                    <a:pt x="0" y="0"/>
                  </a:moveTo>
                  <a:lnTo>
                    <a:pt x="7349109" y="0"/>
                  </a:lnTo>
                  <a:lnTo>
                    <a:pt x="7349109" y="50800"/>
                  </a:lnTo>
                  <a:lnTo>
                    <a:pt x="0" y="50800"/>
                  </a:lnTo>
                  <a:close/>
                </a:path>
              </a:pathLst>
            </a:custGeom>
            <a:solidFill>
              <a:srgbClr val="A8917A"/>
            </a:solidFill>
          </p:spPr>
          <p:txBody>
            <a:bodyPr/>
            <a:lstStyle/>
            <a:p>
              <a:endParaRPr/>
            </a:p>
          </p:txBody>
        </p:sp>
      </p:grpSp>
      <p:sp>
        <p:nvSpPr>
          <p:cNvPr id="7" name="Freeform 7"/>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grpSp>
        <p:nvGrpSpPr>
          <p:cNvPr id="8" name="Group 8"/>
          <p:cNvGrpSpPr/>
          <p:nvPr/>
        </p:nvGrpSpPr>
        <p:grpSpPr>
          <a:xfrm>
            <a:off x="750681" y="2623423"/>
            <a:ext cx="14058346" cy="6791708"/>
            <a:chOff x="0" y="0"/>
            <a:chExt cx="18744461" cy="9055611"/>
          </a:xfrm>
        </p:grpSpPr>
        <p:sp>
          <p:nvSpPr>
            <p:cNvPr id="9" name="Freeform 9"/>
            <p:cNvSpPr/>
            <p:nvPr/>
          </p:nvSpPr>
          <p:spPr>
            <a:xfrm>
              <a:off x="0" y="0"/>
              <a:ext cx="18744462" cy="9055612"/>
            </a:xfrm>
            <a:custGeom>
              <a:avLst/>
              <a:gdLst/>
              <a:ahLst/>
              <a:cxnLst/>
              <a:rect l="l" t="t" r="r" b="b"/>
              <a:pathLst>
                <a:path w="18744462" h="9055612">
                  <a:moveTo>
                    <a:pt x="0" y="0"/>
                  </a:moveTo>
                  <a:lnTo>
                    <a:pt x="18744462" y="0"/>
                  </a:lnTo>
                  <a:lnTo>
                    <a:pt x="18744462" y="9055612"/>
                  </a:lnTo>
                  <a:lnTo>
                    <a:pt x="0" y="9055612"/>
                  </a:lnTo>
                  <a:close/>
                </a:path>
              </a:pathLst>
            </a:custGeom>
            <a:solidFill>
              <a:srgbClr val="2B211A">
                <a:alpha val="0"/>
              </a:srgbClr>
            </a:solidFill>
          </p:spPr>
          <p:txBody>
            <a:bodyPr/>
            <a:lstStyle/>
            <a:p>
              <a:endParaRPr/>
            </a:p>
          </p:txBody>
        </p:sp>
        <p:sp>
          <p:nvSpPr>
            <p:cNvPr id="10" name="TextBox 10"/>
            <p:cNvSpPr txBox="1"/>
            <p:nvPr/>
          </p:nvSpPr>
          <p:spPr>
            <a:xfrm>
              <a:off x="0" y="-171450"/>
              <a:ext cx="18744461" cy="9227061"/>
            </a:xfrm>
            <a:prstGeom prst="rect">
              <a:avLst/>
            </a:prstGeom>
          </p:spPr>
          <p:txBody>
            <a:bodyPr lIns="0" tIns="0" rIns="0" bIns="0" rtlCol="0" anchor="t"/>
            <a:lstStyle/>
            <a:p>
              <a:pPr marL="517945" lvl="1" indent="-258972" algn="just">
                <a:lnSpc>
                  <a:spcPts val="4750"/>
                </a:lnSpc>
                <a:buFont typeface="Arial"/>
                <a:buChar char="•"/>
              </a:pPr>
              <a:r>
                <a:rPr lang="en-US" sz="1800">
                  <a:solidFill>
                    <a:srgbClr val="2B211A"/>
                  </a:solidFill>
                  <a:latin typeface="Times New Roman"/>
                  <a:ea typeface="Times New Roman"/>
                  <a:cs typeface="Times New Roman"/>
                  <a:sym typeface="Times New Roman"/>
                </a:rPr>
                <a:t>The proposed system replaces physical waiting with a slot-based virtual queue. Devotees book a darshan slot through a web or mobile application, or at a kiosk, and receive a QR-coded digital token instead of standing in a line.</a:t>
              </a:r>
            </a:p>
            <a:p>
              <a:pPr marL="517945" lvl="1" indent="-258972" algn="just">
                <a:lnSpc>
                  <a:spcPts val="4750"/>
                </a:lnSpc>
                <a:buFont typeface="Arial"/>
                <a:buChar char="•"/>
              </a:pPr>
              <a:r>
                <a:rPr lang="en-US" sz="1800">
                  <a:solidFill>
                    <a:srgbClr val="2B211A"/>
                  </a:solidFill>
                  <a:latin typeface="Times New Roman"/>
                  <a:ea typeface="Times New Roman"/>
                  <a:cs typeface="Times New Roman"/>
                  <a:sym typeface="Times New Roman"/>
                </a:rPr>
                <a:t>At the entry gate the token is scanned, which automatically updates the live count of devotees admitted. The queue engine computes the estimated waiting time from the number of devotees ahead and the measured service rate, and pushes it to the devotee's app, to display boards and by SMS through real-time Socket.IO updates.</a:t>
              </a:r>
            </a:p>
            <a:p>
              <a:pPr marL="517944" lvl="1" indent="-258972" algn="just">
                <a:lnSpc>
                  <a:spcPts val="4751"/>
                </a:lnSpc>
                <a:buFont typeface="Arial"/>
                <a:buChar char="•"/>
              </a:pPr>
              <a:r>
                <a:rPr lang="en-US" sz="1800">
                  <a:solidFill>
                    <a:srgbClr val="2B211A"/>
                  </a:solidFill>
                  <a:latin typeface="Times New Roman"/>
                  <a:ea typeface="Times New Roman"/>
                  <a:cs typeface="Times New Roman"/>
                  <a:sym typeface="Times New Roman"/>
                </a:rPr>
                <a:t>A prediction module trained on historical footfall forecasts peak hours and recommends less crowded slots, while an administrator dashboard shows live lane-wise crowd status, raises alerts at 90% and 100% of the safe limit and lets staff pause entry before congestion builds.</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Freeform 2"/>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grpSp>
        <p:nvGrpSpPr>
          <p:cNvPr id="3" name="Group 3"/>
          <p:cNvGrpSpPr/>
          <p:nvPr/>
        </p:nvGrpSpPr>
        <p:grpSpPr>
          <a:xfrm>
            <a:off x="731631" y="762744"/>
            <a:ext cx="7781862" cy="1004205"/>
            <a:chOff x="0" y="0"/>
            <a:chExt cx="10375816" cy="1338941"/>
          </a:xfrm>
        </p:grpSpPr>
        <p:sp>
          <p:nvSpPr>
            <p:cNvPr id="4" name="Freeform 4"/>
            <p:cNvSpPr/>
            <p:nvPr/>
          </p:nvSpPr>
          <p:spPr>
            <a:xfrm>
              <a:off x="0" y="0"/>
              <a:ext cx="10375816" cy="1338941"/>
            </a:xfrm>
            <a:custGeom>
              <a:avLst/>
              <a:gdLst/>
              <a:ahLst/>
              <a:cxnLst/>
              <a:rect l="l" t="t" r="r" b="b"/>
              <a:pathLst>
                <a:path w="10375816" h="1338941">
                  <a:moveTo>
                    <a:pt x="0" y="0"/>
                  </a:moveTo>
                  <a:lnTo>
                    <a:pt x="10375816" y="0"/>
                  </a:lnTo>
                  <a:lnTo>
                    <a:pt x="10375816" y="1338941"/>
                  </a:lnTo>
                  <a:lnTo>
                    <a:pt x="0" y="1338941"/>
                  </a:lnTo>
                  <a:close/>
                </a:path>
              </a:pathLst>
            </a:custGeom>
            <a:solidFill>
              <a:srgbClr val="2B211A">
                <a:alpha val="0"/>
              </a:srgbClr>
            </a:solidFill>
          </p:spPr>
          <p:txBody>
            <a:bodyPr/>
            <a:lstStyle/>
            <a:p>
              <a:endParaRPr/>
            </a:p>
          </p:txBody>
        </p:sp>
        <p:sp>
          <p:nvSpPr>
            <p:cNvPr id="5" name="TextBox 5"/>
            <p:cNvSpPr txBox="1"/>
            <p:nvPr/>
          </p:nvSpPr>
          <p:spPr>
            <a:xfrm>
              <a:off x="0" y="-19050"/>
              <a:ext cx="10375816" cy="1357991"/>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ADVANTAGES :</a:t>
              </a:r>
            </a:p>
          </p:txBody>
        </p:sp>
      </p:grpSp>
      <p:grpSp>
        <p:nvGrpSpPr>
          <p:cNvPr id="6" name="Group 6"/>
          <p:cNvGrpSpPr/>
          <p:nvPr/>
        </p:nvGrpSpPr>
        <p:grpSpPr>
          <a:xfrm>
            <a:off x="731631" y="1912729"/>
            <a:ext cx="3991451" cy="57150"/>
            <a:chOff x="0" y="0"/>
            <a:chExt cx="5321935" cy="76200"/>
          </a:xfrm>
        </p:grpSpPr>
        <p:sp>
          <p:nvSpPr>
            <p:cNvPr id="7" name="Freeform 7"/>
            <p:cNvSpPr/>
            <p:nvPr/>
          </p:nvSpPr>
          <p:spPr>
            <a:xfrm>
              <a:off x="0" y="0"/>
              <a:ext cx="5321935" cy="76200"/>
            </a:xfrm>
            <a:custGeom>
              <a:avLst/>
              <a:gdLst/>
              <a:ahLst/>
              <a:cxnLst/>
              <a:rect l="l" t="t" r="r" b="b"/>
              <a:pathLst>
                <a:path w="5321935" h="76200">
                  <a:moveTo>
                    <a:pt x="0" y="25400"/>
                  </a:moveTo>
                  <a:lnTo>
                    <a:pt x="5321681" y="0"/>
                  </a:lnTo>
                  <a:lnTo>
                    <a:pt x="5321935" y="50800"/>
                  </a:lnTo>
                  <a:lnTo>
                    <a:pt x="254" y="76200"/>
                  </a:lnTo>
                  <a:close/>
                </a:path>
              </a:pathLst>
            </a:custGeom>
            <a:solidFill>
              <a:srgbClr val="A8917A"/>
            </a:solidFill>
          </p:spPr>
          <p:txBody>
            <a:bodyPr/>
            <a:lstStyle/>
            <a:p>
              <a:endParaRPr/>
            </a:p>
          </p:txBody>
        </p:sp>
      </p:grpSp>
      <p:grpSp>
        <p:nvGrpSpPr>
          <p:cNvPr id="8" name="Group 8"/>
          <p:cNvGrpSpPr/>
          <p:nvPr/>
        </p:nvGrpSpPr>
        <p:grpSpPr>
          <a:xfrm>
            <a:off x="731631" y="2526685"/>
            <a:ext cx="14302398" cy="5800725"/>
            <a:chOff x="0" y="0"/>
            <a:chExt cx="19069864" cy="7734300"/>
          </a:xfrm>
        </p:grpSpPr>
        <p:sp>
          <p:nvSpPr>
            <p:cNvPr id="9" name="Freeform 9"/>
            <p:cNvSpPr/>
            <p:nvPr/>
          </p:nvSpPr>
          <p:spPr>
            <a:xfrm>
              <a:off x="0" y="0"/>
              <a:ext cx="19069864" cy="7734300"/>
            </a:xfrm>
            <a:custGeom>
              <a:avLst/>
              <a:gdLst/>
              <a:ahLst/>
              <a:cxnLst/>
              <a:rect l="l" t="t" r="r" b="b"/>
              <a:pathLst>
                <a:path w="19069864" h="7734300">
                  <a:moveTo>
                    <a:pt x="0" y="0"/>
                  </a:moveTo>
                  <a:lnTo>
                    <a:pt x="19069864" y="0"/>
                  </a:lnTo>
                  <a:lnTo>
                    <a:pt x="19069864" y="7734300"/>
                  </a:lnTo>
                  <a:lnTo>
                    <a:pt x="0" y="7734300"/>
                  </a:lnTo>
                  <a:close/>
                </a:path>
              </a:pathLst>
            </a:custGeom>
            <a:solidFill>
              <a:srgbClr val="2B211A">
                <a:alpha val="0"/>
              </a:srgbClr>
            </a:solidFill>
          </p:spPr>
          <p:txBody>
            <a:bodyPr/>
            <a:lstStyle/>
            <a:p>
              <a:endParaRPr/>
            </a:p>
          </p:txBody>
        </p:sp>
        <p:sp>
          <p:nvSpPr>
            <p:cNvPr id="10" name="TextBox 10"/>
            <p:cNvSpPr txBox="1"/>
            <p:nvPr/>
          </p:nvSpPr>
          <p:spPr>
            <a:xfrm>
              <a:off x="0" y="-190500"/>
              <a:ext cx="19069864" cy="7924800"/>
            </a:xfrm>
            <a:prstGeom prst="rect">
              <a:avLst/>
            </a:prstGeom>
          </p:spPr>
          <p:txBody>
            <a:bodyPr lIns="0" tIns="0" rIns="0" bIns="0" rtlCol="0" anchor="t"/>
            <a:lstStyle/>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Reduced Waiting Time – Slot-based virtual tokens spread arrivals across the day and remove long physical queues at the entrance.</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Real-Time Transparency – Devotees see their live queue position and estimated waiting time on the app, on display boards or by SMS.</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Proactive Crowd Control – The admin dashboard and peak-hour forecast let staff act before congestion builds instead of reacting after it.</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Inclusive Access – SMS and kiosk-based tokens cover devotees without smartphones, and elderly and differently-abled visitors avoid standing in line.</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Data-Driven Planning – Digitally recorded footfall gives administrators reliable data to plan counters, staff and festival arrangements.</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grpSp>
        <p:nvGrpSpPr>
          <p:cNvPr id="2" name="Group 2"/>
          <p:cNvGrpSpPr/>
          <p:nvPr/>
        </p:nvGrpSpPr>
        <p:grpSpPr>
          <a:xfrm>
            <a:off x="731631" y="404494"/>
            <a:ext cx="13599364" cy="1176656"/>
            <a:chOff x="0" y="0"/>
            <a:chExt cx="18132485" cy="1568874"/>
          </a:xfrm>
        </p:grpSpPr>
        <p:sp>
          <p:nvSpPr>
            <p:cNvPr id="3" name="Freeform 3"/>
            <p:cNvSpPr/>
            <p:nvPr/>
          </p:nvSpPr>
          <p:spPr>
            <a:xfrm>
              <a:off x="0" y="0"/>
              <a:ext cx="18132485" cy="1568874"/>
            </a:xfrm>
            <a:custGeom>
              <a:avLst/>
              <a:gdLst/>
              <a:ahLst/>
              <a:cxnLst/>
              <a:rect l="l" t="t" r="r" b="b"/>
              <a:pathLst>
                <a:path w="18132485" h="1568874">
                  <a:moveTo>
                    <a:pt x="0" y="0"/>
                  </a:moveTo>
                  <a:lnTo>
                    <a:pt x="18132485" y="0"/>
                  </a:lnTo>
                  <a:lnTo>
                    <a:pt x="18132485" y="1568874"/>
                  </a:lnTo>
                  <a:lnTo>
                    <a:pt x="0" y="1568874"/>
                  </a:lnTo>
                  <a:close/>
                </a:path>
              </a:pathLst>
            </a:custGeom>
            <a:solidFill>
              <a:srgbClr val="2B211A">
                <a:alpha val="0"/>
              </a:srgbClr>
            </a:solidFill>
          </p:spPr>
          <p:txBody>
            <a:bodyPr/>
            <a:lstStyle/>
            <a:p>
              <a:endParaRPr/>
            </a:p>
          </p:txBody>
        </p:sp>
        <p:sp>
          <p:nvSpPr>
            <p:cNvPr id="4" name="TextBox 4"/>
            <p:cNvSpPr txBox="1"/>
            <p:nvPr/>
          </p:nvSpPr>
          <p:spPr>
            <a:xfrm>
              <a:off x="0" y="-19050"/>
              <a:ext cx="18132485" cy="1587924"/>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SYSTEM  REQUIREMENTS  &amp;  SPECIFICATIONS</a:t>
              </a:r>
            </a:p>
            <a:p>
              <a:pPr algn="l">
                <a:lnSpc>
                  <a:spcPts val="4369"/>
                </a:lnSpc>
              </a:pPr>
              <a:endParaRPr lang="en-US" sz="2800" dirty="0">
                <a:solidFill>
                  <a:srgbClr val="7C2D12"/>
                </a:solidFill>
                <a:latin typeface="Times New Roman"/>
                <a:ea typeface="Times New Roman"/>
                <a:cs typeface="Times New Roman"/>
                <a:sym typeface="Brasika"/>
              </a:endParaRPr>
            </a:p>
          </p:txBody>
        </p:sp>
      </p:grpSp>
      <p:grpSp>
        <p:nvGrpSpPr>
          <p:cNvPr id="7" name="Group 7"/>
          <p:cNvGrpSpPr/>
          <p:nvPr/>
        </p:nvGrpSpPr>
        <p:grpSpPr>
          <a:xfrm>
            <a:off x="731631" y="1651476"/>
            <a:ext cx="9607567" cy="811848"/>
            <a:chOff x="0" y="0"/>
            <a:chExt cx="12810089" cy="1082464"/>
          </a:xfrm>
        </p:grpSpPr>
        <p:sp>
          <p:nvSpPr>
            <p:cNvPr id="8" name="Freeform 8"/>
            <p:cNvSpPr/>
            <p:nvPr/>
          </p:nvSpPr>
          <p:spPr>
            <a:xfrm>
              <a:off x="0" y="0"/>
              <a:ext cx="12810089" cy="1082464"/>
            </a:xfrm>
            <a:custGeom>
              <a:avLst/>
              <a:gdLst/>
              <a:ahLst/>
              <a:cxnLst/>
              <a:rect l="l" t="t" r="r" b="b"/>
              <a:pathLst>
                <a:path w="12810089" h="1082464">
                  <a:moveTo>
                    <a:pt x="0" y="0"/>
                  </a:moveTo>
                  <a:lnTo>
                    <a:pt x="12810089" y="0"/>
                  </a:lnTo>
                  <a:lnTo>
                    <a:pt x="12810089" y="1082464"/>
                  </a:lnTo>
                  <a:lnTo>
                    <a:pt x="0" y="1082464"/>
                  </a:lnTo>
                  <a:close/>
                </a:path>
              </a:pathLst>
            </a:custGeom>
            <a:solidFill>
              <a:srgbClr val="2B211A">
                <a:alpha val="0"/>
              </a:srgbClr>
            </a:solidFill>
          </p:spPr>
          <p:txBody>
            <a:bodyPr/>
            <a:lstStyle/>
            <a:p>
              <a:endParaRPr/>
            </a:p>
          </p:txBody>
        </p:sp>
        <p:sp>
          <p:nvSpPr>
            <p:cNvPr id="9" name="TextBox 9"/>
            <p:cNvSpPr txBox="1"/>
            <p:nvPr/>
          </p:nvSpPr>
          <p:spPr>
            <a:xfrm>
              <a:off x="0" y="-9525"/>
              <a:ext cx="12810089" cy="1091989"/>
            </a:xfrm>
            <a:prstGeom prst="rect">
              <a:avLst/>
            </a:prstGeom>
          </p:spPr>
          <p:txBody>
            <a:bodyPr lIns="0" tIns="0" rIns="0" bIns="0" rtlCol="0" anchor="t"/>
            <a:lstStyle/>
            <a:p>
              <a:pPr algn="l">
                <a:lnSpc>
                  <a:spcPts val="3909"/>
                </a:lnSpc>
              </a:pPr>
              <a:r>
                <a:rPr lang="en-US" sz="2000" b="1">
                  <a:solidFill>
                    <a:srgbClr val="7C2D12"/>
                  </a:solidFill>
                  <a:latin typeface="Times New Roman"/>
                  <a:ea typeface="Times New Roman"/>
                  <a:cs typeface="Times New Roman"/>
                  <a:sym typeface="Times New Roman"/>
                </a:rPr>
                <a:t>HARDWARE SPECIFICATIONS:</a:t>
              </a:r>
            </a:p>
            <a:p>
              <a:pPr algn="l">
                <a:lnSpc>
                  <a:spcPts val="2070"/>
                </a:lnSpc>
              </a:pPr>
              <a:endParaRPr lang="en-US" sz="2000" b="1">
                <a:solidFill>
                  <a:srgbClr val="7C2D12"/>
                </a:solidFill>
                <a:latin typeface="Times New Roman"/>
                <a:ea typeface="Times New Roman"/>
                <a:cs typeface="Times New Roman"/>
                <a:sym typeface="Arimo Bold"/>
              </a:endParaRPr>
            </a:p>
          </p:txBody>
        </p:sp>
      </p:grpSp>
      <p:grpSp>
        <p:nvGrpSpPr>
          <p:cNvPr id="10" name="Group 10"/>
          <p:cNvGrpSpPr/>
          <p:nvPr/>
        </p:nvGrpSpPr>
        <p:grpSpPr>
          <a:xfrm>
            <a:off x="1028700" y="2529999"/>
            <a:ext cx="14302398" cy="3495293"/>
            <a:chOff x="0" y="0"/>
            <a:chExt cx="19069864" cy="4660391"/>
          </a:xfrm>
        </p:grpSpPr>
        <p:sp>
          <p:nvSpPr>
            <p:cNvPr id="11" name="Freeform 11"/>
            <p:cNvSpPr/>
            <p:nvPr/>
          </p:nvSpPr>
          <p:spPr>
            <a:xfrm>
              <a:off x="0" y="0"/>
              <a:ext cx="19069864" cy="4660392"/>
            </a:xfrm>
            <a:custGeom>
              <a:avLst/>
              <a:gdLst/>
              <a:ahLst/>
              <a:cxnLst/>
              <a:rect l="l" t="t" r="r" b="b"/>
              <a:pathLst>
                <a:path w="19069864" h="4660392">
                  <a:moveTo>
                    <a:pt x="0" y="0"/>
                  </a:moveTo>
                  <a:lnTo>
                    <a:pt x="19069864" y="0"/>
                  </a:lnTo>
                  <a:lnTo>
                    <a:pt x="19069864" y="4660392"/>
                  </a:lnTo>
                  <a:lnTo>
                    <a:pt x="0" y="4660392"/>
                  </a:lnTo>
                  <a:close/>
                </a:path>
              </a:pathLst>
            </a:custGeom>
            <a:solidFill>
              <a:srgbClr val="2B211A">
                <a:alpha val="0"/>
              </a:srgbClr>
            </a:solidFill>
          </p:spPr>
          <p:txBody>
            <a:bodyPr/>
            <a:lstStyle/>
            <a:p>
              <a:endParaRPr/>
            </a:p>
          </p:txBody>
        </p:sp>
        <p:sp>
          <p:nvSpPr>
            <p:cNvPr id="12" name="TextBox 12"/>
            <p:cNvSpPr txBox="1"/>
            <p:nvPr/>
          </p:nvSpPr>
          <p:spPr>
            <a:xfrm>
              <a:off x="0" y="-209550"/>
              <a:ext cx="19069864" cy="4869941"/>
            </a:xfrm>
            <a:prstGeom prst="rect">
              <a:avLst/>
            </a:prstGeom>
          </p:spPr>
          <p:txBody>
            <a:bodyPr lIns="0" tIns="0" rIns="0" bIns="0" rtlCol="0" anchor="t"/>
            <a:lstStyle/>
            <a:p>
              <a:pPr algn="just">
                <a:lnSpc>
                  <a:spcPts val="5147"/>
                </a:lnSpc>
              </a:pPr>
              <a:r>
                <a:rPr lang="en-US" sz="1800" b="1" dirty="0">
                  <a:solidFill>
                    <a:srgbClr val="2B211A"/>
                  </a:solidFill>
                  <a:latin typeface="Times New Roman"/>
                  <a:ea typeface="Times New Roman"/>
                  <a:cs typeface="Times New Roman"/>
                  <a:sym typeface="Times New Roman"/>
                </a:rPr>
                <a:t>PROCESSOR       :  </a:t>
              </a:r>
              <a:r>
                <a:rPr lang="en-US" sz="1800" b="0" dirty="0">
                  <a:solidFill>
                    <a:srgbClr val="2B211A"/>
                  </a:solidFill>
                  <a:latin typeface="Times New Roman"/>
                  <a:ea typeface="Times New Roman"/>
                  <a:cs typeface="Times New Roman"/>
                  <a:sym typeface="Times New Roman"/>
                </a:rPr>
                <a:t>Intel Core i3 / 2.5 GHz or above</a:t>
              </a:r>
            </a:p>
            <a:p>
              <a:pPr algn="just">
                <a:lnSpc>
                  <a:spcPts val="5147"/>
                </a:lnSpc>
              </a:pPr>
              <a:r>
                <a:rPr lang="en-US" sz="1800" b="1" dirty="0">
                  <a:solidFill>
                    <a:srgbClr val="2B211A"/>
                  </a:solidFill>
                  <a:latin typeface="Times New Roman"/>
                  <a:ea typeface="Times New Roman"/>
                  <a:cs typeface="Times New Roman"/>
                  <a:sym typeface="Times New Roman"/>
                </a:rPr>
                <a:t>RAM                      :  </a:t>
              </a:r>
              <a:r>
                <a:rPr lang="en-US" sz="1800" b="0" dirty="0">
                  <a:solidFill>
                    <a:srgbClr val="2B211A"/>
                  </a:solidFill>
                  <a:latin typeface="Times New Roman"/>
                  <a:ea typeface="Times New Roman"/>
                  <a:cs typeface="Times New Roman"/>
                  <a:sym typeface="Times New Roman"/>
                </a:rPr>
                <a:t>4 GB (Minimum), 8 GB Recommended</a:t>
              </a:r>
            </a:p>
            <a:p>
              <a:pPr algn="just">
                <a:lnSpc>
                  <a:spcPts val="5147"/>
                </a:lnSpc>
              </a:pPr>
              <a:r>
                <a:rPr lang="en-US" sz="1800" b="1" dirty="0">
                  <a:solidFill>
                    <a:srgbClr val="2B211A"/>
                  </a:solidFill>
                  <a:latin typeface="Times New Roman"/>
                  <a:ea typeface="Times New Roman"/>
                  <a:cs typeface="Times New Roman"/>
                  <a:sym typeface="Times New Roman"/>
                </a:rPr>
                <a:t>HARD DISK         :  </a:t>
              </a:r>
              <a:r>
                <a:rPr lang="en-US" sz="1800" b="0" dirty="0">
                  <a:solidFill>
                    <a:srgbClr val="2B211A"/>
                  </a:solidFill>
                  <a:latin typeface="Times New Roman"/>
                  <a:ea typeface="Times New Roman"/>
                  <a:cs typeface="Times New Roman"/>
                  <a:sym typeface="Times New Roman"/>
                </a:rPr>
                <a:t>40 GB</a:t>
              </a:r>
            </a:p>
            <a:p>
              <a:pPr algn="just">
                <a:lnSpc>
                  <a:spcPts val="5147"/>
                </a:lnSpc>
              </a:pPr>
              <a:r>
                <a:rPr lang="en-US" sz="1800" b="1" dirty="0">
                  <a:solidFill>
                    <a:srgbClr val="2B211A"/>
                  </a:solidFill>
                  <a:latin typeface="Times New Roman"/>
                  <a:ea typeface="Times New Roman"/>
                  <a:cs typeface="Times New Roman"/>
                  <a:sym typeface="Times New Roman"/>
                </a:rPr>
                <a:t>INPUT DEVICE   :  </a:t>
              </a:r>
              <a:r>
                <a:rPr lang="en-US" sz="1800" b="0" dirty="0">
                  <a:solidFill>
                    <a:srgbClr val="2B211A"/>
                  </a:solidFill>
                  <a:latin typeface="Times New Roman"/>
                  <a:ea typeface="Times New Roman"/>
                  <a:cs typeface="Times New Roman"/>
                  <a:sym typeface="Times New Roman"/>
                </a:rPr>
                <a:t>Keyboard / Webcam or smartphone camera for QR scanning</a:t>
              </a:r>
            </a:p>
            <a:p>
              <a:pPr algn="just">
                <a:lnSpc>
                  <a:spcPts val="5147"/>
                </a:lnSpc>
              </a:pPr>
              <a:r>
                <a:rPr lang="en-US" sz="1800" b="1" dirty="0">
                  <a:solidFill>
                    <a:srgbClr val="2B211A"/>
                  </a:solidFill>
                  <a:latin typeface="Times New Roman"/>
                  <a:ea typeface="Times New Roman"/>
                  <a:cs typeface="Times New Roman"/>
                  <a:sym typeface="Times New Roman"/>
                </a:rPr>
                <a:t>MONITOR            :  </a:t>
              </a:r>
              <a:r>
                <a:rPr lang="en-US" sz="1800" b="0" dirty="0">
                  <a:solidFill>
                    <a:srgbClr val="2B211A"/>
                  </a:solidFill>
                  <a:latin typeface="Times New Roman"/>
                  <a:ea typeface="Times New Roman"/>
                  <a:cs typeface="Times New Roman"/>
                  <a:sym typeface="Times New Roman"/>
                </a:rPr>
                <a:t>Minimum Resolution 1920*1080</a:t>
              </a:r>
            </a:p>
          </p:txBody>
        </p:sp>
      </p:grpSp>
      <p:grpSp>
        <p:nvGrpSpPr>
          <p:cNvPr id="13" name="Group 13"/>
          <p:cNvGrpSpPr/>
          <p:nvPr/>
        </p:nvGrpSpPr>
        <p:grpSpPr>
          <a:xfrm>
            <a:off x="731687" y="5862447"/>
            <a:ext cx="9607567" cy="811848"/>
            <a:chOff x="0" y="0"/>
            <a:chExt cx="12810089" cy="1082464"/>
          </a:xfrm>
        </p:grpSpPr>
        <p:sp>
          <p:nvSpPr>
            <p:cNvPr id="14" name="Freeform 14"/>
            <p:cNvSpPr/>
            <p:nvPr/>
          </p:nvSpPr>
          <p:spPr>
            <a:xfrm>
              <a:off x="0" y="0"/>
              <a:ext cx="12810089" cy="1082464"/>
            </a:xfrm>
            <a:custGeom>
              <a:avLst/>
              <a:gdLst/>
              <a:ahLst/>
              <a:cxnLst/>
              <a:rect l="l" t="t" r="r" b="b"/>
              <a:pathLst>
                <a:path w="12810089" h="1082464">
                  <a:moveTo>
                    <a:pt x="0" y="0"/>
                  </a:moveTo>
                  <a:lnTo>
                    <a:pt x="12810089" y="0"/>
                  </a:lnTo>
                  <a:lnTo>
                    <a:pt x="12810089" y="1082464"/>
                  </a:lnTo>
                  <a:lnTo>
                    <a:pt x="0" y="1082464"/>
                  </a:lnTo>
                  <a:close/>
                </a:path>
              </a:pathLst>
            </a:custGeom>
            <a:solidFill>
              <a:srgbClr val="2B211A">
                <a:alpha val="0"/>
              </a:srgbClr>
            </a:solidFill>
          </p:spPr>
          <p:txBody>
            <a:bodyPr/>
            <a:lstStyle/>
            <a:p>
              <a:endParaRPr/>
            </a:p>
          </p:txBody>
        </p:sp>
        <p:sp>
          <p:nvSpPr>
            <p:cNvPr id="15" name="TextBox 15"/>
            <p:cNvSpPr txBox="1"/>
            <p:nvPr/>
          </p:nvSpPr>
          <p:spPr>
            <a:xfrm>
              <a:off x="0" y="-9525"/>
              <a:ext cx="12810089" cy="1091989"/>
            </a:xfrm>
            <a:prstGeom prst="rect">
              <a:avLst/>
            </a:prstGeom>
          </p:spPr>
          <p:txBody>
            <a:bodyPr lIns="0" tIns="0" rIns="0" bIns="0" rtlCol="0" anchor="t"/>
            <a:lstStyle/>
            <a:p>
              <a:pPr algn="l">
                <a:lnSpc>
                  <a:spcPts val="3909"/>
                </a:lnSpc>
              </a:pPr>
              <a:r>
                <a:rPr lang="en-US" sz="2000" b="1">
                  <a:solidFill>
                    <a:srgbClr val="7C2D12"/>
                  </a:solidFill>
                  <a:latin typeface="Times New Roman"/>
                  <a:ea typeface="Times New Roman"/>
                  <a:cs typeface="Times New Roman"/>
                  <a:sym typeface="Times New Roman"/>
                </a:rPr>
                <a:t>SOFTWARE SPECIFICATIONS:</a:t>
              </a:r>
            </a:p>
            <a:p>
              <a:pPr algn="l">
                <a:lnSpc>
                  <a:spcPts val="2070"/>
                </a:lnSpc>
              </a:pPr>
              <a:endParaRPr lang="en-US" sz="2000" b="1">
                <a:solidFill>
                  <a:srgbClr val="7C2D12"/>
                </a:solidFill>
                <a:latin typeface="Times New Roman"/>
                <a:ea typeface="Times New Roman"/>
                <a:cs typeface="Times New Roman"/>
                <a:sym typeface="Arimo Bold"/>
              </a:endParaRPr>
            </a:p>
          </p:txBody>
        </p:sp>
      </p:grpSp>
      <p:grpSp>
        <p:nvGrpSpPr>
          <p:cNvPr id="16" name="Group 16"/>
          <p:cNvGrpSpPr/>
          <p:nvPr/>
        </p:nvGrpSpPr>
        <p:grpSpPr>
          <a:xfrm>
            <a:off x="1028700" y="6740969"/>
            <a:ext cx="15529147" cy="4142993"/>
            <a:chOff x="0" y="0"/>
            <a:chExt cx="20705529" cy="5523991"/>
          </a:xfrm>
        </p:grpSpPr>
        <p:sp>
          <p:nvSpPr>
            <p:cNvPr id="17" name="Freeform 17"/>
            <p:cNvSpPr/>
            <p:nvPr/>
          </p:nvSpPr>
          <p:spPr>
            <a:xfrm>
              <a:off x="0" y="0"/>
              <a:ext cx="20705530" cy="5523992"/>
            </a:xfrm>
            <a:custGeom>
              <a:avLst/>
              <a:gdLst/>
              <a:ahLst/>
              <a:cxnLst/>
              <a:rect l="l" t="t" r="r" b="b"/>
              <a:pathLst>
                <a:path w="20705530" h="5523992">
                  <a:moveTo>
                    <a:pt x="0" y="0"/>
                  </a:moveTo>
                  <a:lnTo>
                    <a:pt x="20705530" y="0"/>
                  </a:lnTo>
                  <a:lnTo>
                    <a:pt x="20705530" y="5523992"/>
                  </a:lnTo>
                  <a:lnTo>
                    <a:pt x="0" y="5523992"/>
                  </a:lnTo>
                  <a:close/>
                </a:path>
              </a:pathLst>
            </a:custGeom>
            <a:solidFill>
              <a:srgbClr val="2B211A">
                <a:alpha val="0"/>
              </a:srgbClr>
            </a:solidFill>
          </p:spPr>
          <p:txBody>
            <a:bodyPr/>
            <a:lstStyle/>
            <a:p>
              <a:endParaRPr/>
            </a:p>
          </p:txBody>
        </p:sp>
        <p:sp>
          <p:nvSpPr>
            <p:cNvPr id="18" name="TextBox 18"/>
            <p:cNvSpPr txBox="1"/>
            <p:nvPr/>
          </p:nvSpPr>
          <p:spPr>
            <a:xfrm>
              <a:off x="0" y="-209550"/>
              <a:ext cx="20705529" cy="5733541"/>
            </a:xfrm>
            <a:prstGeom prst="rect">
              <a:avLst/>
            </a:prstGeom>
          </p:spPr>
          <p:txBody>
            <a:bodyPr lIns="0" tIns="0" rIns="0" bIns="0" rtlCol="0" anchor="t"/>
            <a:lstStyle/>
            <a:p>
              <a:pPr algn="just">
                <a:lnSpc>
                  <a:spcPts val="5147"/>
                </a:lnSpc>
              </a:pPr>
              <a:r>
                <a:rPr lang="en-US" sz="1800" b="1" dirty="0">
                  <a:solidFill>
                    <a:srgbClr val="2B211A"/>
                  </a:solidFill>
                  <a:latin typeface="Times New Roman"/>
                  <a:ea typeface="Times New Roman"/>
                  <a:cs typeface="Times New Roman"/>
                  <a:sym typeface="Times New Roman"/>
                </a:rPr>
                <a:t>OPERATING SYSTEM                                          :  </a:t>
              </a:r>
              <a:r>
                <a:rPr lang="en-US" sz="1800" b="0" dirty="0">
                  <a:solidFill>
                    <a:srgbClr val="2B211A"/>
                  </a:solidFill>
                  <a:latin typeface="Times New Roman"/>
                  <a:ea typeface="Times New Roman"/>
                  <a:cs typeface="Times New Roman"/>
                  <a:sym typeface="Times New Roman"/>
                </a:rPr>
                <a:t>Windows 10 or Above</a:t>
              </a:r>
            </a:p>
            <a:p>
              <a:pPr algn="just">
                <a:lnSpc>
                  <a:spcPts val="5147"/>
                </a:lnSpc>
              </a:pPr>
              <a:r>
                <a:rPr lang="en-US" sz="1800" b="1" dirty="0">
                  <a:solidFill>
                    <a:srgbClr val="2B211A"/>
                  </a:solidFill>
                  <a:latin typeface="Times New Roman"/>
                  <a:ea typeface="Times New Roman"/>
                  <a:cs typeface="Times New Roman"/>
                  <a:sym typeface="Times New Roman"/>
                </a:rPr>
                <a:t>PROGRAMMING LANGUAGE &amp; VERSION   :  </a:t>
              </a:r>
              <a:r>
                <a:rPr lang="en-US" sz="1800" b="0" dirty="0">
                  <a:solidFill>
                    <a:srgbClr val="2B211A"/>
                  </a:solidFill>
                  <a:latin typeface="Times New Roman"/>
                  <a:ea typeface="Times New Roman"/>
                  <a:cs typeface="Times New Roman"/>
                  <a:sym typeface="Times New Roman"/>
                </a:rPr>
                <a:t>JavaScript (Node.js 20+, ES modules), Python 3.10</a:t>
              </a:r>
            </a:p>
            <a:p>
              <a:pPr algn="just">
                <a:lnSpc>
                  <a:spcPts val="5147"/>
                </a:lnSpc>
              </a:pPr>
              <a:r>
                <a:rPr lang="en-US" sz="1800" b="1" dirty="0">
                  <a:solidFill>
                    <a:srgbClr val="2B211A"/>
                  </a:solidFill>
                  <a:latin typeface="Times New Roman"/>
                  <a:ea typeface="Times New Roman"/>
                  <a:cs typeface="Times New Roman"/>
                  <a:sym typeface="Times New Roman"/>
                </a:rPr>
                <a:t>PLATFORM                                                            :  </a:t>
              </a:r>
              <a:r>
                <a:rPr lang="en-US" sz="1800" b="0" dirty="0">
                  <a:solidFill>
                    <a:srgbClr val="2B211A"/>
                  </a:solidFill>
                  <a:latin typeface="Times New Roman"/>
                  <a:ea typeface="Times New Roman"/>
                  <a:cs typeface="Times New Roman"/>
                  <a:sym typeface="Times New Roman"/>
                </a:rPr>
                <a:t>VS Code, Node.js 22, MongoDB 7 (local or Atlas)</a:t>
              </a:r>
            </a:p>
            <a:p>
              <a:pPr algn="just">
                <a:lnSpc>
                  <a:spcPts val="5147"/>
                </a:lnSpc>
              </a:pPr>
              <a:r>
                <a:rPr lang="en-US" sz="1800" b="1" dirty="0">
                  <a:solidFill>
                    <a:srgbClr val="2B211A"/>
                  </a:solidFill>
                  <a:latin typeface="Times New Roman"/>
                  <a:ea typeface="Times New Roman"/>
                  <a:cs typeface="Times New Roman"/>
                  <a:sym typeface="Times New Roman"/>
                </a:rPr>
                <a:t>SUPPORTING LIBRARIES                                  :  </a:t>
              </a:r>
              <a:r>
                <a:rPr lang="en-US" sz="1800" b="0" dirty="0" err="1">
                  <a:solidFill>
                    <a:srgbClr val="2B211A"/>
                  </a:solidFill>
                  <a:latin typeface="Times New Roman"/>
                  <a:ea typeface="Times New Roman"/>
                  <a:cs typeface="Times New Roman"/>
                  <a:sym typeface="Times New Roman"/>
                </a:rPr>
                <a:t>React 19 + Vite, Tailwind CSS, Recharts, Express 5, Socket.IO 4,</a:t>
              </a:r>
            </a:p>
            <a:p>
              <a:pPr algn="just">
                <a:lnSpc>
                  <a:spcPts val="5147"/>
                </a:lnSpc>
              </a:pPr>
              <a:r>
                <a:rPr lang="en-US" sz="1800" b="0" dirty="0">
                  <a:solidFill>
                    <a:srgbClr val="2B211A"/>
                  </a:solidFill>
                  <a:latin typeface="Times New Roman"/>
                  <a:ea typeface="Times New Roman"/>
                  <a:cs typeface="Times New Roman"/>
                  <a:sym typeface="Times New Roman"/>
                </a:rPr>
                <a:t>                                                                                      Mongoose 9, JWT, Flask, Scikit-learn, Pandas, Twilio SMS API</a:t>
              </a:r>
            </a:p>
            <a:p>
              <a:pPr algn="just">
                <a:lnSpc>
                  <a:spcPts val="5147"/>
                </a:lnSpc>
              </a:pPr>
              <a:endParaRPr lang="en-US" sz="1800" b="1" dirty="0">
                <a:solidFill>
                  <a:srgbClr val="2B211A"/>
                </a:solidFill>
                <a:latin typeface="Times New Roman"/>
                <a:ea typeface="Times New Roman"/>
                <a:cs typeface="Times New Roman"/>
                <a:sym typeface="Canva Sans Bold"/>
              </a:endParaRPr>
            </a:p>
          </p:txBody>
        </p:sp>
      </p:grpSp>
      <p:sp>
        <p:nvSpPr>
          <p:cNvPr id="19" name="Freeform 19"/>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grpSp>
        <p:nvGrpSpPr>
          <p:cNvPr id="2" name="Group 2"/>
          <p:cNvGrpSpPr/>
          <p:nvPr/>
        </p:nvGrpSpPr>
        <p:grpSpPr>
          <a:xfrm>
            <a:off x="731631" y="2990539"/>
            <a:ext cx="16071914" cy="4305967"/>
            <a:chOff x="0" y="0"/>
            <a:chExt cx="21429219" cy="5741289"/>
          </a:xfrm>
        </p:grpSpPr>
        <p:sp>
          <p:nvSpPr>
            <p:cNvPr id="3" name="Freeform 3"/>
            <p:cNvSpPr/>
            <p:nvPr/>
          </p:nvSpPr>
          <p:spPr>
            <a:xfrm>
              <a:off x="0" y="0"/>
              <a:ext cx="21429218" cy="5741289"/>
            </a:xfrm>
            <a:custGeom>
              <a:avLst/>
              <a:gdLst/>
              <a:ahLst/>
              <a:cxnLst/>
              <a:rect l="l" t="t" r="r" b="b"/>
              <a:pathLst>
                <a:path w="21429218" h="5741289">
                  <a:moveTo>
                    <a:pt x="0" y="0"/>
                  </a:moveTo>
                  <a:lnTo>
                    <a:pt x="21429218" y="0"/>
                  </a:lnTo>
                  <a:lnTo>
                    <a:pt x="21429218" y="5741289"/>
                  </a:lnTo>
                  <a:lnTo>
                    <a:pt x="0" y="5741289"/>
                  </a:lnTo>
                  <a:lnTo>
                    <a:pt x="0" y="0"/>
                  </a:lnTo>
                  <a:close/>
                </a:path>
              </a:pathLst>
            </a:custGeom>
            <a:blipFill>
              <a:blip r:embed="rId2"/>
              <a:stretch>
                <a:fillRect t="-83" b="-83"/>
              </a:stretch>
            </a:blipFill>
          </p:spPr>
          <p:txBody>
            <a:bodyPr/>
            <a:lstStyle/>
            <a:p>
              <a:endParaRPr/>
            </a:p>
          </p:txBody>
        </p:sp>
      </p:grpSp>
      <p:grpSp>
        <p:nvGrpSpPr>
          <p:cNvPr id="4" name="Group 4"/>
          <p:cNvGrpSpPr/>
          <p:nvPr/>
        </p:nvGrpSpPr>
        <p:grpSpPr>
          <a:xfrm>
            <a:off x="731631" y="404494"/>
            <a:ext cx="7781862" cy="1176656"/>
            <a:chOff x="0" y="0"/>
            <a:chExt cx="10375816" cy="1568874"/>
          </a:xfrm>
        </p:grpSpPr>
        <p:sp>
          <p:nvSpPr>
            <p:cNvPr id="5" name="Freeform 5"/>
            <p:cNvSpPr/>
            <p:nvPr/>
          </p:nvSpPr>
          <p:spPr>
            <a:xfrm>
              <a:off x="0" y="0"/>
              <a:ext cx="10375816" cy="1568874"/>
            </a:xfrm>
            <a:custGeom>
              <a:avLst/>
              <a:gdLst/>
              <a:ahLst/>
              <a:cxnLst/>
              <a:rect l="l" t="t" r="r" b="b"/>
              <a:pathLst>
                <a:path w="10375816" h="1568874">
                  <a:moveTo>
                    <a:pt x="0" y="0"/>
                  </a:moveTo>
                  <a:lnTo>
                    <a:pt x="10375816" y="0"/>
                  </a:lnTo>
                  <a:lnTo>
                    <a:pt x="10375816" y="1568874"/>
                  </a:lnTo>
                  <a:lnTo>
                    <a:pt x="0" y="1568874"/>
                  </a:lnTo>
                  <a:close/>
                </a:path>
              </a:pathLst>
            </a:custGeom>
            <a:solidFill>
              <a:srgbClr val="2B211A">
                <a:alpha val="0"/>
              </a:srgbClr>
            </a:solidFill>
          </p:spPr>
          <p:txBody>
            <a:bodyPr/>
            <a:lstStyle/>
            <a:p>
              <a:endParaRPr/>
            </a:p>
          </p:txBody>
        </p:sp>
        <p:sp>
          <p:nvSpPr>
            <p:cNvPr id="6" name="TextBox 6"/>
            <p:cNvSpPr txBox="1"/>
            <p:nvPr/>
          </p:nvSpPr>
          <p:spPr>
            <a:xfrm>
              <a:off x="0" y="-19050"/>
              <a:ext cx="10375816" cy="1587924"/>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SYSTEM ARCHITECTURE :</a:t>
              </a:r>
            </a:p>
            <a:p>
              <a:pPr algn="l">
                <a:lnSpc>
                  <a:spcPts val="4369"/>
                </a:lnSpc>
              </a:pPr>
              <a:endParaRPr lang="en-US" sz="2800" dirty="0">
                <a:solidFill>
                  <a:srgbClr val="7C2D12"/>
                </a:solidFill>
                <a:latin typeface="Times New Roman"/>
                <a:ea typeface="Times New Roman"/>
                <a:cs typeface="Times New Roman"/>
                <a:sym typeface="Brasika"/>
              </a:endParaRPr>
            </a:p>
          </p:txBody>
        </p:sp>
      </p:grpSp>
      <p:grpSp>
        <p:nvGrpSpPr>
          <p:cNvPr id="7" name="Group 7"/>
          <p:cNvGrpSpPr/>
          <p:nvPr/>
        </p:nvGrpSpPr>
        <p:grpSpPr>
          <a:xfrm>
            <a:off x="731631" y="1624794"/>
            <a:ext cx="6956107" cy="38100"/>
            <a:chOff x="0" y="0"/>
            <a:chExt cx="9274809" cy="50800"/>
          </a:xfrm>
        </p:grpSpPr>
        <p:sp>
          <p:nvSpPr>
            <p:cNvPr id="8" name="Freeform 8"/>
            <p:cNvSpPr/>
            <p:nvPr/>
          </p:nvSpPr>
          <p:spPr>
            <a:xfrm>
              <a:off x="0" y="0"/>
              <a:ext cx="9274810" cy="50800"/>
            </a:xfrm>
            <a:custGeom>
              <a:avLst/>
              <a:gdLst/>
              <a:ahLst/>
              <a:cxnLst/>
              <a:rect l="l" t="t" r="r" b="b"/>
              <a:pathLst>
                <a:path w="9274810" h="50800">
                  <a:moveTo>
                    <a:pt x="0" y="0"/>
                  </a:moveTo>
                  <a:lnTo>
                    <a:pt x="9274810" y="0"/>
                  </a:lnTo>
                  <a:lnTo>
                    <a:pt x="9274810" y="50800"/>
                  </a:lnTo>
                  <a:lnTo>
                    <a:pt x="0" y="50800"/>
                  </a:lnTo>
                  <a:close/>
                </a:path>
              </a:pathLst>
            </a:custGeom>
            <a:solidFill>
              <a:srgbClr val="A8917A"/>
            </a:solidFill>
          </p:spPr>
          <p:txBody>
            <a:bodyPr/>
            <a:lstStyle/>
            <a:p>
              <a:endParaRPr/>
            </a:p>
          </p:txBody>
        </p:sp>
      </p:grpSp>
      <p:sp>
        <p:nvSpPr>
          <p:cNvPr id="9" name="Freeform 9"/>
          <p:cNvSpPr/>
          <p:nvPr/>
        </p:nvSpPr>
        <p:spPr>
          <a:xfrm>
            <a:off x="16222161" y="-754576"/>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3"/>
                </a:ext>
              </a:extLst>
            </a:blip>
            <a:stretch>
              <a:fillRect l="-25" r="-25"/>
            </a:stretch>
          </a:blipFill>
        </p:spPr>
        <p:txBody>
          <a:bodyPr/>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Freeform 2"/>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grpSp>
        <p:nvGrpSpPr>
          <p:cNvPr id="3" name="Group 3"/>
          <p:cNvGrpSpPr/>
          <p:nvPr/>
        </p:nvGrpSpPr>
        <p:grpSpPr>
          <a:xfrm>
            <a:off x="731631" y="762744"/>
            <a:ext cx="7781862" cy="1004205"/>
            <a:chOff x="0" y="0"/>
            <a:chExt cx="10375816" cy="1338941"/>
          </a:xfrm>
        </p:grpSpPr>
        <p:sp>
          <p:nvSpPr>
            <p:cNvPr id="4" name="Freeform 4"/>
            <p:cNvSpPr/>
            <p:nvPr/>
          </p:nvSpPr>
          <p:spPr>
            <a:xfrm>
              <a:off x="0" y="0"/>
              <a:ext cx="10375816" cy="1338941"/>
            </a:xfrm>
            <a:custGeom>
              <a:avLst/>
              <a:gdLst/>
              <a:ahLst/>
              <a:cxnLst/>
              <a:rect l="l" t="t" r="r" b="b"/>
              <a:pathLst>
                <a:path w="10375816" h="1338941">
                  <a:moveTo>
                    <a:pt x="0" y="0"/>
                  </a:moveTo>
                  <a:lnTo>
                    <a:pt x="10375816" y="0"/>
                  </a:lnTo>
                  <a:lnTo>
                    <a:pt x="10375816" y="1338941"/>
                  </a:lnTo>
                  <a:lnTo>
                    <a:pt x="0" y="1338941"/>
                  </a:lnTo>
                  <a:close/>
                </a:path>
              </a:pathLst>
            </a:custGeom>
            <a:solidFill>
              <a:srgbClr val="2B211A">
                <a:alpha val="0"/>
              </a:srgbClr>
            </a:solidFill>
          </p:spPr>
          <p:txBody>
            <a:bodyPr/>
            <a:lstStyle/>
            <a:p>
              <a:endParaRPr/>
            </a:p>
          </p:txBody>
        </p:sp>
        <p:sp>
          <p:nvSpPr>
            <p:cNvPr id="5" name="TextBox 5"/>
            <p:cNvSpPr txBox="1"/>
            <p:nvPr/>
          </p:nvSpPr>
          <p:spPr>
            <a:xfrm>
              <a:off x="0" y="-19050"/>
              <a:ext cx="10375816" cy="1357991"/>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MODULES IMPLEMENTED :</a:t>
              </a:r>
            </a:p>
          </p:txBody>
        </p:sp>
      </p:grpSp>
      <p:grpSp>
        <p:nvGrpSpPr>
          <p:cNvPr id="6" name="Group 6"/>
          <p:cNvGrpSpPr/>
          <p:nvPr/>
        </p:nvGrpSpPr>
        <p:grpSpPr>
          <a:xfrm>
            <a:off x="731631" y="1912729"/>
            <a:ext cx="3991451" cy="57150"/>
            <a:chOff x="0" y="0"/>
            <a:chExt cx="5321935" cy="76200"/>
          </a:xfrm>
        </p:grpSpPr>
        <p:sp>
          <p:nvSpPr>
            <p:cNvPr id="7" name="Freeform 7"/>
            <p:cNvSpPr/>
            <p:nvPr/>
          </p:nvSpPr>
          <p:spPr>
            <a:xfrm>
              <a:off x="0" y="0"/>
              <a:ext cx="5321935" cy="76200"/>
            </a:xfrm>
            <a:custGeom>
              <a:avLst/>
              <a:gdLst/>
              <a:ahLst/>
              <a:cxnLst/>
              <a:rect l="l" t="t" r="r" b="b"/>
              <a:pathLst>
                <a:path w="5321935" h="76200">
                  <a:moveTo>
                    <a:pt x="0" y="25400"/>
                  </a:moveTo>
                  <a:lnTo>
                    <a:pt x="5321681" y="0"/>
                  </a:lnTo>
                  <a:lnTo>
                    <a:pt x="5321935" y="50800"/>
                  </a:lnTo>
                  <a:lnTo>
                    <a:pt x="254" y="76200"/>
                  </a:lnTo>
                  <a:close/>
                </a:path>
              </a:pathLst>
            </a:custGeom>
            <a:solidFill>
              <a:srgbClr val="A8917A"/>
            </a:solidFill>
          </p:spPr>
          <p:txBody>
            <a:bodyPr/>
            <a:lstStyle/>
            <a:p>
              <a:endParaRPr/>
            </a:p>
          </p:txBody>
        </p:sp>
      </p:grpSp>
      <p:grpSp>
        <p:nvGrpSpPr>
          <p:cNvPr id="8" name="Group 8"/>
          <p:cNvGrpSpPr/>
          <p:nvPr/>
        </p:nvGrpSpPr>
        <p:grpSpPr>
          <a:xfrm>
            <a:off x="731631" y="2526685"/>
            <a:ext cx="14302398" cy="5800725"/>
            <a:chOff x="0" y="0"/>
            <a:chExt cx="19069864" cy="7734300"/>
          </a:xfrm>
        </p:grpSpPr>
        <p:sp>
          <p:nvSpPr>
            <p:cNvPr id="9" name="Freeform 9"/>
            <p:cNvSpPr/>
            <p:nvPr/>
          </p:nvSpPr>
          <p:spPr>
            <a:xfrm>
              <a:off x="0" y="0"/>
              <a:ext cx="19069864" cy="7734300"/>
            </a:xfrm>
            <a:custGeom>
              <a:avLst/>
              <a:gdLst/>
              <a:ahLst/>
              <a:cxnLst/>
              <a:rect l="l" t="t" r="r" b="b"/>
              <a:pathLst>
                <a:path w="19069864" h="7734300">
                  <a:moveTo>
                    <a:pt x="0" y="0"/>
                  </a:moveTo>
                  <a:lnTo>
                    <a:pt x="19069864" y="0"/>
                  </a:lnTo>
                  <a:lnTo>
                    <a:pt x="19069864" y="7734300"/>
                  </a:lnTo>
                  <a:lnTo>
                    <a:pt x="0" y="7734300"/>
                  </a:lnTo>
                  <a:close/>
                </a:path>
              </a:pathLst>
            </a:custGeom>
            <a:solidFill>
              <a:srgbClr val="2B211A">
                <a:alpha val="0"/>
              </a:srgbClr>
            </a:solidFill>
          </p:spPr>
          <p:txBody>
            <a:bodyPr/>
            <a:lstStyle/>
            <a:p>
              <a:endParaRPr/>
            </a:p>
          </p:txBody>
        </p:sp>
        <p:sp>
          <p:nvSpPr>
            <p:cNvPr id="10" name="TextBox 10"/>
            <p:cNvSpPr txBox="1"/>
            <p:nvPr/>
          </p:nvSpPr>
          <p:spPr>
            <a:xfrm>
              <a:off x="0" y="-190500"/>
              <a:ext cx="19069864" cy="7924800"/>
            </a:xfrm>
            <a:prstGeom prst="rect">
              <a:avLst/>
            </a:prstGeom>
          </p:spPr>
          <p:txBody>
            <a:bodyPr lIns="0" tIns="0" rIns="0" bIns="0" rtlCol="0" anchor="t"/>
            <a:lstStyle/>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Devotee module – Temple search with live waiting time, slot booking for a group, QR token, live queue position, reminders and cancellation.</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Gate staff module – QR scanning at the entry and exit gates, a walk-in token counter with printable slips, and a live view of every queue lane.</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Kiosk and display board – Self-service token kiosk at the entrance and a full-screen board showing live queues and the least crowded hours.</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Temple admin module – Crowd dashboard, occupancy alerts, pause or resume entry, slot capacity, announcements, staff accounts and festival calendar.</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Superadmin module – Onboarding of new temples along with their admin account, and platform-wide monitoring of every temple.</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Freeform 2"/>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grpSp>
        <p:nvGrpSpPr>
          <p:cNvPr id="3" name="Group 3"/>
          <p:cNvGrpSpPr/>
          <p:nvPr/>
        </p:nvGrpSpPr>
        <p:grpSpPr>
          <a:xfrm>
            <a:off x="731631" y="762744"/>
            <a:ext cx="7781862" cy="1004205"/>
            <a:chOff x="0" y="0"/>
            <a:chExt cx="10375816" cy="1338941"/>
          </a:xfrm>
        </p:grpSpPr>
        <p:sp>
          <p:nvSpPr>
            <p:cNvPr id="4" name="Freeform 4"/>
            <p:cNvSpPr/>
            <p:nvPr/>
          </p:nvSpPr>
          <p:spPr>
            <a:xfrm>
              <a:off x="0" y="0"/>
              <a:ext cx="10375816" cy="1338941"/>
            </a:xfrm>
            <a:custGeom>
              <a:avLst/>
              <a:gdLst/>
              <a:ahLst/>
              <a:cxnLst/>
              <a:rect l="l" t="t" r="r" b="b"/>
              <a:pathLst>
                <a:path w="10375816" h="1338941">
                  <a:moveTo>
                    <a:pt x="0" y="0"/>
                  </a:moveTo>
                  <a:lnTo>
                    <a:pt x="10375816" y="0"/>
                  </a:lnTo>
                  <a:lnTo>
                    <a:pt x="10375816" y="1338941"/>
                  </a:lnTo>
                  <a:lnTo>
                    <a:pt x="0" y="1338941"/>
                  </a:lnTo>
                  <a:close/>
                </a:path>
              </a:pathLst>
            </a:custGeom>
            <a:solidFill>
              <a:srgbClr val="2B211A">
                <a:alpha val="0"/>
              </a:srgbClr>
            </a:solidFill>
          </p:spPr>
          <p:txBody>
            <a:bodyPr/>
            <a:lstStyle/>
            <a:p>
              <a:endParaRPr/>
            </a:p>
          </p:txBody>
        </p:sp>
        <p:sp>
          <p:nvSpPr>
            <p:cNvPr id="5" name="TextBox 5"/>
            <p:cNvSpPr txBox="1"/>
            <p:nvPr/>
          </p:nvSpPr>
          <p:spPr>
            <a:xfrm>
              <a:off x="0" y="-19050"/>
              <a:ext cx="10375816" cy="1357991"/>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SYSTEM DESIGN :</a:t>
              </a:r>
            </a:p>
          </p:txBody>
        </p:sp>
      </p:grpSp>
      <p:grpSp>
        <p:nvGrpSpPr>
          <p:cNvPr id="6" name="Group 6"/>
          <p:cNvGrpSpPr/>
          <p:nvPr/>
        </p:nvGrpSpPr>
        <p:grpSpPr>
          <a:xfrm>
            <a:off x="731631" y="1912729"/>
            <a:ext cx="3991451" cy="57150"/>
            <a:chOff x="0" y="0"/>
            <a:chExt cx="5321935" cy="76200"/>
          </a:xfrm>
        </p:grpSpPr>
        <p:sp>
          <p:nvSpPr>
            <p:cNvPr id="7" name="Freeform 7"/>
            <p:cNvSpPr/>
            <p:nvPr/>
          </p:nvSpPr>
          <p:spPr>
            <a:xfrm>
              <a:off x="0" y="0"/>
              <a:ext cx="5321935" cy="76200"/>
            </a:xfrm>
            <a:custGeom>
              <a:avLst/>
              <a:gdLst/>
              <a:ahLst/>
              <a:cxnLst/>
              <a:rect l="l" t="t" r="r" b="b"/>
              <a:pathLst>
                <a:path w="5321935" h="76200">
                  <a:moveTo>
                    <a:pt x="0" y="25400"/>
                  </a:moveTo>
                  <a:lnTo>
                    <a:pt x="5321681" y="0"/>
                  </a:lnTo>
                  <a:lnTo>
                    <a:pt x="5321935" y="50800"/>
                  </a:lnTo>
                  <a:lnTo>
                    <a:pt x="254" y="76200"/>
                  </a:lnTo>
                  <a:close/>
                </a:path>
              </a:pathLst>
            </a:custGeom>
            <a:solidFill>
              <a:srgbClr val="A8917A"/>
            </a:solidFill>
          </p:spPr>
          <p:txBody>
            <a:bodyPr/>
            <a:lstStyle/>
            <a:p>
              <a:endParaRPr/>
            </a:p>
          </p:txBody>
        </p:sp>
      </p:grpSp>
      <p:grpSp>
        <p:nvGrpSpPr>
          <p:cNvPr id="8" name="Group 8"/>
          <p:cNvGrpSpPr/>
          <p:nvPr/>
        </p:nvGrpSpPr>
        <p:grpSpPr>
          <a:xfrm>
            <a:off x="731631" y="2526685"/>
            <a:ext cx="14302398" cy="5800725"/>
            <a:chOff x="0" y="0"/>
            <a:chExt cx="19069864" cy="7734300"/>
          </a:xfrm>
        </p:grpSpPr>
        <p:sp>
          <p:nvSpPr>
            <p:cNvPr id="9" name="Freeform 9"/>
            <p:cNvSpPr/>
            <p:nvPr/>
          </p:nvSpPr>
          <p:spPr>
            <a:xfrm>
              <a:off x="0" y="0"/>
              <a:ext cx="19069864" cy="7734300"/>
            </a:xfrm>
            <a:custGeom>
              <a:avLst/>
              <a:gdLst/>
              <a:ahLst/>
              <a:cxnLst/>
              <a:rect l="l" t="t" r="r" b="b"/>
              <a:pathLst>
                <a:path w="19069864" h="7734300">
                  <a:moveTo>
                    <a:pt x="0" y="0"/>
                  </a:moveTo>
                  <a:lnTo>
                    <a:pt x="19069864" y="0"/>
                  </a:lnTo>
                  <a:lnTo>
                    <a:pt x="19069864" y="7734300"/>
                  </a:lnTo>
                  <a:lnTo>
                    <a:pt x="0" y="7734300"/>
                  </a:lnTo>
                  <a:close/>
                </a:path>
              </a:pathLst>
            </a:custGeom>
            <a:solidFill>
              <a:srgbClr val="2B211A">
                <a:alpha val="0"/>
              </a:srgbClr>
            </a:solidFill>
          </p:spPr>
          <p:txBody>
            <a:bodyPr/>
            <a:lstStyle/>
            <a:p>
              <a:endParaRPr/>
            </a:p>
          </p:txBody>
        </p:sp>
        <p:sp>
          <p:nvSpPr>
            <p:cNvPr id="10" name="TextBox 10"/>
            <p:cNvSpPr txBox="1"/>
            <p:nvPr/>
          </p:nvSpPr>
          <p:spPr>
            <a:xfrm>
              <a:off x="0" y="-190500"/>
              <a:ext cx="19069864" cy="7924800"/>
            </a:xfrm>
            <a:prstGeom prst="rect">
              <a:avLst/>
            </a:prstGeom>
          </p:spPr>
          <p:txBody>
            <a:bodyPr lIns="0" tIns="0" rIns="0" bIns="0" rtlCol="0" anchor="t"/>
            <a:lstStyle/>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Database – MongoDB collections for users, temples, slots, tokens, hourly footfall logs, announcements and crowd alerts.</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Slot generation – Slots are created automatically for the booking window from each darshan type's duration and capacity; festival days get extra capacity.</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Capacity split – Every slot keeps one quota for online booking and one for walk-ins, and unsold online seats are released to walk-ins before the slot starts.</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Token lifecycle – Booked, checked-in at the entry scan and completed at the exit scan; missed and cancelled tokens are closed by scheduled jobs.</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Safe concurrency – Seats are reserved with a single atomic database update, so simultaneous bookings can never exceed the capacity of a slot.</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Freeform 2"/>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grpSp>
        <p:nvGrpSpPr>
          <p:cNvPr id="3" name="Group 3"/>
          <p:cNvGrpSpPr/>
          <p:nvPr/>
        </p:nvGrpSpPr>
        <p:grpSpPr>
          <a:xfrm>
            <a:off x="731631" y="762744"/>
            <a:ext cx="7781862" cy="1004205"/>
            <a:chOff x="0" y="0"/>
            <a:chExt cx="10375816" cy="1338941"/>
          </a:xfrm>
        </p:grpSpPr>
        <p:sp>
          <p:nvSpPr>
            <p:cNvPr id="4" name="Freeform 4"/>
            <p:cNvSpPr/>
            <p:nvPr/>
          </p:nvSpPr>
          <p:spPr>
            <a:xfrm>
              <a:off x="0" y="0"/>
              <a:ext cx="10375816" cy="1338941"/>
            </a:xfrm>
            <a:custGeom>
              <a:avLst/>
              <a:gdLst/>
              <a:ahLst/>
              <a:cxnLst/>
              <a:rect l="l" t="t" r="r" b="b"/>
              <a:pathLst>
                <a:path w="10375816" h="1338941">
                  <a:moveTo>
                    <a:pt x="0" y="0"/>
                  </a:moveTo>
                  <a:lnTo>
                    <a:pt x="10375816" y="0"/>
                  </a:lnTo>
                  <a:lnTo>
                    <a:pt x="10375816" y="1338941"/>
                  </a:lnTo>
                  <a:lnTo>
                    <a:pt x="0" y="1338941"/>
                  </a:lnTo>
                  <a:close/>
                </a:path>
              </a:pathLst>
            </a:custGeom>
            <a:solidFill>
              <a:srgbClr val="2B211A">
                <a:alpha val="0"/>
              </a:srgbClr>
            </a:solidFill>
          </p:spPr>
          <p:txBody>
            <a:bodyPr/>
            <a:lstStyle/>
            <a:p>
              <a:endParaRPr/>
            </a:p>
          </p:txBody>
        </p:sp>
        <p:sp>
          <p:nvSpPr>
            <p:cNvPr id="5" name="TextBox 5"/>
            <p:cNvSpPr txBox="1"/>
            <p:nvPr/>
          </p:nvSpPr>
          <p:spPr>
            <a:xfrm>
              <a:off x="0" y="-19050"/>
              <a:ext cx="10375816" cy="1357991"/>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WAIT-TIME ENGINE :</a:t>
              </a:r>
            </a:p>
          </p:txBody>
        </p:sp>
      </p:grpSp>
      <p:grpSp>
        <p:nvGrpSpPr>
          <p:cNvPr id="6" name="Group 6"/>
          <p:cNvGrpSpPr/>
          <p:nvPr/>
        </p:nvGrpSpPr>
        <p:grpSpPr>
          <a:xfrm>
            <a:off x="731631" y="1912729"/>
            <a:ext cx="3991451" cy="57150"/>
            <a:chOff x="0" y="0"/>
            <a:chExt cx="5321935" cy="76200"/>
          </a:xfrm>
        </p:grpSpPr>
        <p:sp>
          <p:nvSpPr>
            <p:cNvPr id="7" name="Freeform 7"/>
            <p:cNvSpPr/>
            <p:nvPr/>
          </p:nvSpPr>
          <p:spPr>
            <a:xfrm>
              <a:off x="0" y="0"/>
              <a:ext cx="5321935" cy="76200"/>
            </a:xfrm>
            <a:custGeom>
              <a:avLst/>
              <a:gdLst/>
              <a:ahLst/>
              <a:cxnLst/>
              <a:rect l="l" t="t" r="r" b="b"/>
              <a:pathLst>
                <a:path w="5321935" h="76200">
                  <a:moveTo>
                    <a:pt x="0" y="25400"/>
                  </a:moveTo>
                  <a:lnTo>
                    <a:pt x="5321681" y="0"/>
                  </a:lnTo>
                  <a:lnTo>
                    <a:pt x="5321935" y="50800"/>
                  </a:lnTo>
                  <a:lnTo>
                    <a:pt x="254" y="76200"/>
                  </a:lnTo>
                  <a:close/>
                </a:path>
              </a:pathLst>
            </a:custGeom>
            <a:solidFill>
              <a:srgbClr val="A8917A"/>
            </a:solidFill>
          </p:spPr>
          <p:txBody>
            <a:bodyPr/>
            <a:lstStyle/>
            <a:p>
              <a:endParaRPr/>
            </a:p>
          </p:txBody>
        </p:sp>
      </p:grpSp>
      <p:grpSp>
        <p:nvGrpSpPr>
          <p:cNvPr id="8" name="Group 8"/>
          <p:cNvGrpSpPr/>
          <p:nvPr/>
        </p:nvGrpSpPr>
        <p:grpSpPr>
          <a:xfrm>
            <a:off x="731631" y="2526685"/>
            <a:ext cx="14302398" cy="5800725"/>
            <a:chOff x="0" y="0"/>
            <a:chExt cx="19069864" cy="7734300"/>
          </a:xfrm>
        </p:grpSpPr>
        <p:sp>
          <p:nvSpPr>
            <p:cNvPr id="9" name="Freeform 9"/>
            <p:cNvSpPr/>
            <p:nvPr/>
          </p:nvSpPr>
          <p:spPr>
            <a:xfrm>
              <a:off x="0" y="0"/>
              <a:ext cx="19069864" cy="7734300"/>
            </a:xfrm>
            <a:custGeom>
              <a:avLst/>
              <a:gdLst/>
              <a:ahLst/>
              <a:cxnLst/>
              <a:rect l="l" t="t" r="r" b="b"/>
              <a:pathLst>
                <a:path w="19069864" h="7734300">
                  <a:moveTo>
                    <a:pt x="0" y="0"/>
                  </a:moveTo>
                  <a:lnTo>
                    <a:pt x="19069864" y="0"/>
                  </a:lnTo>
                  <a:lnTo>
                    <a:pt x="19069864" y="7734300"/>
                  </a:lnTo>
                  <a:lnTo>
                    <a:pt x="0" y="7734300"/>
                  </a:lnTo>
                  <a:close/>
                </a:path>
              </a:pathLst>
            </a:custGeom>
            <a:solidFill>
              <a:srgbClr val="2B211A">
                <a:alpha val="0"/>
              </a:srgbClr>
            </a:solidFill>
          </p:spPr>
          <p:txBody>
            <a:bodyPr/>
            <a:lstStyle/>
            <a:p>
              <a:endParaRPr/>
            </a:p>
          </p:txBody>
        </p:sp>
        <p:sp>
          <p:nvSpPr>
            <p:cNvPr id="10" name="TextBox 10"/>
            <p:cNvSpPr txBox="1"/>
            <p:nvPr/>
          </p:nvSpPr>
          <p:spPr>
            <a:xfrm>
              <a:off x="0" y="-190500"/>
              <a:ext cx="19069864" cy="7924800"/>
            </a:xfrm>
            <a:prstGeom prst="rect">
              <a:avLst/>
            </a:prstGeom>
          </p:spPr>
          <p:txBody>
            <a:bodyPr lIns="0" tIns="0" rIns="0" bIns="0" rtlCol="0" anchor="t"/>
            <a:lstStyle/>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Live queue count – Entry scans add devotees to a lane and exit scans remove them, so the count always reflects the crowd actually inside.</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Service rate – The engine measures how many devotees complete darshan in the last 15 minutes, and uses the designed capacity until enough exits are seen.</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Waiting time – Estimated wait = devotees in queue ÷ measured service rate, calculated separately for each darshan lane.</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Real-time delivery – Every scan republishes the queue snapshot over Socket.IO to devotee phones, display boards and the admin dashboard.</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Crowd control – Alerts are raised at 90% and 100% of the safe limit, and entry can be paused at all gates instantly or automatically.</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Freeform 2"/>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grpSp>
        <p:nvGrpSpPr>
          <p:cNvPr id="3" name="Group 3"/>
          <p:cNvGrpSpPr/>
          <p:nvPr/>
        </p:nvGrpSpPr>
        <p:grpSpPr>
          <a:xfrm>
            <a:off x="731631" y="762744"/>
            <a:ext cx="7781862" cy="1004205"/>
            <a:chOff x="0" y="0"/>
            <a:chExt cx="10375816" cy="1338941"/>
          </a:xfrm>
        </p:grpSpPr>
        <p:sp>
          <p:nvSpPr>
            <p:cNvPr id="4" name="Freeform 4"/>
            <p:cNvSpPr/>
            <p:nvPr/>
          </p:nvSpPr>
          <p:spPr>
            <a:xfrm>
              <a:off x="0" y="0"/>
              <a:ext cx="10375816" cy="1338941"/>
            </a:xfrm>
            <a:custGeom>
              <a:avLst/>
              <a:gdLst/>
              <a:ahLst/>
              <a:cxnLst/>
              <a:rect l="l" t="t" r="r" b="b"/>
              <a:pathLst>
                <a:path w="10375816" h="1338941">
                  <a:moveTo>
                    <a:pt x="0" y="0"/>
                  </a:moveTo>
                  <a:lnTo>
                    <a:pt x="10375816" y="0"/>
                  </a:lnTo>
                  <a:lnTo>
                    <a:pt x="10375816" y="1338941"/>
                  </a:lnTo>
                  <a:lnTo>
                    <a:pt x="0" y="1338941"/>
                  </a:lnTo>
                  <a:close/>
                </a:path>
              </a:pathLst>
            </a:custGeom>
            <a:solidFill>
              <a:srgbClr val="2B211A">
                <a:alpha val="0"/>
              </a:srgbClr>
            </a:solidFill>
          </p:spPr>
          <p:txBody>
            <a:bodyPr/>
            <a:lstStyle/>
            <a:p>
              <a:endParaRPr/>
            </a:p>
          </p:txBody>
        </p:sp>
        <p:sp>
          <p:nvSpPr>
            <p:cNvPr id="5" name="TextBox 5"/>
            <p:cNvSpPr txBox="1"/>
            <p:nvPr/>
          </p:nvSpPr>
          <p:spPr>
            <a:xfrm>
              <a:off x="0" y="-19050"/>
              <a:ext cx="10375816" cy="1357991"/>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PREDICTION MODULE :</a:t>
              </a:r>
            </a:p>
          </p:txBody>
        </p:sp>
      </p:grpSp>
      <p:grpSp>
        <p:nvGrpSpPr>
          <p:cNvPr id="6" name="Group 6"/>
          <p:cNvGrpSpPr/>
          <p:nvPr/>
        </p:nvGrpSpPr>
        <p:grpSpPr>
          <a:xfrm>
            <a:off x="731631" y="1912729"/>
            <a:ext cx="3991451" cy="57150"/>
            <a:chOff x="0" y="0"/>
            <a:chExt cx="5321935" cy="76200"/>
          </a:xfrm>
        </p:grpSpPr>
        <p:sp>
          <p:nvSpPr>
            <p:cNvPr id="7" name="Freeform 7"/>
            <p:cNvSpPr/>
            <p:nvPr/>
          </p:nvSpPr>
          <p:spPr>
            <a:xfrm>
              <a:off x="0" y="0"/>
              <a:ext cx="5321935" cy="76200"/>
            </a:xfrm>
            <a:custGeom>
              <a:avLst/>
              <a:gdLst/>
              <a:ahLst/>
              <a:cxnLst/>
              <a:rect l="l" t="t" r="r" b="b"/>
              <a:pathLst>
                <a:path w="5321935" h="76200">
                  <a:moveTo>
                    <a:pt x="0" y="25400"/>
                  </a:moveTo>
                  <a:lnTo>
                    <a:pt x="5321681" y="0"/>
                  </a:lnTo>
                  <a:lnTo>
                    <a:pt x="5321935" y="50800"/>
                  </a:lnTo>
                  <a:lnTo>
                    <a:pt x="254" y="76200"/>
                  </a:lnTo>
                  <a:close/>
                </a:path>
              </a:pathLst>
            </a:custGeom>
            <a:solidFill>
              <a:srgbClr val="A8917A"/>
            </a:solidFill>
          </p:spPr>
          <p:txBody>
            <a:bodyPr/>
            <a:lstStyle/>
            <a:p>
              <a:endParaRPr/>
            </a:p>
          </p:txBody>
        </p:sp>
      </p:grpSp>
      <p:grpSp>
        <p:nvGrpSpPr>
          <p:cNvPr id="8" name="Group 8"/>
          <p:cNvGrpSpPr/>
          <p:nvPr/>
        </p:nvGrpSpPr>
        <p:grpSpPr>
          <a:xfrm>
            <a:off x="731631" y="2526685"/>
            <a:ext cx="14302398" cy="5800725"/>
            <a:chOff x="0" y="0"/>
            <a:chExt cx="19069864" cy="7734300"/>
          </a:xfrm>
        </p:grpSpPr>
        <p:sp>
          <p:nvSpPr>
            <p:cNvPr id="9" name="Freeform 9"/>
            <p:cNvSpPr/>
            <p:nvPr/>
          </p:nvSpPr>
          <p:spPr>
            <a:xfrm>
              <a:off x="0" y="0"/>
              <a:ext cx="19069864" cy="7734300"/>
            </a:xfrm>
            <a:custGeom>
              <a:avLst/>
              <a:gdLst/>
              <a:ahLst/>
              <a:cxnLst/>
              <a:rect l="l" t="t" r="r" b="b"/>
              <a:pathLst>
                <a:path w="19069864" h="7734300">
                  <a:moveTo>
                    <a:pt x="0" y="0"/>
                  </a:moveTo>
                  <a:lnTo>
                    <a:pt x="19069864" y="0"/>
                  </a:lnTo>
                  <a:lnTo>
                    <a:pt x="19069864" y="7734300"/>
                  </a:lnTo>
                  <a:lnTo>
                    <a:pt x="0" y="7734300"/>
                  </a:lnTo>
                  <a:close/>
                </a:path>
              </a:pathLst>
            </a:custGeom>
            <a:solidFill>
              <a:srgbClr val="2B211A">
                <a:alpha val="0"/>
              </a:srgbClr>
            </a:solidFill>
          </p:spPr>
          <p:txBody>
            <a:bodyPr/>
            <a:lstStyle/>
            <a:p>
              <a:endParaRPr/>
            </a:p>
          </p:txBody>
        </p:sp>
        <p:sp>
          <p:nvSpPr>
            <p:cNvPr id="10" name="TextBox 10"/>
            <p:cNvSpPr txBox="1"/>
            <p:nvPr/>
          </p:nvSpPr>
          <p:spPr>
            <a:xfrm>
              <a:off x="0" y="-190500"/>
              <a:ext cx="19069864" cy="7924800"/>
            </a:xfrm>
            <a:prstGeom prst="rect">
              <a:avLst/>
            </a:prstGeom>
          </p:spPr>
          <p:txBody>
            <a:bodyPr lIns="0" tIns="0" rIns="0" bIns="0" rtlCol="0" anchor="t"/>
            <a:lstStyle/>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Training data – Every gate scan updates an hourly footfall log; 90 days of history per temple were used for training and evaluation.</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Features – Hour of the day with cyclic encoding, day of week, weekend flag, month and festival flag.</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Model – A Random Forest Regressor of 200 trees is trained for each temple in a Python (Flask) service and evaluated on a 20% test split.</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Accuracy – R² of 0.91 to 0.94 with a mean absolute error of 13 to 39 visitors per hour, about 24% lower error than a weekday-hour average baseline.</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Output – Hourly crowd forecast, peak hour and the three least crowded hours; historical averages are used if the prediction service is offline.</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grpSp>
        <p:nvGrpSpPr>
          <p:cNvPr id="2" name="Group 2"/>
          <p:cNvGrpSpPr/>
          <p:nvPr/>
        </p:nvGrpSpPr>
        <p:grpSpPr>
          <a:xfrm>
            <a:off x="731631" y="2990539"/>
            <a:ext cx="16071914" cy="4305967"/>
            <a:chOff x="0" y="0"/>
            <a:chExt cx="21429219" cy="5741289"/>
          </a:xfrm>
        </p:grpSpPr>
      </p:grpSp>
      <p:grpSp>
        <p:nvGrpSpPr>
          <p:cNvPr id="4" name="Group 4"/>
          <p:cNvGrpSpPr/>
          <p:nvPr/>
        </p:nvGrpSpPr>
        <p:grpSpPr>
          <a:xfrm>
            <a:off x="731631" y="404494"/>
            <a:ext cx="7781862" cy="1176656"/>
            <a:chOff x="0" y="0"/>
            <a:chExt cx="10375816" cy="1568874"/>
          </a:xfrm>
        </p:grpSpPr>
        <p:sp>
          <p:nvSpPr>
            <p:cNvPr id="5" name="Freeform 5"/>
            <p:cNvSpPr/>
            <p:nvPr/>
          </p:nvSpPr>
          <p:spPr>
            <a:xfrm>
              <a:off x="0" y="0"/>
              <a:ext cx="10375816" cy="1568874"/>
            </a:xfrm>
            <a:custGeom>
              <a:avLst/>
              <a:gdLst/>
              <a:ahLst/>
              <a:cxnLst/>
              <a:rect l="l" t="t" r="r" b="b"/>
              <a:pathLst>
                <a:path w="10375816" h="1568874">
                  <a:moveTo>
                    <a:pt x="0" y="0"/>
                  </a:moveTo>
                  <a:lnTo>
                    <a:pt x="10375816" y="0"/>
                  </a:lnTo>
                  <a:lnTo>
                    <a:pt x="10375816" y="1568874"/>
                  </a:lnTo>
                  <a:lnTo>
                    <a:pt x="0" y="1568874"/>
                  </a:lnTo>
                  <a:close/>
                </a:path>
              </a:pathLst>
            </a:custGeom>
            <a:solidFill>
              <a:srgbClr val="2B211A">
                <a:alpha val="0"/>
              </a:srgbClr>
            </a:solidFill>
          </p:spPr>
          <p:txBody>
            <a:bodyPr/>
            <a:lstStyle/>
            <a:p>
              <a:endParaRPr/>
            </a:p>
          </p:txBody>
        </p:sp>
        <p:sp>
          <p:nvSpPr>
            <p:cNvPr id="6" name="TextBox 6"/>
            <p:cNvSpPr txBox="1"/>
            <p:nvPr/>
          </p:nvSpPr>
          <p:spPr>
            <a:xfrm>
              <a:off x="0" y="-19050"/>
              <a:ext cx="10375816" cy="1587924"/>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IMPLEMENTATION – DEVOTEE VIEW :</a:t>
              </a:r>
            </a:p>
            <a:p>
              <a:pPr algn="l">
                <a:lnSpc>
                  <a:spcPts val="4369"/>
                </a:lnSpc>
              </a:pPr>
              <a:endParaRPr lang="en-US" sz="2800" dirty="0">
                <a:solidFill>
                  <a:srgbClr val="7C2D12"/>
                </a:solidFill>
                <a:latin typeface="Times New Roman"/>
                <a:ea typeface="Times New Roman"/>
                <a:cs typeface="Times New Roman"/>
                <a:sym typeface="Brasika"/>
              </a:endParaRPr>
            </a:p>
          </p:txBody>
        </p:sp>
      </p:grpSp>
      <p:grpSp>
        <p:nvGrpSpPr>
          <p:cNvPr id="7" name="Group 7"/>
          <p:cNvGrpSpPr/>
          <p:nvPr/>
        </p:nvGrpSpPr>
        <p:grpSpPr>
          <a:xfrm>
            <a:off x="731631" y="1624794"/>
            <a:ext cx="6956107" cy="38100"/>
            <a:chOff x="0" y="0"/>
            <a:chExt cx="9274809" cy="50800"/>
          </a:xfrm>
        </p:grpSpPr>
        <p:sp>
          <p:nvSpPr>
            <p:cNvPr id="8" name="Freeform 8"/>
            <p:cNvSpPr/>
            <p:nvPr/>
          </p:nvSpPr>
          <p:spPr>
            <a:xfrm>
              <a:off x="0" y="0"/>
              <a:ext cx="9274810" cy="50800"/>
            </a:xfrm>
            <a:custGeom>
              <a:avLst/>
              <a:gdLst/>
              <a:ahLst/>
              <a:cxnLst/>
              <a:rect l="l" t="t" r="r" b="b"/>
              <a:pathLst>
                <a:path w="9274810" h="50800">
                  <a:moveTo>
                    <a:pt x="0" y="0"/>
                  </a:moveTo>
                  <a:lnTo>
                    <a:pt x="9274810" y="0"/>
                  </a:lnTo>
                  <a:lnTo>
                    <a:pt x="9274810" y="50800"/>
                  </a:lnTo>
                  <a:lnTo>
                    <a:pt x="0" y="50800"/>
                  </a:lnTo>
                  <a:close/>
                </a:path>
              </a:pathLst>
            </a:custGeom>
            <a:solidFill>
              <a:srgbClr val="A8917A"/>
            </a:solidFill>
          </p:spPr>
          <p:txBody>
            <a:bodyPr/>
            <a:lstStyle/>
            <a:p>
              <a:endParaRPr/>
            </a:p>
          </p:txBody>
        </p:sp>
      </p:grpSp>
      <p:sp>
        <p:nvSpPr>
          <p:cNvPr id="9" name="Freeform 9"/>
          <p:cNvSpPr/>
          <p:nvPr/>
        </p:nvSpPr>
        <p:spPr>
          <a:xfrm>
            <a:off x="16222161" y="-754576"/>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sp>
        <p:nvSpPr>
          <p:cNvPr id="101" name="Screenshot 101"/>
          <p:cNvSpPr/>
          <p:nvPr/>
        </p:nvSpPr>
        <p:spPr>
          <a:xfrm>
            <a:off x="600000" y="2150000"/>
            <a:ext cx="8300000" cy="5257000"/>
          </a:xfrm>
          <a:prstGeom prst="rect">
            <a:avLst/>
          </a:prstGeom>
          <a:blipFill>
            <a:blip r:embed="rId3"/>
            <a:stretch>
              <a:fillRect/>
            </a:stretch>
          </a:blipFill>
          <a:ln w="9525">
            <a:solidFill>
              <a:srgbClr val="E6DACB"/>
            </a:solidFill>
          </a:ln>
        </p:spPr>
        <p:txBody>
          <a:bodyPr/>
          <a:lstStyle/>
          <a:p>
            <a:endParaRPr/>
          </a:p>
        </p:txBody>
      </p:sp>
      <p:sp>
        <p:nvSpPr>
          <p:cNvPr id="102" name="Screenshot 102"/>
          <p:cNvSpPr/>
          <p:nvPr/>
        </p:nvSpPr>
        <p:spPr>
          <a:xfrm>
            <a:off x="9388000" y="2150000"/>
            <a:ext cx="8300000" cy="5257000"/>
          </a:xfrm>
          <a:prstGeom prst="rect">
            <a:avLst/>
          </a:prstGeom>
          <a:blipFill>
            <a:blip r:embed="rId4"/>
            <a:stretch>
              <a:fillRect/>
            </a:stretch>
          </a:blipFill>
          <a:ln w="9525">
            <a:solidFill>
              <a:srgbClr val="E6DACB"/>
            </a:solidFill>
          </a:ln>
        </p:spPr>
        <p:txBody>
          <a:bodyPr/>
          <a:lstStyle/>
          <a:p>
            <a:endParaRPr/>
          </a:p>
        </p:txBody>
      </p:sp>
      <p:sp>
        <p:nvSpPr>
          <p:cNvPr id="103" name="Caption 103"/>
          <p:cNvSpPr txBox="1"/>
          <p:nvPr/>
        </p:nvSpPr>
        <p:spPr>
          <a:xfrm>
            <a:off x="600000" y="7560000"/>
            <a:ext cx="8300000" cy="450000"/>
          </a:xfrm>
          <a:prstGeom prst="rect">
            <a:avLst/>
          </a:prstGeom>
        </p:spPr>
        <p:txBody>
          <a:bodyPr lIns="0" tIns="0" rIns="0" bIns="0" rtlCol="0" anchor="t"/>
          <a:lstStyle/>
          <a:p>
            <a:pPr algn="ctr"/>
            <a:r>
              <a:rPr lang="en-US" sz="1800" b="1" dirty="0">
                <a:solidFill>
                  <a:srgbClr val="7C2D12"/>
                </a:solidFill>
                <a:latin typeface="Times New Roman"/>
                <a:ea typeface="Times New Roman"/>
                <a:cs typeface="Times New Roman"/>
                <a:sym typeface="Times New Roman"/>
              </a:rPr>
              <a:t>Temple page: live queue per darshan lane and hourly crowd forecast</a:t>
            </a:r>
          </a:p>
        </p:txBody>
      </p:sp>
      <p:sp>
        <p:nvSpPr>
          <p:cNvPr id="104" name="Caption 104"/>
          <p:cNvSpPr txBox="1"/>
          <p:nvPr/>
        </p:nvSpPr>
        <p:spPr>
          <a:xfrm>
            <a:off x="9388000" y="7560000"/>
            <a:ext cx="8300000" cy="450000"/>
          </a:xfrm>
          <a:prstGeom prst="rect">
            <a:avLst/>
          </a:prstGeom>
        </p:spPr>
        <p:txBody>
          <a:bodyPr lIns="0" tIns="0" rIns="0" bIns="0" rtlCol="0" anchor="t"/>
          <a:lstStyle/>
          <a:p>
            <a:pPr algn="ctr"/>
            <a:r>
              <a:rPr lang="en-US" sz="1800" b="1" dirty="0">
                <a:solidFill>
                  <a:srgbClr val="7C2D12"/>
                </a:solidFill>
                <a:latin typeface="Times New Roman"/>
                <a:ea typeface="Times New Roman"/>
                <a:cs typeface="Times New Roman"/>
                <a:sym typeface="Times New Roman"/>
              </a:rPr>
              <a:t>Entry display board: live waiting time and least crowded hours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grpSp>
        <p:nvGrpSpPr>
          <p:cNvPr id="2" name="Group 2"/>
          <p:cNvGrpSpPr/>
          <p:nvPr/>
        </p:nvGrpSpPr>
        <p:grpSpPr>
          <a:xfrm>
            <a:off x="731631" y="2990539"/>
            <a:ext cx="16071914" cy="4305967"/>
            <a:chOff x="0" y="0"/>
            <a:chExt cx="21429219" cy="5741289"/>
          </a:xfrm>
        </p:grpSpPr>
      </p:grpSp>
      <p:grpSp>
        <p:nvGrpSpPr>
          <p:cNvPr id="4" name="Group 4"/>
          <p:cNvGrpSpPr/>
          <p:nvPr/>
        </p:nvGrpSpPr>
        <p:grpSpPr>
          <a:xfrm>
            <a:off x="731631" y="404494"/>
            <a:ext cx="7781862" cy="1176656"/>
            <a:chOff x="0" y="0"/>
            <a:chExt cx="10375816" cy="1568874"/>
          </a:xfrm>
        </p:grpSpPr>
        <p:sp>
          <p:nvSpPr>
            <p:cNvPr id="5" name="Freeform 5"/>
            <p:cNvSpPr/>
            <p:nvPr/>
          </p:nvSpPr>
          <p:spPr>
            <a:xfrm>
              <a:off x="0" y="0"/>
              <a:ext cx="10375816" cy="1568874"/>
            </a:xfrm>
            <a:custGeom>
              <a:avLst/>
              <a:gdLst/>
              <a:ahLst/>
              <a:cxnLst/>
              <a:rect l="l" t="t" r="r" b="b"/>
              <a:pathLst>
                <a:path w="10375816" h="1568874">
                  <a:moveTo>
                    <a:pt x="0" y="0"/>
                  </a:moveTo>
                  <a:lnTo>
                    <a:pt x="10375816" y="0"/>
                  </a:lnTo>
                  <a:lnTo>
                    <a:pt x="10375816" y="1568874"/>
                  </a:lnTo>
                  <a:lnTo>
                    <a:pt x="0" y="1568874"/>
                  </a:lnTo>
                  <a:close/>
                </a:path>
              </a:pathLst>
            </a:custGeom>
            <a:solidFill>
              <a:srgbClr val="2B211A">
                <a:alpha val="0"/>
              </a:srgbClr>
            </a:solidFill>
          </p:spPr>
          <p:txBody>
            <a:bodyPr/>
            <a:lstStyle/>
            <a:p>
              <a:endParaRPr/>
            </a:p>
          </p:txBody>
        </p:sp>
        <p:sp>
          <p:nvSpPr>
            <p:cNvPr id="6" name="TextBox 6"/>
            <p:cNvSpPr txBox="1"/>
            <p:nvPr/>
          </p:nvSpPr>
          <p:spPr>
            <a:xfrm>
              <a:off x="0" y="-19050"/>
              <a:ext cx="10375816" cy="1587924"/>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IMPLEMENTATION – ADMIN VIEW :</a:t>
              </a:r>
            </a:p>
            <a:p>
              <a:pPr algn="l">
                <a:lnSpc>
                  <a:spcPts val="4369"/>
                </a:lnSpc>
              </a:pPr>
              <a:endParaRPr lang="en-US" sz="2800" dirty="0">
                <a:solidFill>
                  <a:srgbClr val="7C2D12"/>
                </a:solidFill>
                <a:latin typeface="Times New Roman"/>
                <a:ea typeface="Times New Roman"/>
                <a:cs typeface="Times New Roman"/>
                <a:sym typeface="Brasika"/>
              </a:endParaRPr>
            </a:p>
          </p:txBody>
        </p:sp>
      </p:grpSp>
      <p:grpSp>
        <p:nvGrpSpPr>
          <p:cNvPr id="7" name="Group 7"/>
          <p:cNvGrpSpPr/>
          <p:nvPr/>
        </p:nvGrpSpPr>
        <p:grpSpPr>
          <a:xfrm>
            <a:off x="731631" y="1624794"/>
            <a:ext cx="6956107" cy="38100"/>
            <a:chOff x="0" y="0"/>
            <a:chExt cx="9274809" cy="50800"/>
          </a:xfrm>
        </p:grpSpPr>
        <p:sp>
          <p:nvSpPr>
            <p:cNvPr id="8" name="Freeform 8"/>
            <p:cNvSpPr/>
            <p:nvPr/>
          </p:nvSpPr>
          <p:spPr>
            <a:xfrm>
              <a:off x="0" y="0"/>
              <a:ext cx="9274810" cy="50800"/>
            </a:xfrm>
            <a:custGeom>
              <a:avLst/>
              <a:gdLst/>
              <a:ahLst/>
              <a:cxnLst/>
              <a:rect l="l" t="t" r="r" b="b"/>
              <a:pathLst>
                <a:path w="9274810" h="50800">
                  <a:moveTo>
                    <a:pt x="0" y="0"/>
                  </a:moveTo>
                  <a:lnTo>
                    <a:pt x="9274810" y="0"/>
                  </a:lnTo>
                  <a:lnTo>
                    <a:pt x="9274810" y="50800"/>
                  </a:lnTo>
                  <a:lnTo>
                    <a:pt x="0" y="50800"/>
                  </a:lnTo>
                  <a:close/>
                </a:path>
              </a:pathLst>
            </a:custGeom>
            <a:solidFill>
              <a:srgbClr val="A8917A"/>
            </a:solidFill>
          </p:spPr>
          <p:txBody>
            <a:bodyPr/>
            <a:lstStyle/>
            <a:p>
              <a:endParaRPr/>
            </a:p>
          </p:txBody>
        </p:sp>
      </p:grpSp>
      <p:sp>
        <p:nvSpPr>
          <p:cNvPr id="9" name="Freeform 9"/>
          <p:cNvSpPr/>
          <p:nvPr/>
        </p:nvSpPr>
        <p:spPr>
          <a:xfrm>
            <a:off x="16222161" y="-754576"/>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sp>
        <p:nvSpPr>
          <p:cNvPr id="101" name="Screenshot 101"/>
          <p:cNvSpPr/>
          <p:nvPr/>
        </p:nvSpPr>
        <p:spPr>
          <a:xfrm>
            <a:off x="600000" y="2150000"/>
            <a:ext cx="8300000" cy="5257000"/>
          </a:xfrm>
          <a:prstGeom prst="rect">
            <a:avLst/>
          </a:prstGeom>
          <a:blipFill>
            <a:blip r:embed="rId3"/>
            <a:stretch>
              <a:fillRect/>
            </a:stretch>
          </a:blipFill>
          <a:ln w="9525">
            <a:solidFill>
              <a:srgbClr val="E6DACB"/>
            </a:solidFill>
          </a:ln>
        </p:spPr>
        <p:txBody>
          <a:bodyPr/>
          <a:lstStyle/>
          <a:p>
            <a:endParaRPr/>
          </a:p>
        </p:txBody>
      </p:sp>
      <p:sp>
        <p:nvSpPr>
          <p:cNvPr id="102" name="Screenshot 102"/>
          <p:cNvSpPr/>
          <p:nvPr/>
        </p:nvSpPr>
        <p:spPr>
          <a:xfrm>
            <a:off x="9388000" y="2150000"/>
            <a:ext cx="8300000" cy="5257000"/>
          </a:xfrm>
          <a:prstGeom prst="rect">
            <a:avLst/>
          </a:prstGeom>
          <a:blipFill>
            <a:blip r:embed="rId4"/>
            <a:stretch>
              <a:fillRect/>
            </a:stretch>
          </a:blipFill>
          <a:ln w="9525">
            <a:solidFill>
              <a:srgbClr val="E6DACB"/>
            </a:solidFill>
          </a:ln>
        </p:spPr>
        <p:txBody>
          <a:bodyPr/>
          <a:lstStyle/>
          <a:p>
            <a:endParaRPr/>
          </a:p>
        </p:txBody>
      </p:sp>
      <p:sp>
        <p:nvSpPr>
          <p:cNvPr id="103" name="Caption 103"/>
          <p:cNvSpPr txBox="1"/>
          <p:nvPr/>
        </p:nvSpPr>
        <p:spPr>
          <a:xfrm>
            <a:off x="600000" y="7560000"/>
            <a:ext cx="8300000" cy="450000"/>
          </a:xfrm>
          <a:prstGeom prst="rect">
            <a:avLst/>
          </a:prstGeom>
        </p:spPr>
        <p:txBody>
          <a:bodyPr lIns="0" tIns="0" rIns="0" bIns="0" rtlCol="0" anchor="t"/>
          <a:lstStyle/>
          <a:p>
            <a:pPr algn="ctr"/>
            <a:r>
              <a:rPr lang="en-US" sz="1800" b="1" dirty="0">
                <a:solidFill>
                  <a:srgbClr val="7C2D12"/>
                </a:solidFill>
                <a:latin typeface="Times New Roman"/>
                <a:ea typeface="Times New Roman"/>
                <a:cs typeface="Times New Roman"/>
                <a:sym typeface="Times New Roman"/>
              </a:rPr>
              <a:t>Crowd dashboard: live occupancy, alerts and entry control</a:t>
            </a:r>
          </a:p>
        </p:txBody>
      </p:sp>
      <p:sp>
        <p:nvSpPr>
          <p:cNvPr id="104" name="Caption 104"/>
          <p:cNvSpPr txBox="1"/>
          <p:nvPr/>
        </p:nvSpPr>
        <p:spPr>
          <a:xfrm>
            <a:off x="9388000" y="7560000"/>
            <a:ext cx="8300000" cy="450000"/>
          </a:xfrm>
          <a:prstGeom prst="rect">
            <a:avLst/>
          </a:prstGeom>
        </p:spPr>
        <p:txBody>
          <a:bodyPr lIns="0" tIns="0" rIns="0" bIns="0" rtlCol="0" anchor="t"/>
          <a:lstStyle/>
          <a:p>
            <a:pPr algn="ctr"/>
            <a:r>
              <a:rPr lang="en-US" sz="1800" b="1" dirty="0">
                <a:solidFill>
                  <a:srgbClr val="7C2D12"/>
                </a:solidFill>
                <a:latin typeface="Times New Roman"/>
                <a:ea typeface="Times New Roman"/>
                <a:cs typeface="Times New Roman"/>
                <a:sym typeface="Times New Roman"/>
              </a:rPr>
              <a:t>Analytics: prediction model accuracy and 7-day forecast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Freeform 2"/>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grpSp>
        <p:nvGrpSpPr>
          <p:cNvPr id="3" name="Group 3"/>
          <p:cNvGrpSpPr/>
          <p:nvPr/>
        </p:nvGrpSpPr>
        <p:grpSpPr>
          <a:xfrm>
            <a:off x="731631" y="762744"/>
            <a:ext cx="7781862" cy="1004205"/>
            <a:chOff x="0" y="0"/>
            <a:chExt cx="10375816" cy="1338941"/>
          </a:xfrm>
        </p:grpSpPr>
        <p:sp>
          <p:nvSpPr>
            <p:cNvPr id="4" name="Freeform 4"/>
            <p:cNvSpPr/>
            <p:nvPr/>
          </p:nvSpPr>
          <p:spPr>
            <a:xfrm>
              <a:off x="0" y="0"/>
              <a:ext cx="10375816" cy="1338941"/>
            </a:xfrm>
            <a:custGeom>
              <a:avLst/>
              <a:gdLst/>
              <a:ahLst/>
              <a:cxnLst/>
              <a:rect l="l" t="t" r="r" b="b"/>
              <a:pathLst>
                <a:path w="10375816" h="1338941">
                  <a:moveTo>
                    <a:pt x="0" y="0"/>
                  </a:moveTo>
                  <a:lnTo>
                    <a:pt x="10375816" y="0"/>
                  </a:lnTo>
                  <a:lnTo>
                    <a:pt x="10375816" y="1338941"/>
                  </a:lnTo>
                  <a:lnTo>
                    <a:pt x="0" y="1338941"/>
                  </a:lnTo>
                  <a:close/>
                </a:path>
              </a:pathLst>
            </a:custGeom>
            <a:solidFill>
              <a:srgbClr val="2B211A">
                <a:alpha val="0"/>
              </a:srgbClr>
            </a:solidFill>
          </p:spPr>
          <p:txBody>
            <a:bodyPr/>
            <a:lstStyle/>
            <a:p>
              <a:endParaRPr/>
            </a:p>
          </p:txBody>
        </p:sp>
        <p:sp>
          <p:nvSpPr>
            <p:cNvPr id="5" name="TextBox 5"/>
            <p:cNvSpPr txBox="1"/>
            <p:nvPr/>
          </p:nvSpPr>
          <p:spPr>
            <a:xfrm>
              <a:off x="0" y="-19050"/>
              <a:ext cx="10375816" cy="1357991"/>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TESTING &amp; VALIDATION :</a:t>
              </a:r>
            </a:p>
          </p:txBody>
        </p:sp>
      </p:grpSp>
      <p:grpSp>
        <p:nvGrpSpPr>
          <p:cNvPr id="6" name="Group 6"/>
          <p:cNvGrpSpPr/>
          <p:nvPr/>
        </p:nvGrpSpPr>
        <p:grpSpPr>
          <a:xfrm>
            <a:off x="731631" y="1912729"/>
            <a:ext cx="3991451" cy="57150"/>
            <a:chOff x="0" y="0"/>
            <a:chExt cx="5321935" cy="76200"/>
          </a:xfrm>
        </p:grpSpPr>
        <p:sp>
          <p:nvSpPr>
            <p:cNvPr id="7" name="Freeform 7"/>
            <p:cNvSpPr/>
            <p:nvPr/>
          </p:nvSpPr>
          <p:spPr>
            <a:xfrm>
              <a:off x="0" y="0"/>
              <a:ext cx="5321935" cy="76200"/>
            </a:xfrm>
            <a:custGeom>
              <a:avLst/>
              <a:gdLst/>
              <a:ahLst/>
              <a:cxnLst/>
              <a:rect l="l" t="t" r="r" b="b"/>
              <a:pathLst>
                <a:path w="5321935" h="76200">
                  <a:moveTo>
                    <a:pt x="0" y="25400"/>
                  </a:moveTo>
                  <a:lnTo>
                    <a:pt x="5321681" y="0"/>
                  </a:lnTo>
                  <a:lnTo>
                    <a:pt x="5321935" y="50800"/>
                  </a:lnTo>
                  <a:lnTo>
                    <a:pt x="254" y="76200"/>
                  </a:lnTo>
                  <a:close/>
                </a:path>
              </a:pathLst>
            </a:custGeom>
            <a:solidFill>
              <a:srgbClr val="A8917A"/>
            </a:solidFill>
          </p:spPr>
          <p:txBody>
            <a:bodyPr/>
            <a:lstStyle/>
            <a:p>
              <a:endParaRPr/>
            </a:p>
          </p:txBody>
        </p:sp>
      </p:grpSp>
      <p:grpSp>
        <p:nvGrpSpPr>
          <p:cNvPr id="8" name="Group 8"/>
          <p:cNvGrpSpPr/>
          <p:nvPr/>
        </p:nvGrpSpPr>
        <p:grpSpPr>
          <a:xfrm>
            <a:off x="731631" y="2526685"/>
            <a:ext cx="14302398" cy="5800725"/>
            <a:chOff x="0" y="0"/>
            <a:chExt cx="19069864" cy="7734300"/>
          </a:xfrm>
        </p:grpSpPr>
        <p:sp>
          <p:nvSpPr>
            <p:cNvPr id="9" name="Freeform 9"/>
            <p:cNvSpPr/>
            <p:nvPr/>
          </p:nvSpPr>
          <p:spPr>
            <a:xfrm>
              <a:off x="0" y="0"/>
              <a:ext cx="19069864" cy="7734300"/>
            </a:xfrm>
            <a:custGeom>
              <a:avLst/>
              <a:gdLst/>
              <a:ahLst/>
              <a:cxnLst/>
              <a:rect l="l" t="t" r="r" b="b"/>
              <a:pathLst>
                <a:path w="19069864" h="7734300">
                  <a:moveTo>
                    <a:pt x="0" y="0"/>
                  </a:moveTo>
                  <a:lnTo>
                    <a:pt x="19069864" y="0"/>
                  </a:lnTo>
                  <a:lnTo>
                    <a:pt x="19069864" y="7734300"/>
                  </a:lnTo>
                  <a:lnTo>
                    <a:pt x="0" y="7734300"/>
                  </a:lnTo>
                  <a:close/>
                </a:path>
              </a:pathLst>
            </a:custGeom>
            <a:solidFill>
              <a:srgbClr val="2B211A">
                <a:alpha val="0"/>
              </a:srgbClr>
            </a:solidFill>
          </p:spPr>
          <p:txBody>
            <a:bodyPr/>
            <a:lstStyle/>
            <a:p>
              <a:endParaRPr/>
            </a:p>
          </p:txBody>
        </p:sp>
        <p:sp>
          <p:nvSpPr>
            <p:cNvPr id="10" name="TextBox 10"/>
            <p:cNvSpPr txBox="1"/>
            <p:nvPr/>
          </p:nvSpPr>
          <p:spPr>
            <a:xfrm>
              <a:off x="0" y="-190500"/>
              <a:ext cx="19069864" cy="7924800"/>
            </a:xfrm>
            <a:prstGeom prst="rect">
              <a:avLst/>
            </a:prstGeom>
          </p:spPr>
          <p:txBody>
            <a:bodyPr lIns="0" tIns="0" rIns="0" bIns="0" rtlCol="0" anchor="t"/>
            <a:lstStyle/>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Automated API tests – 49 end-to-end checks covering booking, gate scans, cancellation, admin controls and SMS replies, all passing.</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Booking limits – Slot capacity, group size and the per-devotee daily limit are each rejected correctly, and seats are released when a booking is cancelled.</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Gate scan validation – Early entry, missed slots, repeated scans, exit before entry and paused entry are refused with a clear message to the staff.</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Access control – Staff and admins are restricted to their own temple, and a superadmin must select a temple before managing it.</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Crowd simulation – A simulator issues walk-in tokens and scans continuously, confirming that waiting times, alerts and display boards update live.</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grpSp>
        <p:nvGrpSpPr>
          <p:cNvPr id="2" name="Group 2"/>
          <p:cNvGrpSpPr/>
          <p:nvPr/>
        </p:nvGrpSpPr>
        <p:grpSpPr>
          <a:xfrm>
            <a:off x="779298" y="471353"/>
            <a:ext cx="7781862" cy="1086119"/>
            <a:chOff x="0" y="0"/>
            <a:chExt cx="10375816" cy="1448158"/>
          </a:xfrm>
        </p:grpSpPr>
        <p:sp>
          <p:nvSpPr>
            <p:cNvPr id="3" name="Freeform 3"/>
            <p:cNvSpPr/>
            <p:nvPr/>
          </p:nvSpPr>
          <p:spPr>
            <a:xfrm>
              <a:off x="0" y="0"/>
              <a:ext cx="10375816" cy="1448158"/>
            </a:xfrm>
            <a:custGeom>
              <a:avLst/>
              <a:gdLst/>
              <a:ahLst/>
              <a:cxnLst/>
              <a:rect l="l" t="t" r="r" b="b"/>
              <a:pathLst>
                <a:path w="10375816" h="1448158">
                  <a:moveTo>
                    <a:pt x="0" y="0"/>
                  </a:moveTo>
                  <a:lnTo>
                    <a:pt x="10375816" y="0"/>
                  </a:lnTo>
                  <a:lnTo>
                    <a:pt x="10375816" y="1448158"/>
                  </a:lnTo>
                  <a:lnTo>
                    <a:pt x="0" y="1448158"/>
                  </a:lnTo>
                  <a:close/>
                </a:path>
              </a:pathLst>
            </a:custGeom>
            <a:solidFill>
              <a:srgbClr val="2B211A">
                <a:alpha val="0"/>
              </a:srgbClr>
            </a:solidFill>
          </p:spPr>
          <p:txBody>
            <a:bodyPr/>
            <a:lstStyle/>
            <a:p>
              <a:endParaRPr/>
            </a:p>
          </p:txBody>
        </p:sp>
        <p:sp>
          <p:nvSpPr>
            <p:cNvPr id="4" name="TextBox 4"/>
            <p:cNvSpPr txBox="1"/>
            <p:nvPr/>
          </p:nvSpPr>
          <p:spPr>
            <a:xfrm>
              <a:off x="0" y="-19050"/>
              <a:ext cx="10375816" cy="1467208"/>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REFERENCES :</a:t>
              </a:r>
            </a:p>
          </p:txBody>
        </p:sp>
      </p:grpSp>
      <p:grpSp>
        <p:nvGrpSpPr>
          <p:cNvPr id="5" name="Group 5"/>
          <p:cNvGrpSpPr/>
          <p:nvPr/>
        </p:nvGrpSpPr>
        <p:grpSpPr>
          <a:xfrm>
            <a:off x="798348" y="1778903"/>
            <a:ext cx="4011644" cy="38100"/>
            <a:chOff x="0" y="0"/>
            <a:chExt cx="5348859" cy="50800"/>
          </a:xfrm>
        </p:grpSpPr>
        <p:sp>
          <p:nvSpPr>
            <p:cNvPr id="6" name="Freeform 6"/>
            <p:cNvSpPr/>
            <p:nvPr/>
          </p:nvSpPr>
          <p:spPr>
            <a:xfrm>
              <a:off x="0" y="0"/>
              <a:ext cx="5348859" cy="50800"/>
            </a:xfrm>
            <a:custGeom>
              <a:avLst/>
              <a:gdLst/>
              <a:ahLst/>
              <a:cxnLst/>
              <a:rect l="l" t="t" r="r" b="b"/>
              <a:pathLst>
                <a:path w="5348859" h="50800">
                  <a:moveTo>
                    <a:pt x="0" y="0"/>
                  </a:moveTo>
                  <a:lnTo>
                    <a:pt x="5348859" y="0"/>
                  </a:lnTo>
                  <a:lnTo>
                    <a:pt x="5348859" y="50800"/>
                  </a:lnTo>
                  <a:lnTo>
                    <a:pt x="0" y="50800"/>
                  </a:lnTo>
                  <a:close/>
                </a:path>
              </a:pathLst>
            </a:custGeom>
            <a:solidFill>
              <a:srgbClr val="A8917A"/>
            </a:solidFill>
          </p:spPr>
          <p:txBody>
            <a:bodyPr/>
            <a:lstStyle/>
            <a:p>
              <a:endParaRPr/>
            </a:p>
          </p:txBody>
        </p:sp>
      </p:grpSp>
      <p:sp>
        <p:nvSpPr>
          <p:cNvPr id="7" name="Freeform 7"/>
          <p:cNvSpPr/>
          <p:nvPr/>
        </p:nvSpPr>
        <p:spPr>
          <a:xfrm>
            <a:off x="0" y="-151323"/>
            <a:ext cx="18288000" cy="10438323"/>
          </a:xfrm>
          <a:custGeom>
            <a:avLst/>
            <a:gdLst/>
            <a:ahLst/>
            <a:cxnLst/>
            <a:rect l="l" t="t" r="r" b="b"/>
            <a:pathLst>
              <a:path w="18288000" h="10438323">
                <a:moveTo>
                  <a:pt x="0" y="0"/>
                </a:moveTo>
                <a:lnTo>
                  <a:pt x="18288000" y="0"/>
                </a:lnTo>
                <a:lnTo>
                  <a:pt x="18288000" y="10438323"/>
                </a:lnTo>
                <a:lnTo>
                  <a:pt x="0" y="10438323"/>
                </a:lnTo>
                <a:lnTo>
                  <a:pt x="0" y="0"/>
                </a:lnTo>
                <a:close/>
              </a:path>
            </a:pathLst>
          </a:custGeom>
          <a:blipFill>
            <a:blip>
              <a:extLst>
                <a:ext uri="{96DAC541-7B7A-43D3-8B79-37D633B846F1}">
                  <asvg:svgBlip xmlns:asvg="http://schemas.microsoft.com/office/drawing/2016/SVG/main" r:embed="rId2"/>
                </a:ext>
              </a:extLst>
            </a:blip>
            <a:stretch>
              <a:fillRect t="-5" b="-5"/>
            </a:stretch>
          </a:blipFill>
        </p:spPr>
        <p:txBody>
          <a:bodyPr/>
          <a:lstStyle/>
          <a:p>
            <a:endParaRPr/>
          </a:p>
        </p:txBody>
      </p:sp>
      <p:grpSp>
        <p:nvGrpSpPr>
          <p:cNvPr id="8" name="Group 8"/>
          <p:cNvGrpSpPr/>
          <p:nvPr/>
        </p:nvGrpSpPr>
        <p:grpSpPr>
          <a:xfrm>
            <a:off x="779298" y="2191956"/>
            <a:ext cx="15609464" cy="8530752"/>
            <a:chOff x="0" y="0"/>
            <a:chExt cx="20812619" cy="11374337"/>
          </a:xfrm>
        </p:grpSpPr>
        <p:sp>
          <p:nvSpPr>
            <p:cNvPr id="9" name="Freeform 9"/>
            <p:cNvSpPr/>
            <p:nvPr/>
          </p:nvSpPr>
          <p:spPr>
            <a:xfrm>
              <a:off x="0" y="0"/>
              <a:ext cx="20812620" cy="11374337"/>
            </a:xfrm>
            <a:custGeom>
              <a:avLst/>
              <a:gdLst/>
              <a:ahLst/>
              <a:cxnLst/>
              <a:rect l="l" t="t" r="r" b="b"/>
              <a:pathLst>
                <a:path w="20812620" h="11374337">
                  <a:moveTo>
                    <a:pt x="0" y="0"/>
                  </a:moveTo>
                  <a:lnTo>
                    <a:pt x="20812620" y="0"/>
                  </a:lnTo>
                  <a:lnTo>
                    <a:pt x="20812620" y="11374337"/>
                  </a:lnTo>
                  <a:lnTo>
                    <a:pt x="0" y="11374337"/>
                  </a:lnTo>
                  <a:close/>
                </a:path>
              </a:pathLst>
            </a:custGeom>
            <a:solidFill>
              <a:srgbClr val="2B211A">
                <a:alpha val="0"/>
              </a:srgbClr>
            </a:solidFill>
          </p:spPr>
          <p:txBody>
            <a:bodyPr/>
            <a:lstStyle/>
            <a:p>
              <a:endParaRPr/>
            </a:p>
          </p:txBody>
        </p:sp>
        <p:sp>
          <p:nvSpPr>
            <p:cNvPr id="10" name="TextBox 10"/>
            <p:cNvSpPr txBox="1"/>
            <p:nvPr/>
          </p:nvSpPr>
          <p:spPr>
            <a:xfrm>
              <a:off x="0" y="-171450"/>
              <a:ext cx="20812619" cy="11545787"/>
            </a:xfrm>
            <a:prstGeom prst="rect">
              <a:avLst/>
            </a:prstGeom>
          </p:spPr>
          <p:txBody>
            <a:bodyPr lIns="0" tIns="0" rIns="0" bIns="0" rtlCol="0" anchor="t"/>
            <a:lstStyle/>
            <a:p>
              <a:pPr marL="834185" lvl="3" indent="-342900" algn="just">
                <a:lnSpc>
                  <a:spcPts val="4750"/>
                </a:lnSpc>
                <a:buFont typeface="Wingdings" panose="05000000000000000000" pitchFamily="2" charset="2"/>
                <a:buChar char="§"/>
              </a:pPr>
              <a:r>
                <a:rPr lang="en-US" sz="1800" dirty="0" err="1">
                  <a:solidFill>
                    <a:srgbClr val="2B211A"/>
                  </a:solidFill>
                  <a:latin typeface="Times New Roman"/>
                  <a:ea typeface="Times New Roman"/>
                  <a:cs typeface="Times New Roman"/>
                  <a:sym typeface="Times New Roman"/>
                </a:rPr>
                <a:t>Bhuiyan, M.R.; Abdullah, J.; Hashim, N.; Al Farid, F.; Uddin, J.; Abdullah, N.; Samsudin, M.A. Crowd density estimation using deep learning for Hajj pilgrimage video analytics. F1000Research 2022, 10:1190.</a:t>
              </a:r>
            </a:p>
            <a:p>
              <a:pPr marL="834185" lvl="3" indent="-342900" algn="just">
                <a:lnSpc>
                  <a:spcPts val="4750"/>
                </a:lnSpc>
                <a:buFont typeface="Wingdings" panose="05000000000000000000" pitchFamily="2" charset="2"/>
                <a:buChar char="§"/>
              </a:pPr>
              <a:r>
                <a:rPr lang="en-US" sz="1800" dirty="0" err="1">
                  <a:solidFill>
                    <a:srgbClr val="2B211A"/>
                  </a:solidFill>
                  <a:latin typeface="Times New Roman"/>
                  <a:ea typeface="Times New Roman"/>
                  <a:cs typeface="Times New Roman"/>
                  <a:sym typeface="Times New Roman"/>
                </a:rPr>
                <a:t>Kawade, S.; Pawar, R.; Shewale, S.; Tatar, V.; Bhor, S.R. Temple Crowd Management and Elevation System Using IoT. IJSRD – International Journal for Scientific Research &amp; Development, Vol. 13, Issue 2, 2025.</a:t>
              </a:r>
            </a:p>
            <a:p>
              <a:pPr marL="834185" lvl="3" indent="-342900" algn="just">
                <a:lnSpc>
                  <a:spcPts val="4750"/>
                </a:lnSpc>
                <a:buFont typeface="Wingdings" panose="05000000000000000000" pitchFamily="2" charset="2"/>
                <a:buChar char="§"/>
              </a:pPr>
              <a:r>
                <a:rPr lang="en-US" sz="1800" dirty="0" err="1">
                  <a:solidFill>
                    <a:srgbClr val="2B211A"/>
                  </a:solidFill>
                  <a:latin typeface="Times New Roman"/>
                  <a:ea typeface="Times New Roman"/>
                  <a:cs typeface="Times New Roman"/>
                  <a:sym typeface="Times New Roman"/>
                </a:rPr>
                <a:t>Reddy, M.D.; Narasimha, K.; Lakshmi Kumari. Smart Slot-Based Darshan Management System (Rapid Darshan). International Journal of Engineering Research &amp; Technology (IJERT), Vol. 15, Issue 5, 2026.</a:t>
              </a:r>
            </a:p>
            <a:p>
              <a:pPr marL="834185" lvl="3" indent="-342900" algn="just">
                <a:lnSpc>
                  <a:spcPts val="4750"/>
                </a:lnSpc>
                <a:buFont typeface="Wingdings" panose="05000000000000000000" pitchFamily="2" charset="2"/>
                <a:buChar char="§"/>
              </a:pPr>
              <a:r>
                <a:rPr lang="en-US" sz="1800" dirty="0" err="1">
                  <a:solidFill>
                    <a:srgbClr val="2B211A"/>
                  </a:solidFill>
                  <a:latin typeface="Times New Roman"/>
                  <a:ea typeface="Times New Roman"/>
                  <a:cs typeface="Times New Roman"/>
                  <a:sym typeface="Times New Roman"/>
                </a:rPr>
                <a:t>Yu, Q.; Zhang, Y.; Zhou, Y.-P. Delay Information in Virtual Queues: A Large-Scale Field Experiment on a Major Ride-Sharing Platform. Management Science, 2022. https://doi.org/10.1287/mnsc.2022.4448</a:t>
              </a:r>
            </a:p>
            <a:p>
              <a:pPr marL="834185" lvl="3" indent="-342900" algn="just">
                <a:lnSpc>
                  <a:spcPts val="4750"/>
                </a:lnSpc>
                <a:buFont typeface="Wingdings" panose="05000000000000000000" pitchFamily="2" charset="2"/>
                <a:buChar char="§"/>
              </a:pPr>
              <a:r>
                <a:rPr lang="en-US" sz="1800" dirty="0" err="1">
                  <a:solidFill>
                    <a:srgbClr val="2B211A"/>
                  </a:solidFill>
                  <a:latin typeface="Times New Roman"/>
                  <a:ea typeface="Times New Roman"/>
                  <a:cs typeface="Times New Roman"/>
                  <a:sym typeface="Times New Roman"/>
                </a:rPr>
                <a:t>KPMG in India. Faith and Flow: Navigating Crowds in India's Sacred Spaces, August 2025. Available online: https://kpmg.com/in/en/insights/2025/08/faith-and-flow-navigating-crowds-in-indias-sacred-spaces.html (accessed on 6 September 2026).</a:t>
              </a:r>
            </a:p>
          </p:txBody>
        </p:sp>
      </p:grpSp>
      <p:sp>
        <p:nvSpPr>
          <p:cNvPr id="11" name="Freeform 11"/>
          <p:cNvSpPr/>
          <p:nvPr/>
        </p:nvSpPr>
        <p:spPr>
          <a:xfrm>
            <a:off x="15845348" y="-278497"/>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3"/>
                </a:ext>
              </a:extLst>
            </a:blip>
            <a:stretch>
              <a:fillRect l="-25" r="-25"/>
            </a:stretch>
          </a:blipFill>
        </p:spPr>
        <p:txBody>
          <a:bodyPr/>
          <a:lstStyle/>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5" name="Freeform 5"/>
          <p:cNvSpPr/>
          <p:nvPr/>
        </p:nvSpPr>
        <p:spPr>
          <a:xfrm>
            <a:off x="15410842"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sp>
        <p:nvSpPr>
          <p:cNvPr id="7" name="TextBox 6">
            <a:extLst>
              <a:ext uri="{FF2B5EF4-FFF2-40B4-BE49-F238E27FC236}">
                <a16:creationId xmlns:a16="http://schemas.microsoft.com/office/drawing/2014/main" id="{841C0059-1B47-186C-FC7A-00BDE114EEB5}"/>
              </a:ext>
            </a:extLst>
          </p:cNvPr>
          <p:cNvSpPr txBox="1"/>
          <p:nvPr/>
        </p:nvSpPr>
        <p:spPr>
          <a:xfrm>
            <a:off x="3945194" y="4686300"/>
            <a:ext cx="10397612" cy="1080617"/>
          </a:xfrm>
          <a:prstGeom prst="rect">
            <a:avLst/>
          </a:prstGeom>
          <a:noFill/>
        </p:spPr>
        <p:txBody>
          <a:bodyPr wrap="square">
            <a:spAutoFit/>
          </a:bodyPr>
          <a:lstStyle/>
          <a:p>
            <a:pPr algn="l">
              <a:lnSpc>
                <a:spcPts val="6897"/>
              </a:lnSpc>
            </a:pPr>
            <a:r>
              <a:rPr lang="en-US" sz="10800" b="1" dirty="0">
                <a:solidFill>
                  <a:srgbClr val="7C2D12"/>
                </a:solidFill>
                <a:latin typeface="Times New Roman"/>
                <a:ea typeface="Times New Roman"/>
                <a:cs typeface="Times New Roman"/>
                <a:sym typeface="Times New Roman"/>
              </a:rPr>
              <a:t>THANK YOU !</a:t>
            </a:r>
          </a:p>
        </p:txBody>
      </p:sp>
    </p:spTree>
  </p:cSld>
  <p:clrMapOvr>
    <a:masterClrMapping/>
  </p:clrMapOvr>
</p:sld>
</file>

<file path=ppt/theme/theme1.xml><?xml version="1.0" encoding="utf-8"?>
<a:theme xmlns:a="http://schemas.openxmlformats.org/drawingml/2006/main" name="Office Theme">
  <a:themeElements>
    <a:clrScheme name="Office">
      <a:dk1>
        <a:srgbClr val="2B211A"/>
      </a:dk1>
      <a:lt1>
        <a:srgbClr val="FBF8F4"/>
      </a:lt1>
      <a:dk2>
        <a:srgbClr val="3F3228"/>
      </a:dk2>
      <a:lt2>
        <a:srgbClr val="F3ECE3"/>
      </a:lt2>
      <a:accent1>
        <a:srgbClr val="C2410C"/>
      </a:accent1>
      <a:accent2>
        <a:srgbClr val="7C2D12"/>
      </a:accent2>
      <a:accent3>
        <a:srgbClr val="A8917A"/>
      </a:accent3>
      <a:accent4>
        <a:srgbClr val="6B5746"/>
      </a:accent4>
      <a:accent5>
        <a:srgbClr val="FDB070"/>
      </a:accent5>
      <a:accent6>
        <a:srgbClr val="9A3412"/>
      </a:accent6>
      <a:hlink>
        <a:srgbClr val="C2410C"/>
      </a:hlink>
      <a:folHlink>
        <a:srgbClr val="9A3412"/>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238</TotalTime>
  <Words>2240</Words>
  <Application>Microsoft Office PowerPoint</Application>
  <PresentationFormat>Custom</PresentationFormat>
  <Paragraphs>144</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Times New Roman</vt:lpstr>
      <vt:lpstr>Wingdings</vt:lpstr>
      <vt:lpstr>Courier New</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proposed system for autism detection integrates CNN, DNN, and ResNet50 to enhance accuracy and efficiency. CNN is used for extracting spatial features from medical images, ensuring effective pattern recognition. Deep Neural Networks (DNN) further</dc:title>
  <dc:creator>sai lakshmi</dc:creator>
  <cp:lastModifiedBy>DHANU PRAGATEESH K</cp:lastModifiedBy>
  <cp:revision>14</cp:revision>
  <dcterms:created xsi:type="dcterms:W3CDTF">2006-08-16T00:00:00Z</dcterms:created>
  <dcterms:modified xsi:type="dcterms:W3CDTF">2026-09-16T05:52:24Z</dcterms:modified>
  <dc:identifier>DAGe0PGZ5Yc</dc:identifier>
</cp:coreProperties>
</file>